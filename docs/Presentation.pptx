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Gunathilaka W.A.D.S. · ~45 s</a:t>
            </a:r>
          </a:p>
          <a:p/>
          <a:p>
            <a:r>
              <a:t>Good morning everyone. We are Data Miners, Group 1.1. I'm Gunathilaka, and with me are Edirisinghe, Illesinghe and Kaluarachchi.</a:t>
            </a:r>
          </a:p>
          <a:p/>
          <a:p>
            <a:r>
              <a:t>Our project is the Term Deposit Predictor. In one line: it helps a bank's call team phone the clients who are most likely to say yes first.</a:t>
            </a:r>
          </a:p>
          <a:p/>
          <a:p>
            <a:r>
              <a:t>Over the next few minutes we'll show you the problem, how we solved it, a live demo of the system, and what the results mean for the bank.</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Gunathilaka W.A.D.S. · ~1 min</a:t>
            </a:r>
          </a:p>
          <a:p/>
          <a:p>
            <a:r>
              <a:t>We worked with real data from a Portuguese bank's telemarketing campaigns between 2008 and 2010. That's 45,211 phone calls, each one asking a client to open a term deposit.</a:t>
            </a:r>
          </a:p>
          <a:p/>
          <a:p>
            <a:r>
              <a:t>[Point to the dot grid.] Each dot here is one percent of those calls. Only the blue ones, about 12 out of 100, or 11.7%, ended with the client saying yes.</a:t>
            </a:r>
          </a:p>
          <a:p/>
          <a:p>
            <a:r>
              <a:t>So nearly nine in ten calls end in a no. If agents simply work down the list, most of their day goes on clients who were never going to say yes, and those clients get annoyed by calls they didn't want.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Gunathilaka W.A.D.S. · ~45 s</a:t>
            </a:r>
          </a:p>
          <a:p/>
          <a:p>
            <a:r>
              <a:t>Our answer is to score every client before the call is made, so the team can phone the most promising people first.</a:t>
            </a:r>
          </a:p>
          <a:p/>
          <a:p>
            <a:r>
              <a:t>The system does three things. You can score one client by filling in a short form and get an instant yes or no with a likelihood. You can upload a whole call list as a CSV file and get it back sorted from most to least promising. And you can see which kinds of clients, and which timing, tend to lead to a yes.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Gunathilaka W.A.D.S. · ~45 s</a:t>
            </a:r>
          </a:p>
          <a:p/>
          <a:p>
            <a:r>
              <a:t>For the bank, this means four things.</a:t>
            </a:r>
          </a:p>
          <a:p/>
          <a:p>
            <a:r>
              <a:t>Fewer wasted calls, because agents spend their time on likely buyers. More sales from the same effort: calling just the top 20% of the ranked list reaches 63% of everyone who would subscribe. Smarter campaign timing, because the data shows when to call and when not to bother. And it's kinder to clients, with fewer repeat calls to people who aren't interested.</a:t>
            </a:r>
          </a:p>
          <a:p/>
          <a:p>
            <a:r>
              <a:t>Handover: Edirisinghe will now explain how the system works and what the data told us.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Edirisinghe E.M.K.L. · ~1 min</a:t>
            </a:r>
          </a:p>
          <a:p/>
          <a:p>
            <a:r>
              <a:t>Thank you. The system works in four steps.</a:t>
            </a:r>
          </a:p>
          <a:p/>
          <a:p>
            <a:r>
              <a:t>First, it learns from the 45,211 past calls, where we know the outcome of every one.</a:t>
            </a:r>
          </a:p>
          <a:p/>
          <a:p>
            <a:r>
              <a:t>Second, we cleaned the data and kept it fair. We checked for missing values, duplicates and invalid values. Most importantly, we removed call duration. It's a very strong predictor, but you only know it after the call has ended, so using it would be cheating.</a:t>
            </a:r>
          </a:p>
          <a:p/>
          <a:p>
            <a:r>
              <a:t>Third, we trained and compared six different models, all tuned and tested in exactly the same way.</a:t>
            </a:r>
          </a:p>
          <a:p/>
          <a:p>
            <a:r>
              <a:t>Fourth, the best model is served through a web dashboard and an API that gives predictions on demand.</a:t>
            </a:r>
          </a:p>
          <a:p/>
          <a:p>
            <a:r>
              <a:t>The winning model is Gradient Boosting. It builds many small decision trees, each one correcting the mistakes of the ones before it.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Edirisinghe E.M.K.L. · ~1 min 30 s</a:t>
            </a:r>
          </a:p>
          <a:p/>
          <a:p>
            <a:r>
              <a:t>Before modelling, we explored the data to see who actually says yes. Each bar is the share of a group that subscribed, and the dashed line is the 11.7% average.</a:t>
            </a:r>
          </a:p>
          <a:p/>
          <a:p>
            <a:r>
              <a:t>[Point to the top bar.] The strongest signal is history. Clients who said yes in the previous campaign subscribe 64.7% of the time, which is 5.5 times the average.</a:t>
            </a:r>
          </a:p>
          <a:p/>
          <a:p>
            <a:r>
              <a:t>Timing matters a lot as well. Calls in March succeed 52% of the time and in September 46.5%. But look at May: 30% of all calls were made in May, when only 6.7% said yes. The bank was calling most in its worst month.</a:t>
            </a:r>
          </a:p>
          <a:p/>
          <a:p>
            <a:r>
              <a:t>Some groups are more receptive: clients over 65 at 42.6% and students at 28.7%. Being reached on a mobile also helps.</a:t>
            </a:r>
          </a:p>
          <a:p/>
          <a:p>
            <a:r>
              <a:t>At the bottom, repeated calling clearly hurts. After ten or more calls in a campaign, only 4.2% say yes.</a:t>
            </a:r>
          </a:p>
          <a:p/>
          <a:p>
            <a:r>
              <a:t>So the headline is that when and how you call matters most.</a:t>
            </a:r>
          </a:p>
          <a:p/>
          <a:p>
            <a:r>
              <a:t>Handover: Kaluarachchi will now take you through a live demo of the system.</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[Switch from the slides to the browser with the dashboard already open on the Home page. Each member drives their own part. If the live system fails, use backup slides 16 to 20.]</a:t>
            </a:r>
          </a:p>
          <a:p/>
          <a:p>
            <a:r>
              <a:t>Part 1 · Home page and single-client prediction</a:t>
            </a:r>
          </a:p>
          <a:p/>
          <a:p>
            <a:r>
              <a:t>Speaker: Kaluarachchi R.G. · ~1 min 30 s</a:t>
            </a:r>
          </a:p>
          <a:p/>
          <a:p>
            <a:r>
              <a:t>This is the dashboard. The Home page sums up the tool in one line and shows the model currently serving predictions, Gradient Boosting, with its key numbers.</a:t>
            </a:r>
          </a:p>
          <a:p/>
          <a:p>
            <a:r>
              <a:t>[Click "Prediction", Single client tab.] Here a call agent fills in what the bank knows about a client before calling: age, job, finances, and contact history. The form is generated from the API, so it always matches what the model expects.</a:t>
            </a:r>
          </a:p>
          <a:p/>
          <a:p>
            <a:r>
              <a:t>[Click Predict with the default values.] This typical client, a 39-year-old blue-collar worker with a housing loan, called in May and never contacted before, scores about 39%. That's below our 62% cut-off, so the answer is no, with medium priority.</a:t>
            </a:r>
          </a:p>
          <a:p/>
          <a:p>
            <a:r>
              <a:t>[Change Month to "mar", Days since last contact to 90, Previous contacts to 1, Previous outcome to "success", turn off Housing loan, then click Predict.] Now the same person said yes in the last campaign, is being called in March and has no housing loan. The probability jumps to about 94%, a high-priority yes. That's exactly what the data showed us.</a:t>
            </a:r>
          </a:p>
          <a:p/>
          <a:p>
            <a:r>
              <a:t>Handover: Gunathilaka will show how a whole call list is scored.</a:t>
            </a:r>
          </a:p>
          <a:p/>
          <a:p>
            <a:r>
              <a:t>Part 2 · Batch (CSV) scoring</a:t>
            </a:r>
          </a:p>
          <a:p/>
          <a:p>
            <a:r>
              <a:t>Speaker: Gunathilaka W.A.D.S. · ~1 min</a:t>
            </a:r>
          </a:p>
          <a:p/>
          <a:p>
            <a:r>
              <a:t>[Click the "Batch (CSV)" tab and upload the prepared CSV file.] In practice the team doesn't score clients one at a time. They upload their call list as a CSV.</a:t>
            </a:r>
          </a:p>
          <a:p/>
          <a:p>
            <a:r>
              <a:t>Every row is scored at once and the list comes back sorted, with the best leads at the top, each with a probability and a priority. Rows with problems are reported individually instead of breaking the whole upload.</a:t>
            </a:r>
          </a:p>
          <a:p/>
          <a:p>
            <a:r>
              <a:t>[Click "Download CSV".] The scored list can be downloaded and handed straight to the call team.</a:t>
            </a:r>
          </a:p>
          <a:p/>
          <a:p>
            <a:r>
              <a:t>Handover: Edirisinghe will show the data exploration page.</a:t>
            </a:r>
          </a:p>
          <a:p/>
          <a:p>
            <a:r>
              <a:t>Part 3 · EDA page</a:t>
            </a:r>
          </a:p>
          <a:p/>
          <a:p>
            <a:r>
              <a:t>Speaker: Edirisinghe E.M.K.L. · ~45 s</a:t>
            </a:r>
          </a:p>
          <a:p/>
          <a:p>
            <a:r>
              <a:t>[Click "EDA".] This page shows the findings from slide 6 live from the data. At the top are the key findings, such as previous success at 64.7% and March at 52%. Below are how the data was cleaned and the interactive charts, where you can see the subscription rate for any group.</a:t>
            </a:r>
          </a:p>
          <a:p/>
          <a:p>
            <a:r>
              <a:t>Handover: Illesinghe will show how the models compare.</a:t>
            </a:r>
          </a:p>
          <a:p/>
          <a:p>
            <a:r>
              <a:t>Part 4 · Models page</a:t>
            </a:r>
          </a:p>
          <a:p/>
          <a:p>
            <a:r>
              <a:t>Speaker: Illesinghe E.S. · ~45 s</a:t>
            </a:r>
          </a:p>
          <a:p/>
          <a:p>
            <a:r>
              <a:t>[Click "Models".] This page compares all six models we trained, with their ROC curves, confusion matrix and the most important features. Gradient Boosting is marked as the selected model. Let me go back to the slides to explain what these results mean.</a:t>
            </a:r>
          </a:p>
          <a:p/>
          <a:p>
            <a:r>
              <a:t>[Switch back to the slides, slide 8.]</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Illesinghe E.S. · ~1 min 15 s</a:t>
            </a:r>
          </a:p>
          <a:p/>
          <a:p>
            <a:r>
              <a:t>The real question for the bank is whether the scores help the team find buyers faster.</a:t>
            </a:r>
          </a:p>
          <a:p/>
          <a:p>
            <a:r>
              <a:t>To test this fairly, we kept 9,043 clients completely aside. The model never saw them during training.</a:t>
            </a:r>
          </a:p>
          <a:p/>
          <a:p>
            <a:r>
              <a:t>[Point to the first row.] If the team calls in random order, after calling 10% of the list they find 10% of the subscribers, the grey bar. If they call in our model's order, those first 10% of calls already reach 44% of all subscribers. That's 4.4 times better.</a:t>
            </a:r>
          </a:p>
          <a:p/>
          <a:p>
            <a:r>
              <a:t>After 20% of calls the model reaches 63% of subscribers, and after 30% it reaches 72%. Most of the yeses are concentrated at the top of the list.</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Illesinghe E.S. · ~1 min 15 s</a:t>
            </a:r>
          </a:p>
          <a:p/>
          <a:p>
            <a:r>
              <a:t>A model gives each client a score, and we have to choose the cut-off above which we say "call this client". By default that's 50%. We tuned it to 62% using only the training data.</a:t>
            </a:r>
          </a:p>
          <a:p/>
          <a:p>
            <a:r>
              <a:t>The result: wasted calls, meaning clients we flagged who then said no, fell from 1,212 to 690. That's 43% fewer. And the hit rate went up from 36% to 45% of flagged clients actually saying yes.</a:t>
            </a:r>
          </a:p>
          <a:p/>
          <a:p>
            <a:r>
              <a:t>To be honest about the trade-off: we now find 562 of the 1,058 subscribers instead of 676, about 17% fewer. That's a business decision. If calls are cheap, the bank can lower the cut-off and find more. If calls are expensive, it can raise it.</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Illesinghe E.S. · ~1 min 15 s</a:t>
            </a:r>
          </a:p>
          <a:p/>
          <a:p>
            <a:r>
              <a:t>We compared six models: Gradient Boosting, Random Forest, Logistic Regression, Decision Tree, K-Nearest Neighbours and Naive Bayes. Each was tuned with cross-validation on the training data.</a:t>
            </a:r>
          </a:p>
          <a:p/>
          <a:p>
            <a:r>
              <a:t>We chose the winner by ROC-AUC, which measures how well a model ranks likely subscribers above unlikely ones. Gradient Boosting was best both in cross-validation and on the unseen test data, at 0.806, with Random Forest close behind.</a:t>
            </a:r>
          </a:p>
          <a:p/>
          <a:p>
            <a:r>
              <a:t>[Point to the KNN row.] This row shows why accuracy alone is misleading. K-Nearest Neighbours has the highest accuracy at 89%, but it finds only 12% of subscribers. With 88% of answers being no, a model that almost always says no looks accurate but is useless to the bank.</a:t>
            </a:r>
          </a:p>
          <a:p/>
          <a:p>
            <a:r>
              <a:t>Handover: Edirisinghe will explain what drives the predictions.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Edirisinghe E.M.K.L. · ~1 min</a:t>
            </a:r>
          </a:p>
          <a:p/>
          <a:p>
            <a:r>
              <a:t>To see what the model relies on, we shuffled one input at a time and measured how much worse the model got. The bigger the drop, the more that input matters.</a:t>
            </a:r>
          </a:p>
          <a:p/>
          <a:p>
            <a:r>
              <a:t>The top three are the month of the call, the contact channel and the outcome of the last campaign. Day of the month, age, housing loan and balance follow.</a:t>
            </a:r>
          </a:p>
          <a:p/>
          <a:p>
            <a:r>
              <a:t>This matches what we found when exploring the data. Timing, channel and history matter most, while job, education and marital status add very little once those are known.</a:t>
            </a:r>
          </a:p>
          <a:p/>
          <a:p>
            <a:r>
              <a:t>Handover: Kaluarachchi will explain why the results can be trusted.</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Kaluarachchi R.G. · ~1 min</a:t>
            </a:r>
          </a:p>
          <a:p/>
          <a:p>
            <a:r>
              <a:t>We designed the system to be honest about what it knows.</a:t>
            </a:r>
          </a:p>
          <a:p/>
          <a:p>
            <a:r>
              <a:t>First, no peeking at the answer. Call length was removed because it's only known after the call, and every cleaning step, such as outlier limits, scaling and encoding, learns from the training data only.</a:t>
            </a:r>
          </a:p>
          <a:p/>
          <a:p>
            <a:r>
              <a:t>Second, it was tested on unseen clients. 20% of the data was locked away until the very end, and the cross-validation and test scores agree within 0.02, so the model isn't over-fitted.</a:t>
            </a:r>
          </a:p>
          <a:p/>
          <a:p>
            <a:r>
              <a:t>Third, we're open about its limits. About 45% of flagged clients say yes, so it's not perfect. The scores rank clients well but aren't exact probabilities.</a:t>
            </a:r>
          </a:p>
          <a:p/>
          <a:p>
            <a:r>
              <a:t>We also verified the system with 8 automated API tests, a frontend routing test, and manual end-to-end checks of every page.</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Kaluarachchi R.G. · ~45 s</a:t>
            </a:r>
          </a:p>
          <a:p/>
          <a:p>
            <a:r>
              <a:t>To take this from a prototype to a real call centre, there are four next steps.</a:t>
            </a:r>
          </a:p>
          <a:p/>
          <a:p>
            <a:r>
              <a:t>Retrain on recent data, because these calls are from 2008 to 2010 and client behaviour has changed. Put a price on each call, so the cut-off comes from real call costs and deposit profits. Explain every prediction by showing the reasons behind each client's score in the dashboard. And ship it securely, with login, cloud hosting and monitoring.</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each member says their own line · ~1 min</a:t>
            </a:r>
          </a:p>
          <a:p/>
          <a:p>
            <a:r>
              <a:t>Kaluarachchi R.G.: Each of us owned one stage of the project and contributed 25%. I built the FastAPI backend, the Home and prediction pages, the app shell and the automated tests.</a:t>
            </a:r>
          </a:p>
          <a:p/>
          <a:p>
            <a:r>
              <a:t>Gunathilaka W.A.D.S.: I handled downloading and cleaning the data, the data leakage checks, and batch CSV scoring.</a:t>
            </a:r>
          </a:p>
          <a:p/>
          <a:p>
            <a:r>
              <a:t>Edirisinghe E.M.K.L.: I did the exploratory analysis, feature engineering, outlier capping, and the EDA page.</a:t>
            </a:r>
          </a:p>
          <a:p/>
          <a:p>
            <a:r>
              <a:t>Illesinghe E.S.: I trained and compared the six models, tuned the cut-off, measured feature importance, and built the Models page and training report.</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Kaluarachchi R.G. · ~30 s</a:t>
            </a:r>
          </a:p>
          <a:p/>
          <a:p>
            <a:r>
              <a:t>So, in one sentence: our predictor tells the call team who to phone first, reaching 44% of subscribers in the first 10% of calls.</a:t>
            </a:r>
          </a:p>
          <a:p/>
          <a:p>
            <a:r>
              <a:t>Thank you for listening. We're happy to take your questions.</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Test set (9,043 clients), default 50% cut-off; tuned Gradient Boosting shown in the last row.</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 Id="rId3" Type="http://schemas.openxmlformats.org/officeDocument/2006/relationships/image" Target="../media/image2.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slide1.xml><?xml version="1.0" encoding="utf-8"?>
<p:sld xmlns:a="http://schemas.openxmlformats.org/drawingml/2006/main" xmlns:p="http://schemas.openxmlformats.org/presentationml/2006/main" xmlns:r="http://schemas.openxmlformats.org/officeDocument/2006/relationships">
  <p:cSld>
    <p:bg>
      <p:bgPr>
        <a:gradFill rotWithShape="1">
          <a:gsLst>
            <a:gs pos="0">
              <a:srgbClr val="0F1B33"/>
            </a:gs>
            <a:gs pos="100000">
              <a:srgbClr val="1F4E82"/>
            </a:gs>
          </a:gsLst>
          <a:lin scaled="0" ang="2700000"/>
        </a:gradFill>
        <a:effectLst/>
      </p:bgPr>
    </p:bg>
    <p:spTree>
      <p:nvGrpSpPr>
        <p:cNvPr id="1" name=""/>
        <p:cNvGrpSpPr/>
        <p:nvPr/>
      </p:nvGrpSpPr>
      <p:grpSpPr/>
      <p:sp>
        <p:nvSpPr>
          <p:cNvPr id="2" name="TextBox 1"/>
          <p:cNvSpPr txBox="1"/>
          <p:nvPr/>
        </p:nvSpPr>
        <p:spPr>
          <a:xfrm>
            <a:off x="813816" y="813816"/>
            <a:ext cx="10881360" cy="274320"/>
          </a:xfrm>
          <a:prstGeom prst="rect">
            <a:avLst/>
          </a:prstGeom>
          <a:noFill/>
        </p:spPr>
        <p:txBody>
          <a:bodyPr wrap="square" anchor="t" lIns="0" rIns="0" tIns="0" bIns="0">
            <a:spAutoFit/>
          </a:bodyPr>
          <a:lstStyle/>
          <a:p>
            <a:pPr algn="l"/>
            <a:r>
              <a:rPr sz="1100" b="0" spc="300">
                <a:solidFill>
                  <a:srgbClr val="F2994A"/>
                </a:solidFill>
                <a:latin typeface="Courier New"/>
              </a:rPr>
              <a:t>DATA MINERS · GROUP 1.1 · IT3051 · FINAL PRESENTATION</a:t>
            </a:r>
          </a:p>
        </p:txBody>
      </p:sp>
      <p:sp>
        <p:nvSpPr>
          <p:cNvPr id="3" name="TextBox 2"/>
          <p:cNvSpPr txBox="1"/>
          <p:nvPr/>
        </p:nvSpPr>
        <p:spPr>
          <a:xfrm>
            <a:off x="813816" y="1243584"/>
            <a:ext cx="10058400" cy="1645920"/>
          </a:xfrm>
          <a:prstGeom prst="rect">
            <a:avLst/>
          </a:prstGeom>
          <a:noFill/>
        </p:spPr>
        <p:txBody>
          <a:bodyPr wrap="square" anchor="t" lIns="0" rIns="0" tIns="0" bIns="0">
            <a:spAutoFit/>
          </a:bodyPr>
          <a:lstStyle/>
          <a:p>
            <a:pPr algn="l">
              <a:lnSpc>
                <a:spcPct val="95000"/>
              </a:lnSpc>
            </a:pPr>
            <a:r>
              <a:rPr sz="5400" b="1">
                <a:solidFill>
                  <a:srgbClr val="F5F3EE"/>
                </a:solidFill>
                <a:latin typeface="Arial"/>
              </a:rPr>
              <a:t>Call the clients who are</a:t>
            </a:r>
          </a:p>
          <a:p>
            <a:pPr algn="l">
              <a:lnSpc>
                <a:spcPct val="95000"/>
              </a:lnSpc>
            </a:pPr>
            <a:r>
              <a:rPr sz="5400" b="1">
                <a:solidFill>
                  <a:srgbClr val="F5F3EE"/>
                </a:solidFill>
                <a:latin typeface="Arial"/>
              </a:rPr>
              <a:t>ready to say yes</a:t>
            </a:r>
          </a:p>
        </p:txBody>
      </p:sp>
      <p:sp>
        <p:nvSpPr>
          <p:cNvPr id="4" name="TextBox 3"/>
          <p:cNvSpPr txBox="1"/>
          <p:nvPr/>
        </p:nvSpPr>
        <p:spPr>
          <a:xfrm>
            <a:off x="813816" y="2926080"/>
            <a:ext cx="10058400" cy="411480"/>
          </a:xfrm>
          <a:prstGeom prst="rect">
            <a:avLst/>
          </a:prstGeom>
          <a:noFill/>
        </p:spPr>
        <p:txBody>
          <a:bodyPr wrap="square" anchor="t" lIns="0" rIns="0" tIns="0" bIns="0">
            <a:spAutoFit/>
          </a:bodyPr>
          <a:lstStyle/>
          <a:p>
            <a:pPr algn="l"/>
            <a:r>
              <a:rPr sz="1800" b="0">
                <a:solidFill>
                  <a:srgbClr val="B8BCC2"/>
                </a:solidFill>
                <a:latin typeface="Arial"/>
              </a:rPr>
              <a:t>Term Deposit Predictor · showing a bank's call team who is most likely to open a term deposit</a:t>
            </a:r>
          </a:p>
        </p:txBody>
      </p:sp>
      <p:pic>
        <p:nvPicPr>
          <p:cNvPr id="5" name="Picture 4" descr="title_dots.png"/>
          <p:cNvPicPr>
            <a:picLocks noChangeAspect="1"/>
          </p:cNvPicPr>
          <p:nvPr/>
        </p:nvPicPr>
        <p:blipFill>
          <a:blip r:embed="rId3"/>
          <a:stretch>
            <a:fillRect/>
          </a:stretch>
        </p:blipFill>
        <p:spPr>
          <a:xfrm>
            <a:off x="0" y="4315968"/>
            <a:ext cx="12191695" cy="2542032"/>
          </a:xfrm>
          <a:prstGeom prst="rect">
            <a:avLst/>
          </a:prstGeom>
        </p:spPr>
      </p:pic>
      <p:sp>
        <p:nvSpPr>
          <p:cNvPr id="6" name="TextBox 5"/>
          <p:cNvSpPr txBox="1"/>
          <p:nvPr/>
        </p:nvSpPr>
        <p:spPr>
          <a:xfrm>
            <a:off x="813816" y="3657600"/>
            <a:ext cx="2560320" cy="274320"/>
          </a:xfrm>
          <a:prstGeom prst="rect">
            <a:avLst/>
          </a:prstGeom>
          <a:noFill/>
        </p:spPr>
        <p:txBody>
          <a:bodyPr wrap="square" anchor="t" lIns="0" rIns="0" tIns="0" bIns="0">
            <a:spAutoFit/>
          </a:bodyPr>
          <a:lstStyle/>
          <a:p>
            <a:pPr algn="l"/>
            <a:r>
              <a:rPr sz="1500" b="1">
                <a:solidFill>
                  <a:srgbClr val="F5F3EE"/>
                </a:solidFill>
                <a:latin typeface="Arial"/>
              </a:rPr>
              <a:t>Gunathilaka W.A.D.S.</a:t>
            </a:r>
          </a:p>
        </p:txBody>
      </p:sp>
      <p:sp>
        <p:nvSpPr>
          <p:cNvPr id="7" name="TextBox 6"/>
          <p:cNvSpPr txBox="1"/>
          <p:nvPr/>
        </p:nvSpPr>
        <p:spPr>
          <a:xfrm>
            <a:off x="813816" y="3950208"/>
            <a:ext cx="2560320" cy="274320"/>
          </a:xfrm>
          <a:prstGeom prst="rect">
            <a:avLst/>
          </a:prstGeom>
          <a:noFill/>
        </p:spPr>
        <p:txBody>
          <a:bodyPr wrap="square" anchor="t" lIns="0" rIns="0" tIns="0" bIns="0">
            <a:spAutoFit/>
          </a:bodyPr>
          <a:lstStyle/>
          <a:p>
            <a:pPr algn="l"/>
            <a:r>
              <a:rPr sz="1200" b="0" spc="100">
                <a:solidFill>
                  <a:srgbClr val="E08A3C"/>
                </a:solidFill>
                <a:latin typeface="Courier New"/>
              </a:rPr>
              <a:t>IT23859456</a:t>
            </a:r>
          </a:p>
        </p:txBody>
      </p:sp>
      <p:sp>
        <p:nvSpPr>
          <p:cNvPr id="8" name="TextBox 7"/>
          <p:cNvSpPr txBox="1"/>
          <p:nvPr/>
        </p:nvSpPr>
        <p:spPr>
          <a:xfrm>
            <a:off x="3511296" y="3657600"/>
            <a:ext cx="2560320" cy="274320"/>
          </a:xfrm>
          <a:prstGeom prst="rect">
            <a:avLst/>
          </a:prstGeom>
          <a:noFill/>
        </p:spPr>
        <p:txBody>
          <a:bodyPr wrap="square" anchor="t" lIns="0" rIns="0" tIns="0" bIns="0">
            <a:spAutoFit/>
          </a:bodyPr>
          <a:lstStyle/>
          <a:p>
            <a:pPr algn="l"/>
            <a:r>
              <a:rPr sz="1500" b="1">
                <a:solidFill>
                  <a:srgbClr val="F5F3EE"/>
                </a:solidFill>
                <a:latin typeface="Arial"/>
              </a:rPr>
              <a:t>Edirisinghe E.M.K.L.</a:t>
            </a:r>
          </a:p>
        </p:txBody>
      </p:sp>
      <p:sp>
        <p:nvSpPr>
          <p:cNvPr id="9" name="TextBox 8"/>
          <p:cNvSpPr txBox="1"/>
          <p:nvPr/>
        </p:nvSpPr>
        <p:spPr>
          <a:xfrm>
            <a:off x="3511296" y="3950208"/>
            <a:ext cx="2560320" cy="274320"/>
          </a:xfrm>
          <a:prstGeom prst="rect">
            <a:avLst/>
          </a:prstGeom>
          <a:noFill/>
        </p:spPr>
        <p:txBody>
          <a:bodyPr wrap="square" anchor="t" lIns="0" rIns="0" tIns="0" bIns="0">
            <a:spAutoFit/>
          </a:bodyPr>
          <a:lstStyle/>
          <a:p>
            <a:pPr algn="l"/>
            <a:r>
              <a:rPr sz="1200" b="0" spc="100">
                <a:solidFill>
                  <a:srgbClr val="E08A3C"/>
                </a:solidFill>
                <a:latin typeface="Courier New"/>
              </a:rPr>
              <a:t>IT23857780</a:t>
            </a:r>
          </a:p>
        </p:txBody>
      </p:sp>
      <p:sp>
        <p:nvSpPr>
          <p:cNvPr id="10" name="TextBox 9"/>
          <p:cNvSpPr txBox="1"/>
          <p:nvPr/>
        </p:nvSpPr>
        <p:spPr>
          <a:xfrm>
            <a:off x="6208776" y="3657600"/>
            <a:ext cx="2560320" cy="274320"/>
          </a:xfrm>
          <a:prstGeom prst="rect">
            <a:avLst/>
          </a:prstGeom>
          <a:noFill/>
        </p:spPr>
        <p:txBody>
          <a:bodyPr wrap="square" anchor="t" lIns="0" rIns="0" tIns="0" bIns="0">
            <a:spAutoFit/>
          </a:bodyPr>
          <a:lstStyle/>
          <a:p>
            <a:pPr algn="l"/>
            <a:r>
              <a:rPr sz="1500" b="1">
                <a:solidFill>
                  <a:srgbClr val="F5F3EE"/>
                </a:solidFill>
                <a:latin typeface="Arial"/>
              </a:rPr>
              <a:t>Illesinghe E.S.</a:t>
            </a:r>
          </a:p>
        </p:txBody>
      </p:sp>
      <p:sp>
        <p:nvSpPr>
          <p:cNvPr id="11" name="TextBox 10"/>
          <p:cNvSpPr txBox="1"/>
          <p:nvPr/>
        </p:nvSpPr>
        <p:spPr>
          <a:xfrm>
            <a:off x="6208776" y="3950208"/>
            <a:ext cx="2560320" cy="274320"/>
          </a:xfrm>
          <a:prstGeom prst="rect">
            <a:avLst/>
          </a:prstGeom>
          <a:noFill/>
        </p:spPr>
        <p:txBody>
          <a:bodyPr wrap="square" anchor="t" lIns="0" rIns="0" tIns="0" bIns="0">
            <a:spAutoFit/>
          </a:bodyPr>
          <a:lstStyle/>
          <a:p>
            <a:pPr algn="l"/>
            <a:r>
              <a:rPr sz="1200" b="0" spc="100">
                <a:solidFill>
                  <a:srgbClr val="E08A3C"/>
                </a:solidFill>
                <a:latin typeface="Courier New"/>
              </a:rPr>
              <a:t>IT23557024</a:t>
            </a:r>
          </a:p>
        </p:txBody>
      </p:sp>
      <p:sp>
        <p:nvSpPr>
          <p:cNvPr id="12" name="TextBox 11"/>
          <p:cNvSpPr txBox="1"/>
          <p:nvPr/>
        </p:nvSpPr>
        <p:spPr>
          <a:xfrm>
            <a:off x="8906256" y="3657600"/>
            <a:ext cx="2560320" cy="274320"/>
          </a:xfrm>
          <a:prstGeom prst="rect">
            <a:avLst/>
          </a:prstGeom>
          <a:noFill/>
        </p:spPr>
        <p:txBody>
          <a:bodyPr wrap="square" anchor="t" lIns="0" rIns="0" tIns="0" bIns="0">
            <a:spAutoFit/>
          </a:bodyPr>
          <a:lstStyle/>
          <a:p>
            <a:pPr algn="l"/>
            <a:r>
              <a:rPr sz="1500" b="1">
                <a:solidFill>
                  <a:srgbClr val="F5F3EE"/>
                </a:solidFill>
                <a:latin typeface="Arial"/>
              </a:rPr>
              <a:t>Kaluarachchi R.G.</a:t>
            </a:r>
          </a:p>
        </p:txBody>
      </p:sp>
      <p:sp>
        <p:nvSpPr>
          <p:cNvPr id="13" name="TextBox 12"/>
          <p:cNvSpPr txBox="1"/>
          <p:nvPr/>
        </p:nvSpPr>
        <p:spPr>
          <a:xfrm>
            <a:off x="8906256" y="3950208"/>
            <a:ext cx="2560320" cy="274320"/>
          </a:xfrm>
          <a:prstGeom prst="rect">
            <a:avLst/>
          </a:prstGeom>
          <a:noFill/>
        </p:spPr>
        <p:txBody>
          <a:bodyPr wrap="square" anchor="t" lIns="0" rIns="0" tIns="0" bIns="0">
            <a:spAutoFit/>
          </a:bodyPr>
          <a:lstStyle/>
          <a:p>
            <a:pPr algn="l"/>
            <a:r>
              <a:rPr sz="1200" b="0" spc="100">
                <a:solidFill>
                  <a:srgbClr val="E08A3C"/>
                </a:solidFill>
                <a:latin typeface="Courier New"/>
              </a:rPr>
              <a:t>IT23544918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gradFill rotWithShape="1">
          <a:gsLst>
            <a:gs pos="0">
              <a:srgbClr val="E4EDF7"/>
            </a:gs>
            <a:gs pos="100000">
              <a:srgbClr val="F8EBDD"/>
            </a:gs>
          </a:gsLst>
          <a:lin scaled="0" ang="2700000"/>
        </a:gradFill>
        <a:effectLst/>
      </p:bgPr>
    </p:bg>
    <p:spTree>
      <p:nvGrpSpPr>
        <p:cNvPr id="1" name=""/>
        <p:cNvGrpSpPr/>
        <p:nvPr/>
      </p:nvGrpSpPr>
      <p:grpSpPr/>
      <p:sp>
        <p:nvSpPr>
          <p:cNvPr id="2" name="Rectangle 1"/>
          <p:cNvSpPr/>
          <p:nvPr/>
        </p:nvSpPr>
        <p:spPr>
          <a:xfrm>
            <a:off x="0" y="0"/>
            <a:ext cx="12191695" cy="91440"/>
          </a:xfrm>
          <a:prstGeom prst="rect">
            <a:avLst/>
          </a:prstGeom>
          <a:gradFill rotWithShape="1">
            <a:gsLst>
              <a:gs pos="0">
                <a:srgbClr val="2F5F9E"/>
              </a:gs>
              <a:gs pos="100000">
                <a:srgbClr val="E08A3C"/>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13816" y="813816"/>
            <a:ext cx="10881360" cy="274320"/>
          </a:xfrm>
          <a:prstGeom prst="rect">
            <a:avLst/>
          </a:prstGeom>
          <a:noFill/>
        </p:spPr>
        <p:txBody>
          <a:bodyPr wrap="square" anchor="t" lIns="0" rIns="0" tIns="0" bIns="0">
            <a:spAutoFit/>
          </a:bodyPr>
          <a:lstStyle/>
          <a:p>
            <a:pPr algn="l"/>
            <a:r>
              <a:rPr sz="1100" b="0" spc="300">
                <a:solidFill>
                  <a:srgbClr val="B5541C"/>
                </a:solidFill>
                <a:latin typeface="Courier New"/>
              </a:rPr>
              <a:t>THE PROBLEM</a:t>
            </a:r>
          </a:p>
        </p:txBody>
      </p:sp>
      <p:sp>
        <p:nvSpPr>
          <p:cNvPr id="4" name="TextBox 3"/>
          <p:cNvSpPr txBox="1"/>
          <p:nvPr/>
        </p:nvSpPr>
        <p:spPr>
          <a:xfrm>
            <a:off x="813816" y="1243584"/>
            <a:ext cx="10881360" cy="640080"/>
          </a:xfrm>
          <a:prstGeom prst="rect">
            <a:avLst/>
          </a:prstGeom>
          <a:noFill/>
        </p:spPr>
        <p:txBody>
          <a:bodyPr wrap="square" anchor="t" lIns="0" rIns="0" tIns="0" bIns="0">
            <a:spAutoFit/>
          </a:bodyPr>
          <a:lstStyle/>
          <a:p>
            <a:pPr algn="l"/>
            <a:r>
              <a:rPr sz="3400" b="1">
                <a:solidFill>
                  <a:srgbClr val="1D2125"/>
                </a:solidFill>
                <a:latin typeface="Arial"/>
              </a:rPr>
              <a:t>Nearly nine in ten sales calls end in a “no”</a:t>
            </a:r>
          </a:p>
        </p:txBody>
      </p:sp>
      <p:sp>
        <p:nvSpPr>
          <p:cNvPr id="5" name="TextBox 4"/>
          <p:cNvSpPr txBox="1"/>
          <p:nvPr/>
        </p:nvSpPr>
        <p:spPr>
          <a:xfrm>
            <a:off x="813816" y="6236208"/>
            <a:ext cx="9144000" cy="274320"/>
          </a:xfrm>
          <a:prstGeom prst="rect">
            <a:avLst/>
          </a:prstGeom>
          <a:noFill/>
        </p:spPr>
        <p:txBody>
          <a:bodyPr wrap="square" anchor="t" lIns="0" rIns="0" tIns="0" bIns="0">
            <a:spAutoFit/>
          </a:bodyPr>
          <a:lstStyle/>
          <a:p>
            <a:pPr algn="l"/>
            <a:r>
              <a:rPr sz="1100" b="0">
                <a:solidFill>
                  <a:srgbClr val="5F6368"/>
                </a:solidFill>
                <a:latin typeface="Arial"/>
              </a:rPr>
              <a:t>Term Deposit Predictor  ·  Data Miners</a:t>
            </a:r>
          </a:p>
        </p:txBody>
      </p:sp>
      <p:sp>
        <p:nvSpPr>
          <p:cNvPr id="6" name="TextBox 5"/>
          <p:cNvSpPr txBox="1"/>
          <p:nvPr/>
        </p:nvSpPr>
        <p:spPr>
          <a:xfrm>
            <a:off x="10469880" y="6236208"/>
            <a:ext cx="914400" cy="274320"/>
          </a:xfrm>
          <a:prstGeom prst="rect">
            <a:avLst/>
          </a:prstGeom>
          <a:noFill/>
        </p:spPr>
        <p:txBody>
          <a:bodyPr wrap="square" anchor="t" lIns="0" rIns="0" tIns="0" bIns="0">
            <a:spAutoFit/>
          </a:bodyPr>
          <a:lstStyle/>
          <a:p>
            <a:pPr algn="r"/>
            <a:r>
              <a:rPr sz="1100" b="0">
                <a:solidFill>
                  <a:srgbClr val="5F6368"/>
                </a:solidFill>
                <a:latin typeface="Arial"/>
              </a:rPr>
              <a:t>02</a:t>
            </a:r>
          </a:p>
        </p:txBody>
      </p:sp>
      <p:sp>
        <p:nvSpPr>
          <p:cNvPr id="7" name="Oval 6"/>
          <p:cNvSpPr/>
          <p:nvPr/>
        </p:nvSpPr>
        <p:spPr>
          <a:xfrm>
            <a:off x="813816" y="2103120"/>
            <a:ext cx="274320" cy="274320"/>
          </a:xfrm>
          <a:prstGeom prst="ellipse">
            <a:avLst/>
          </a:prstGeom>
          <a:solidFill>
            <a:srgbClr val="D3CF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179576" y="2103120"/>
            <a:ext cx="274320" cy="274320"/>
          </a:xfrm>
          <a:prstGeom prst="ellipse">
            <a:avLst/>
          </a:prstGeom>
          <a:solidFill>
            <a:srgbClr val="D3CF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545336" y="2103120"/>
            <a:ext cx="274320" cy="274320"/>
          </a:xfrm>
          <a:prstGeom prst="ellipse">
            <a:avLst/>
          </a:prstGeom>
          <a:solidFill>
            <a:srgbClr val="D3CF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1911096" y="2103120"/>
            <a:ext cx="274320" cy="274320"/>
          </a:xfrm>
          <a:prstGeom prst="ellipse">
            <a:avLst/>
          </a:prstGeom>
          <a:solidFill>
            <a:srgbClr val="D3CF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2276856" y="2103120"/>
            <a:ext cx="274320" cy="274320"/>
          </a:xfrm>
          <a:prstGeom prst="ellipse">
            <a:avLst/>
          </a:prstGeom>
          <a:solidFill>
            <a:srgbClr val="D3CF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2642616" y="2103120"/>
            <a:ext cx="274320" cy="274320"/>
          </a:xfrm>
          <a:prstGeom prst="ellipse">
            <a:avLst/>
          </a:prstGeom>
          <a:solidFill>
            <a:srgbClr val="D3CF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3008376" y="2103120"/>
            <a:ext cx="274320" cy="274320"/>
          </a:xfrm>
          <a:prstGeom prst="ellipse">
            <a:avLst/>
          </a:prstGeom>
          <a:solidFill>
            <a:srgbClr val="D3CF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3374136" y="2103120"/>
            <a:ext cx="274320" cy="274320"/>
          </a:xfrm>
          <a:prstGeom prst="ellipse">
            <a:avLst/>
          </a:prstGeom>
          <a:solidFill>
            <a:srgbClr val="D3CF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739896" y="2103120"/>
            <a:ext cx="274320" cy="274320"/>
          </a:xfrm>
          <a:prstGeom prst="ellipse">
            <a:avLst/>
          </a:prstGeom>
          <a:solidFill>
            <a:srgbClr val="D3CF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4105656" y="2103120"/>
            <a:ext cx="274320" cy="274320"/>
          </a:xfrm>
          <a:prstGeom prst="ellipse">
            <a:avLst/>
          </a:prstGeom>
          <a:solidFill>
            <a:srgbClr val="D3CF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813816" y="2468880"/>
            <a:ext cx="274320" cy="274320"/>
          </a:xfrm>
          <a:prstGeom prst="ellipse">
            <a:avLst/>
          </a:prstGeom>
          <a:solidFill>
            <a:srgbClr val="D3CF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1179576" y="2468880"/>
            <a:ext cx="274320" cy="274320"/>
          </a:xfrm>
          <a:prstGeom prst="ellipse">
            <a:avLst/>
          </a:prstGeom>
          <a:solidFill>
            <a:srgbClr val="D3CF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545336" y="2468880"/>
            <a:ext cx="274320" cy="274320"/>
          </a:xfrm>
          <a:prstGeom prst="ellipse">
            <a:avLst/>
          </a:prstGeom>
          <a:solidFill>
            <a:srgbClr val="D3CF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1911096" y="2468880"/>
            <a:ext cx="274320" cy="274320"/>
          </a:xfrm>
          <a:prstGeom prst="ellipse">
            <a:avLst/>
          </a:prstGeom>
          <a:solidFill>
            <a:srgbClr val="D3CF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2276856" y="2468880"/>
            <a:ext cx="274320" cy="274320"/>
          </a:xfrm>
          <a:prstGeom prst="ellipse">
            <a:avLst/>
          </a:prstGeom>
          <a:solidFill>
            <a:srgbClr val="D3CF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2642616" y="2468880"/>
            <a:ext cx="274320" cy="274320"/>
          </a:xfrm>
          <a:prstGeom prst="ellipse">
            <a:avLst/>
          </a:prstGeom>
          <a:solidFill>
            <a:srgbClr val="D3CF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3008376" y="2468880"/>
            <a:ext cx="274320" cy="274320"/>
          </a:xfrm>
          <a:prstGeom prst="ellipse">
            <a:avLst/>
          </a:prstGeom>
          <a:solidFill>
            <a:srgbClr val="D3CF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3374136" y="2468880"/>
            <a:ext cx="274320" cy="274320"/>
          </a:xfrm>
          <a:prstGeom prst="ellipse">
            <a:avLst/>
          </a:prstGeom>
          <a:solidFill>
            <a:srgbClr val="D3CF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3739896" y="2468880"/>
            <a:ext cx="274320" cy="274320"/>
          </a:xfrm>
          <a:prstGeom prst="ellipse">
            <a:avLst/>
          </a:prstGeom>
          <a:solidFill>
            <a:srgbClr val="D3CF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4105656" y="2468880"/>
            <a:ext cx="274320" cy="274320"/>
          </a:xfrm>
          <a:prstGeom prst="ellipse">
            <a:avLst/>
          </a:prstGeom>
          <a:solidFill>
            <a:srgbClr val="D3CF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813816" y="2834640"/>
            <a:ext cx="274320" cy="274320"/>
          </a:xfrm>
          <a:prstGeom prst="ellipse">
            <a:avLst/>
          </a:prstGeom>
          <a:solidFill>
            <a:srgbClr val="D3CF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1179576" y="2834640"/>
            <a:ext cx="274320" cy="274320"/>
          </a:xfrm>
          <a:prstGeom prst="ellipse">
            <a:avLst/>
          </a:prstGeom>
          <a:solidFill>
            <a:srgbClr val="D3CF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545336" y="2834640"/>
            <a:ext cx="274320" cy="274320"/>
          </a:xfrm>
          <a:prstGeom prst="ellipse">
            <a:avLst/>
          </a:prstGeom>
          <a:solidFill>
            <a:srgbClr val="D3CF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1911096" y="2834640"/>
            <a:ext cx="274320" cy="274320"/>
          </a:xfrm>
          <a:prstGeom prst="ellipse">
            <a:avLst/>
          </a:prstGeom>
          <a:solidFill>
            <a:srgbClr val="D3CF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2276856" y="2834640"/>
            <a:ext cx="274320" cy="274320"/>
          </a:xfrm>
          <a:prstGeom prst="ellipse">
            <a:avLst/>
          </a:prstGeom>
          <a:solidFill>
            <a:srgbClr val="D3CF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2642616" y="2834640"/>
            <a:ext cx="274320" cy="274320"/>
          </a:xfrm>
          <a:prstGeom prst="ellipse">
            <a:avLst/>
          </a:prstGeom>
          <a:solidFill>
            <a:srgbClr val="D3CF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3008376" y="2834640"/>
            <a:ext cx="274320" cy="274320"/>
          </a:xfrm>
          <a:prstGeom prst="ellipse">
            <a:avLst/>
          </a:prstGeom>
          <a:solidFill>
            <a:srgbClr val="D3CF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3374136" y="2834640"/>
            <a:ext cx="274320" cy="274320"/>
          </a:xfrm>
          <a:prstGeom prst="ellipse">
            <a:avLst/>
          </a:prstGeom>
          <a:solidFill>
            <a:srgbClr val="D3CF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Oval 34"/>
          <p:cNvSpPr/>
          <p:nvPr/>
        </p:nvSpPr>
        <p:spPr>
          <a:xfrm>
            <a:off x="3739896" y="2834640"/>
            <a:ext cx="274320" cy="274320"/>
          </a:xfrm>
          <a:prstGeom prst="ellipse">
            <a:avLst/>
          </a:prstGeom>
          <a:solidFill>
            <a:srgbClr val="D3CF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4105656" y="2834640"/>
            <a:ext cx="274320" cy="274320"/>
          </a:xfrm>
          <a:prstGeom prst="ellipse">
            <a:avLst/>
          </a:prstGeom>
          <a:solidFill>
            <a:srgbClr val="D3CF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813816" y="3200400"/>
            <a:ext cx="274320" cy="274320"/>
          </a:xfrm>
          <a:prstGeom prst="ellipse">
            <a:avLst/>
          </a:prstGeom>
          <a:solidFill>
            <a:srgbClr val="D3CF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Oval 37"/>
          <p:cNvSpPr/>
          <p:nvPr/>
        </p:nvSpPr>
        <p:spPr>
          <a:xfrm>
            <a:off x="1179576" y="3200400"/>
            <a:ext cx="274320" cy="274320"/>
          </a:xfrm>
          <a:prstGeom prst="ellipse">
            <a:avLst/>
          </a:prstGeom>
          <a:solidFill>
            <a:srgbClr val="D3CF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Oval 38"/>
          <p:cNvSpPr/>
          <p:nvPr/>
        </p:nvSpPr>
        <p:spPr>
          <a:xfrm>
            <a:off x="1545336" y="3200400"/>
            <a:ext cx="274320" cy="274320"/>
          </a:xfrm>
          <a:prstGeom prst="ellipse">
            <a:avLst/>
          </a:prstGeom>
          <a:solidFill>
            <a:srgbClr val="D3CF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Oval 39"/>
          <p:cNvSpPr/>
          <p:nvPr/>
        </p:nvSpPr>
        <p:spPr>
          <a:xfrm>
            <a:off x="1911096" y="3200400"/>
            <a:ext cx="274320" cy="274320"/>
          </a:xfrm>
          <a:prstGeom prst="ellipse">
            <a:avLst/>
          </a:prstGeom>
          <a:solidFill>
            <a:srgbClr val="D3CF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Oval 40"/>
          <p:cNvSpPr/>
          <p:nvPr/>
        </p:nvSpPr>
        <p:spPr>
          <a:xfrm>
            <a:off x="2276856" y="3200400"/>
            <a:ext cx="274320" cy="274320"/>
          </a:xfrm>
          <a:prstGeom prst="ellipse">
            <a:avLst/>
          </a:prstGeom>
          <a:solidFill>
            <a:srgbClr val="D3CF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Oval 41"/>
          <p:cNvSpPr/>
          <p:nvPr/>
        </p:nvSpPr>
        <p:spPr>
          <a:xfrm>
            <a:off x="2642616" y="3200400"/>
            <a:ext cx="274320" cy="274320"/>
          </a:xfrm>
          <a:prstGeom prst="ellipse">
            <a:avLst/>
          </a:prstGeom>
          <a:solidFill>
            <a:srgbClr val="D3CF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Oval 42"/>
          <p:cNvSpPr/>
          <p:nvPr/>
        </p:nvSpPr>
        <p:spPr>
          <a:xfrm>
            <a:off x="3008376" y="3200400"/>
            <a:ext cx="274320" cy="274320"/>
          </a:xfrm>
          <a:prstGeom prst="ellipse">
            <a:avLst/>
          </a:prstGeom>
          <a:solidFill>
            <a:srgbClr val="D3CF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Oval 43"/>
          <p:cNvSpPr/>
          <p:nvPr/>
        </p:nvSpPr>
        <p:spPr>
          <a:xfrm>
            <a:off x="3374136" y="3200400"/>
            <a:ext cx="274320" cy="274320"/>
          </a:xfrm>
          <a:prstGeom prst="ellipse">
            <a:avLst/>
          </a:prstGeom>
          <a:solidFill>
            <a:srgbClr val="D3CF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Oval 44"/>
          <p:cNvSpPr/>
          <p:nvPr/>
        </p:nvSpPr>
        <p:spPr>
          <a:xfrm>
            <a:off x="3739896" y="3200400"/>
            <a:ext cx="274320" cy="274320"/>
          </a:xfrm>
          <a:prstGeom prst="ellipse">
            <a:avLst/>
          </a:prstGeom>
          <a:solidFill>
            <a:srgbClr val="D3CF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Oval 45"/>
          <p:cNvSpPr/>
          <p:nvPr/>
        </p:nvSpPr>
        <p:spPr>
          <a:xfrm>
            <a:off x="4105656" y="3200400"/>
            <a:ext cx="274320" cy="274320"/>
          </a:xfrm>
          <a:prstGeom prst="ellipse">
            <a:avLst/>
          </a:prstGeom>
          <a:solidFill>
            <a:srgbClr val="D3CF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Oval 46"/>
          <p:cNvSpPr/>
          <p:nvPr/>
        </p:nvSpPr>
        <p:spPr>
          <a:xfrm>
            <a:off x="813816" y="3566160"/>
            <a:ext cx="274320" cy="274320"/>
          </a:xfrm>
          <a:prstGeom prst="ellipse">
            <a:avLst/>
          </a:prstGeom>
          <a:solidFill>
            <a:srgbClr val="D3CF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Oval 47"/>
          <p:cNvSpPr/>
          <p:nvPr/>
        </p:nvSpPr>
        <p:spPr>
          <a:xfrm>
            <a:off x="1179576" y="3566160"/>
            <a:ext cx="274320" cy="274320"/>
          </a:xfrm>
          <a:prstGeom prst="ellipse">
            <a:avLst/>
          </a:prstGeom>
          <a:solidFill>
            <a:srgbClr val="D3CF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Oval 48"/>
          <p:cNvSpPr/>
          <p:nvPr/>
        </p:nvSpPr>
        <p:spPr>
          <a:xfrm>
            <a:off x="1545336" y="3566160"/>
            <a:ext cx="274320" cy="274320"/>
          </a:xfrm>
          <a:prstGeom prst="ellipse">
            <a:avLst/>
          </a:prstGeom>
          <a:solidFill>
            <a:srgbClr val="D3CF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Oval 49"/>
          <p:cNvSpPr/>
          <p:nvPr/>
        </p:nvSpPr>
        <p:spPr>
          <a:xfrm>
            <a:off x="1911096" y="3566160"/>
            <a:ext cx="274320" cy="274320"/>
          </a:xfrm>
          <a:prstGeom prst="ellipse">
            <a:avLst/>
          </a:prstGeom>
          <a:solidFill>
            <a:srgbClr val="D3CF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Oval 50"/>
          <p:cNvSpPr/>
          <p:nvPr/>
        </p:nvSpPr>
        <p:spPr>
          <a:xfrm>
            <a:off x="2276856" y="3566160"/>
            <a:ext cx="274320" cy="274320"/>
          </a:xfrm>
          <a:prstGeom prst="ellipse">
            <a:avLst/>
          </a:prstGeom>
          <a:solidFill>
            <a:srgbClr val="D3CF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Oval 51"/>
          <p:cNvSpPr/>
          <p:nvPr/>
        </p:nvSpPr>
        <p:spPr>
          <a:xfrm>
            <a:off x="2642616" y="3566160"/>
            <a:ext cx="274320" cy="274320"/>
          </a:xfrm>
          <a:prstGeom prst="ellipse">
            <a:avLst/>
          </a:prstGeom>
          <a:solidFill>
            <a:srgbClr val="D3CF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Oval 52"/>
          <p:cNvSpPr/>
          <p:nvPr/>
        </p:nvSpPr>
        <p:spPr>
          <a:xfrm>
            <a:off x="3008376" y="3566160"/>
            <a:ext cx="274320" cy="274320"/>
          </a:xfrm>
          <a:prstGeom prst="ellipse">
            <a:avLst/>
          </a:prstGeom>
          <a:solidFill>
            <a:srgbClr val="D3CF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Oval 53"/>
          <p:cNvSpPr/>
          <p:nvPr/>
        </p:nvSpPr>
        <p:spPr>
          <a:xfrm>
            <a:off x="3374136" y="3566160"/>
            <a:ext cx="274320" cy="274320"/>
          </a:xfrm>
          <a:prstGeom prst="ellipse">
            <a:avLst/>
          </a:prstGeom>
          <a:solidFill>
            <a:srgbClr val="D3CF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Oval 54"/>
          <p:cNvSpPr/>
          <p:nvPr/>
        </p:nvSpPr>
        <p:spPr>
          <a:xfrm>
            <a:off x="3739896" y="3566160"/>
            <a:ext cx="274320" cy="274320"/>
          </a:xfrm>
          <a:prstGeom prst="ellipse">
            <a:avLst/>
          </a:prstGeom>
          <a:solidFill>
            <a:srgbClr val="D3CF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Oval 55"/>
          <p:cNvSpPr/>
          <p:nvPr/>
        </p:nvSpPr>
        <p:spPr>
          <a:xfrm>
            <a:off x="4105656" y="3566160"/>
            <a:ext cx="274320" cy="274320"/>
          </a:xfrm>
          <a:prstGeom prst="ellipse">
            <a:avLst/>
          </a:prstGeom>
          <a:solidFill>
            <a:srgbClr val="D3CF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Oval 56"/>
          <p:cNvSpPr/>
          <p:nvPr/>
        </p:nvSpPr>
        <p:spPr>
          <a:xfrm>
            <a:off x="813816" y="3931920"/>
            <a:ext cx="274320" cy="274320"/>
          </a:xfrm>
          <a:prstGeom prst="ellipse">
            <a:avLst/>
          </a:prstGeom>
          <a:solidFill>
            <a:srgbClr val="D3CF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Oval 57"/>
          <p:cNvSpPr/>
          <p:nvPr/>
        </p:nvSpPr>
        <p:spPr>
          <a:xfrm>
            <a:off x="1179576" y="3931920"/>
            <a:ext cx="274320" cy="274320"/>
          </a:xfrm>
          <a:prstGeom prst="ellipse">
            <a:avLst/>
          </a:prstGeom>
          <a:solidFill>
            <a:srgbClr val="D3CF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Oval 58"/>
          <p:cNvSpPr/>
          <p:nvPr/>
        </p:nvSpPr>
        <p:spPr>
          <a:xfrm>
            <a:off x="1545336" y="3931920"/>
            <a:ext cx="274320" cy="274320"/>
          </a:xfrm>
          <a:prstGeom prst="ellipse">
            <a:avLst/>
          </a:prstGeom>
          <a:solidFill>
            <a:srgbClr val="D3CF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Oval 59"/>
          <p:cNvSpPr/>
          <p:nvPr/>
        </p:nvSpPr>
        <p:spPr>
          <a:xfrm>
            <a:off x="1911096" y="3931920"/>
            <a:ext cx="274320" cy="274320"/>
          </a:xfrm>
          <a:prstGeom prst="ellipse">
            <a:avLst/>
          </a:prstGeom>
          <a:solidFill>
            <a:srgbClr val="D3CF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Oval 60"/>
          <p:cNvSpPr/>
          <p:nvPr/>
        </p:nvSpPr>
        <p:spPr>
          <a:xfrm>
            <a:off x="2276856" y="3931920"/>
            <a:ext cx="274320" cy="274320"/>
          </a:xfrm>
          <a:prstGeom prst="ellipse">
            <a:avLst/>
          </a:prstGeom>
          <a:solidFill>
            <a:srgbClr val="D3CF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Oval 61"/>
          <p:cNvSpPr/>
          <p:nvPr/>
        </p:nvSpPr>
        <p:spPr>
          <a:xfrm>
            <a:off x="2642616" y="3931920"/>
            <a:ext cx="274320" cy="274320"/>
          </a:xfrm>
          <a:prstGeom prst="ellipse">
            <a:avLst/>
          </a:prstGeom>
          <a:solidFill>
            <a:srgbClr val="D3CF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Oval 62"/>
          <p:cNvSpPr/>
          <p:nvPr/>
        </p:nvSpPr>
        <p:spPr>
          <a:xfrm>
            <a:off x="3008376" y="3931920"/>
            <a:ext cx="274320" cy="274320"/>
          </a:xfrm>
          <a:prstGeom prst="ellipse">
            <a:avLst/>
          </a:prstGeom>
          <a:solidFill>
            <a:srgbClr val="D3CF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Oval 63"/>
          <p:cNvSpPr/>
          <p:nvPr/>
        </p:nvSpPr>
        <p:spPr>
          <a:xfrm>
            <a:off x="3374136" y="3931920"/>
            <a:ext cx="274320" cy="274320"/>
          </a:xfrm>
          <a:prstGeom prst="ellipse">
            <a:avLst/>
          </a:prstGeom>
          <a:solidFill>
            <a:srgbClr val="D3CF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Oval 64"/>
          <p:cNvSpPr/>
          <p:nvPr/>
        </p:nvSpPr>
        <p:spPr>
          <a:xfrm>
            <a:off x="3739896" y="3931920"/>
            <a:ext cx="274320" cy="274320"/>
          </a:xfrm>
          <a:prstGeom prst="ellipse">
            <a:avLst/>
          </a:prstGeom>
          <a:solidFill>
            <a:srgbClr val="D3CF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Oval 65"/>
          <p:cNvSpPr/>
          <p:nvPr/>
        </p:nvSpPr>
        <p:spPr>
          <a:xfrm>
            <a:off x="4105656" y="3931920"/>
            <a:ext cx="274320" cy="274320"/>
          </a:xfrm>
          <a:prstGeom prst="ellipse">
            <a:avLst/>
          </a:prstGeom>
          <a:solidFill>
            <a:srgbClr val="D3CF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Oval 66"/>
          <p:cNvSpPr/>
          <p:nvPr/>
        </p:nvSpPr>
        <p:spPr>
          <a:xfrm>
            <a:off x="813816" y="4297680"/>
            <a:ext cx="274320" cy="274320"/>
          </a:xfrm>
          <a:prstGeom prst="ellipse">
            <a:avLst/>
          </a:prstGeom>
          <a:solidFill>
            <a:srgbClr val="D3CF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Oval 67"/>
          <p:cNvSpPr/>
          <p:nvPr/>
        </p:nvSpPr>
        <p:spPr>
          <a:xfrm>
            <a:off x="1179576" y="4297680"/>
            <a:ext cx="274320" cy="274320"/>
          </a:xfrm>
          <a:prstGeom prst="ellipse">
            <a:avLst/>
          </a:prstGeom>
          <a:solidFill>
            <a:srgbClr val="D3CF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Oval 68"/>
          <p:cNvSpPr/>
          <p:nvPr/>
        </p:nvSpPr>
        <p:spPr>
          <a:xfrm>
            <a:off x="1545336" y="4297680"/>
            <a:ext cx="274320" cy="274320"/>
          </a:xfrm>
          <a:prstGeom prst="ellipse">
            <a:avLst/>
          </a:prstGeom>
          <a:solidFill>
            <a:srgbClr val="D3CF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Oval 69"/>
          <p:cNvSpPr/>
          <p:nvPr/>
        </p:nvSpPr>
        <p:spPr>
          <a:xfrm>
            <a:off x="1911096" y="4297680"/>
            <a:ext cx="274320" cy="274320"/>
          </a:xfrm>
          <a:prstGeom prst="ellipse">
            <a:avLst/>
          </a:prstGeom>
          <a:solidFill>
            <a:srgbClr val="D3CF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Oval 70"/>
          <p:cNvSpPr/>
          <p:nvPr/>
        </p:nvSpPr>
        <p:spPr>
          <a:xfrm>
            <a:off x="2276856" y="4297680"/>
            <a:ext cx="274320" cy="274320"/>
          </a:xfrm>
          <a:prstGeom prst="ellipse">
            <a:avLst/>
          </a:prstGeom>
          <a:solidFill>
            <a:srgbClr val="D3CF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Oval 71"/>
          <p:cNvSpPr/>
          <p:nvPr/>
        </p:nvSpPr>
        <p:spPr>
          <a:xfrm>
            <a:off x="2642616" y="4297680"/>
            <a:ext cx="274320" cy="274320"/>
          </a:xfrm>
          <a:prstGeom prst="ellipse">
            <a:avLst/>
          </a:prstGeom>
          <a:solidFill>
            <a:srgbClr val="D3CF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Oval 72"/>
          <p:cNvSpPr/>
          <p:nvPr/>
        </p:nvSpPr>
        <p:spPr>
          <a:xfrm>
            <a:off x="3008376" y="4297680"/>
            <a:ext cx="274320" cy="274320"/>
          </a:xfrm>
          <a:prstGeom prst="ellipse">
            <a:avLst/>
          </a:prstGeom>
          <a:solidFill>
            <a:srgbClr val="D3CF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Oval 73"/>
          <p:cNvSpPr/>
          <p:nvPr/>
        </p:nvSpPr>
        <p:spPr>
          <a:xfrm>
            <a:off x="3374136" y="4297680"/>
            <a:ext cx="274320" cy="274320"/>
          </a:xfrm>
          <a:prstGeom prst="ellipse">
            <a:avLst/>
          </a:prstGeom>
          <a:solidFill>
            <a:srgbClr val="D3CF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Oval 74"/>
          <p:cNvSpPr/>
          <p:nvPr/>
        </p:nvSpPr>
        <p:spPr>
          <a:xfrm>
            <a:off x="3739896" y="4297680"/>
            <a:ext cx="274320" cy="274320"/>
          </a:xfrm>
          <a:prstGeom prst="ellipse">
            <a:avLst/>
          </a:prstGeom>
          <a:solidFill>
            <a:srgbClr val="D3CF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Oval 75"/>
          <p:cNvSpPr/>
          <p:nvPr/>
        </p:nvSpPr>
        <p:spPr>
          <a:xfrm>
            <a:off x="4105656" y="4297680"/>
            <a:ext cx="274320" cy="274320"/>
          </a:xfrm>
          <a:prstGeom prst="ellipse">
            <a:avLst/>
          </a:prstGeom>
          <a:solidFill>
            <a:srgbClr val="D3CF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Oval 76"/>
          <p:cNvSpPr/>
          <p:nvPr/>
        </p:nvSpPr>
        <p:spPr>
          <a:xfrm>
            <a:off x="813816" y="4663440"/>
            <a:ext cx="274320" cy="274320"/>
          </a:xfrm>
          <a:prstGeom prst="ellipse">
            <a:avLst/>
          </a:prstGeom>
          <a:solidFill>
            <a:srgbClr val="D3CF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Oval 77"/>
          <p:cNvSpPr/>
          <p:nvPr/>
        </p:nvSpPr>
        <p:spPr>
          <a:xfrm>
            <a:off x="1179576" y="4663440"/>
            <a:ext cx="274320" cy="274320"/>
          </a:xfrm>
          <a:prstGeom prst="ellipse">
            <a:avLst/>
          </a:prstGeom>
          <a:solidFill>
            <a:srgbClr val="D3CF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Oval 78"/>
          <p:cNvSpPr/>
          <p:nvPr/>
        </p:nvSpPr>
        <p:spPr>
          <a:xfrm>
            <a:off x="1545336" y="4663440"/>
            <a:ext cx="274320" cy="274320"/>
          </a:xfrm>
          <a:prstGeom prst="ellipse">
            <a:avLst/>
          </a:prstGeom>
          <a:solidFill>
            <a:srgbClr val="D3CF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Oval 79"/>
          <p:cNvSpPr/>
          <p:nvPr/>
        </p:nvSpPr>
        <p:spPr>
          <a:xfrm>
            <a:off x="1911096" y="4663440"/>
            <a:ext cx="274320" cy="274320"/>
          </a:xfrm>
          <a:prstGeom prst="ellipse">
            <a:avLst/>
          </a:prstGeom>
          <a:solidFill>
            <a:srgbClr val="D3CF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Oval 80"/>
          <p:cNvSpPr/>
          <p:nvPr/>
        </p:nvSpPr>
        <p:spPr>
          <a:xfrm>
            <a:off x="2276856" y="4663440"/>
            <a:ext cx="274320" cy="274320"/>
          </a:xfrm>
          <a:prstGeom prst="ellipse">
            <a:avLst/>
          </a:prstGeom>
          <a:solidFill>
            <a:srgbClr val="D3CF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Oval 81"/>
          <p:cNvSpPr/>
          <p:nvPr/>
        </p:nvSpPr>
        <p:spPr>
          <a:xfrm>
            <a:off x="2642616" y="4663440"/>
            <a:ext cx="274320" cy="274320"/>
          </a:xfrm>
          <a:prstGeom prst="ellipse">
            <a:avLst/>
          </a:prstGeom>
          <a:solidFill>
            <a:srgbClr val="D3CF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Oval 82"/>
          <p:cNvSpPr/>
          <p:nvPr/>
        </p:nvSpPr>
        <p:spPr>
          <a:xfrm>
            <a:off x="3008376" y="4663440"/>
            <a:ext cx="274320" cy="274320"/>
          </a:xfrm>
          <a:prstGeom prst="ellipse">
            <a:avLst/>
          </a:prstGeom>
          <a:solidFill>
            <a:srgbClr val="D3CF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Oval 83"/>
          <p:cNvSpPr/>
          <p:nvPr/>
        </p:nvSpPr>
        <p:spPr>
          <a:xfrm>
            <a:off x="3374136" y="4663440"/>
            <a:ext cx="274320" cy="274320"/>
          </a:xfrm>
          <a:prstGeom prst="ellipse">
            <a:avLst/>
          </a:prstGeom>
          <a:solidFill>
            <a:srgbClr val="D3CF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Oval 84"/>
          <p:cNvSpPr/>
          <p:nvPr/>
        </p:nvSpPr>
        <p:spPr>
          <a:xfrm>
            <a:off x="3739896" y="4663440"/>
            <a:ext cx="274320" cy="274320"/>
          </a:xfrm>
          <a:prstGeom prst="ellipse">
            <a:avLst/>
          </a:prstGeom>
          <a:solidFill>
            <a:srgbClr val="D3CF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Oval 85"/>
          <p:cNvSpPr/>
          <p:nvPr/>
        </p:nvSpPr>
        <p:spPr>
          <a:xfrm>
            <a:off x="4105656" y="4663440"/>
            <a:ext cx="274320" cy="274320"/>
          </a:xfrm>
          <a:prstGeom prst="ellipse">
            <a:avLst/>
          </a:prstGeom>
          <a:solidFill>
            <a:srgbClr val="D3CF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 name="Oval 86"/>
          <p:cNvSpPr/>
          <p:nvPr/>
        </p:nvSpPr>
        <p:spPr>
          <a:xfrm>
            <a:off x="813816" y="5029200"/>
            <a:ext cx="274320" cy="274320"/>
          </a:xfrm>
          <a:prstGeom prst="ellipse">
            <a:avLst/>
          </a:prstGeom>
          <a:solidFill>
            <a:srgbClr val="D3CF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Oval 87"/>
          <p:cNvSpPr/>
          <p:nvPr/>
        </p:nvSpPr>
        <p:spPr>
          <a:xfrm>
            <a:off x="1179576" y="5029200"/>
            <a:ext cx="274320" cy="274320"/>
          </a:xfrm>
          <a:prstGeom prst="ellipse">
            <a:avLst/>
          </a:prstGeom>
          <a:solidFill>
            <a:srgbClr val="D3CF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 name="Oval 88"/>
          <p:cNvSpPr/>
          <p:nvPr/>
        </p:nvSpPr>
        <p:spPr>
          <a:xfrm>
            <a:off x="1545336" y="5029200"/>
            <a:ext cx="274320" cy="274320"/>
          </a:xfrm>
          <a:prstGeom prst="ellipse">
            <a:avLst/>
          </a:prstGeom>
          <a:solidFill>
            <a:srgbClr val="D3CF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 name="Oval 89"/>
          <p:cNvSpPr/>
          <p:nvPr/>
        </p:nvSpPr>
        <p:spPr>
          <a:xfrm>
            <a:off x="1911096" y="5029200"/>
            <a:ext cx="274320" cy="274320"/>
          </a:xfrm>
          <a:prstGeom prst="ellipse">
            <a:avLst/>
          </a:prstGeom>
          <a:solidFill>
            <a:srgbClr val="D3CF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 name="Oval 90"/>
          <p:cNvSpPr/>
          <p:nvPr/>
        </p:nvSpPr>
        <p:spPr>
          <a:xfrm>
            <a:off x="2276856" y="5029200"/>
            <a:ext cx="274320" cy="274320"/>
          </a:xfrm>
          <a:prstGeom prst="ellipse">
            <a:avLst/>
          </a:prstGeom>
          <a:solidFill>
            <a:srgbClr val="D3CF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 name="Oval 91"/>
          <p:cNvSpPr/>
          <p:nvPr/>
        </p:nvSpPr>
        <p:spPr>
          <a:xfrm>
            <a:off x="2642616" y="5029200"/>
            <a:ext cx="274320" cy="274320"/>
          </a:xfrm>
          <a:prstGeom prst="ellipse">
            <a:avLst/>
          </a:prstGeom>
          <a:solidFill>
            <a:srgbClr val="D3CF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 name="Oval 92"/>
          <p:cNvSpPr/>
          <p:nvPr/>
        </p:nvSpPr>
        <p:spPr>
          <a:xfrm>
            <a:off x="3008376" y="5029200"/>
            <a:ext cx="274320" cy="274320"/>
          </a:xfrm>
          <a:prstGeom prst="ellipse">
            <a:avLst/>
          </a:prstGeom>
          <a:solidFill>
            <a:srgbClr val="D3CF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 name="Oval 93"/>
          <p:cNvSpPr/>
          <p:nvPr/>
        </p:nvSpPr>
        <p:spPr>
          <a:xfrm>
            <a:off x="3374136" y="5029200"/>
            <a:ext cx="274320" cy="274320"/>
          </a:xfrm>
          <a:prstGeom prst="ellipse">
            <a:avLst/>
          </a:prstGeom>
          <a:solidFill>
            <a:srgbClr val="D3CF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 name="Oval 94"/>
          <p:cNvSpPr/>
          <p:nvPr/>
        </p:nvSpPr>
        <p:spPr>
          <a:xfrm>
            <a:off x="3739896" y="5029200"/>
            <a:ext cx="274320" cy="274320"/>
          </a:xfrm>
          <a:prstGeom prst="ellipse">
            <a:avLst/>
          </a:prstGeom>
          <a:solidFill>
            <a:srgbClr val="2F5F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 name="Oval 95"/>
          <p:cNvSpPr/>
          <p:nvPr/>
        </p:nvSpPr>
        <p:spPr>
          <a:xfrm>
            <a:off x="4105656" y="5029200"/>
            <a:ext cx="274320" cy="274320"/>
          </a:xfrm>
          <a:prstGeom prst="ellipse">
            <a:avLst/>
          </a:prstGeom>
          <a:solidFill>
            <a:srgbClr val="2F5F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 name="Oval 96"/>
          <p:cNvSpPr/>
          <p:nvPr/>
        </p:nvSpPr>
        <p:spPr>
          <a:xfrm>
            <a:off x="813816" y="5394960"/>
            <a:ext cx="274320" cy="274320"/>
          </a:xfrm>
          <a:prstGeom prst="ellipse">
            <a:avLst/>
          </a:prstGeom>
          <a:solidFill>
            <a:srgbClr val="2F5F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 name="Oval 97"/>
          <p:cNvSpPr/>
          <p:nvPr/>
        </p:nvSpPr>
        <p:spPr>
          <a:xfrm>
            <a:off x="1179576" y="5394960"/>
            <a:ext cx="274320" cy="274320"/>
          </a:xfrm>
          <a:prstGeom prst="ellipse">
            <a:avLst/>
          </a:prstGeom>
          <a:solidFill>
            <a:srgbClr val="2F5F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 name="Oval 98"/>
          <p:cNvSpPr/>
          <p:nvPr/>
        </p:nvSpPr>
        <p:spPr>
          <a:xfrm>
            <a:off x="1545336" y="5394960"/>
            <a:ext cx="274320" cy="274320"/>
          </a:xfrm>
          <a:prstGeom prst="ellipse">
            <a:avLst/>
          </a:prstGeom>
          <a:solidFill>
            <a:srgbClr val="2F5F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 name="Oval 99"/>
          <p:cNvSpPr/>
          <p:nvPr/>
        </p:nvSpPr>
        <p:spPr>
          <a:xfrm>
            <a:off x="1911096" y="5394960"/>
            <a:ext cx="274320" cy="274320"/>
          </a:xfrm>
          <a:prstGeom prst="ellipse">
            <a:avLst/>
          </a:prstGeom>
          <a:solidFill>
            <a:srgbClr val="2F5F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 name="Oval 100"/>
          <p:cNvSpPr/>
          <p:nvPr/>
        </p:nvSpPr>
        <p:spPr>
          <a:xfrm>
            <a:off x="2276856" y="5394960"/>
            <a:ext cx="274320" cy="274320"/>
          </a:xfrm>
          <a:prstGeom prst="ellipse">
            <a:avLst/>
          </a:prstGeom>
          <a:solidFill>
            <a:srgbClr val="2F5F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 name="Oval 101"/>
          <p:cNvSpPr/>
          <p:nvPr/>
        </p:nvSpPr>
        <p:spPr>
          <a:xfrm>
            <a:off x="2642616" y="5394960"/>
            <a:ext cx="274320" cy="274320"/>
          </a:xfrm>
          <a:prstGeom prst="ellipse">
            <a:avLst/>
          </a:prstGeom>
          <a:solidFill>
            <a:srgbClr val="2F5F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 name="Oval 102"/>
          <p:cNvSpPr/>
          <p:nvPr/>
        </p:nvSpPr>
        <p:spPr>
          <a:xfrm>
            <a:off x="3008376" y="5394960"/>
            <a:ext cx="274320" cy="274320"/>
          </a:xfrm>
          <a:prstGeom prst="ellipse">
            <a:avLst/>
          </a:prstGeom>
          <a:solidFill>
            <a:srgbClr val="2F5F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 name="Oval 103"/>
          <p:cNvSpPr/>
          <p:nvPr/>
        </p:nvSpPr>
        <p:spPr>
          <a:xfrm>
            <a:off x="3374136" y="5394960"/>
            <a:ext cx="274320" cy="274320"/>
          </a:xfrm>
          <a:prstGeom prst="ellipse">
            <a:avLst/>
          </a:prstGeom>
          <a:solidFill>
            <a:srgbClr val="2F5F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 name="Oval 104"/>
          <p:cNvSpPr/>
          <p:nvPr/>
        </p:nvSpPr>
        <p:spPr>
          <a:xfrm>
            <a:off x="3739896" y="5394960"/>
            <a:ext cx="274320" cy="274320"/>
          </a:xfrm>
          <a:prstGeom prst="ellipse">
            <a:avLst/>
          </a:prstGeom>
          <a:solidFill>
            <a:srgbClr val="2F5F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 name="Oval 105"/>
          <p:cNvSpPr/>
          <p:nvPr/>
        </p:nvSpPr>
        <p:spPr>
          <a:xfrm>
            <a:off x="4105656" y="5394960"/>
            <a:ext cx="274320" cy="274320"/>
          </a:xfrm>
          <a:prstGeom prst="ellipse">
            <a:avLst/>
          </a:prstGeom>
          <a:solidFill>
            <a:srgbClr val="2F5F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 name="TextBox 106"/>
          <p:cNvSpPr txBox="1"/>
          <p:nvPr/>
        </p:nvSpPr>
        <p:spPr>
          <a:xfrm>
            <a:off x="813816" y="5833872"/>
            <a:ext cx="5943600" cy="274320"/>
          </a:xfrm>
          <a:prstGeom prst="rect">
            <a:avLst/>
          </a:prstGeom>
          <a:noFill/>
        </p:spPr>
        <p:txBody>
          <a:bodyPr wrap="square" anchor="t" lIns="0" rIns="0" tIns="0" bIns="0">
            <a:spAutoFit/>
          </a:bodyPr>
          <a:lstStyle/>
          <a:p>
            <a:pPr algn="l"/>
            <a:r>
              <a:rPr sz="1200" b="0">
                <a:solidFill>
                  <a:srgbClr val="5F6368"/>
                </a:solidFill>
                <a:latin typeface="Arial"/>
              </a:rPr>
              <a:t>Each dot = 1% of calls  ·  blue = client opened a term deposit (11.7%)</a:t>
            </a:r>
          </a:p>
        </p:txBody>
      </p:sp>
      <p:sp>
        <p:nvSpPr>
          <p:cNvPr id="108" name="TextBox 107"/>
          <p:cNvSpPr txBox="1"/>
          <p:nvPr/>
        </p:nvSpPr>
        <p:spPr>
          <a:xfrm>
            <a:off x="6035040" y="2148840"/>
            <a:ext cx="5303520" cy="548640"/>
          </a:xfrm>
          <a:prstGeom prst="rect">
            <a:avLst/>
          </a:prstGeom>
          <a:noFill/>
        </p:spPr>
        <p:txBody>
          <a:bodyPr wrap="square" anchor="t" lIns="0" rIns="0" tIns="0" bIns="0">
            <a:spAutoFit/>
          </a:bodyPr>
          <a:lstStyle/>
          <a:p>
            <a:pPr algn="l"/>
            <a:r>
              <a:rPr sz="3400" b="1">
                <a:solidFill>
                  <a:srgbClr val="1D2125"/>
                </a:solidFill>
                <a:latin typeface="Arial"/>
              </a:rPr>
              <a:t>45,211</a:t>
            </a:r>
          </a:p>
        </p:txBody>
      </p:sp>
      <p:sp>
        <p:nvSpPr>
          <p:cNvPr id="109" name="TextBox 108"/>
          <p:cNvSpPr txBox="1"/>
          <p:nvPr/>
        </p:nvSpPr>
        <p:spPr>
          <a:xfrm>
            <a:off x="6035040" y="2724912"/>
            <a:ext cx="5303520" cy="274320"/>
          </a:xfrm>
          <a:prstGeom prst="rect">
            <a:avLst/>
          </a:prstGeom>
          <a:noFill/>
        </p:spPr>
        <p:txBody>
          <a:bodyPr wrap="square" anchor="t" lIns="0" rIns="0" tIns="0" bIns="0">
            <a:spAutoFit/>
          </a:bodyPr>
          <a:lstStyle/>
          <a:p>
            <a:pPr algn="l"/>
            <a:r>
              <a:rPr sz="1300" b="0">
                <a:solidFill>
                  <a:srgbClr val="5F6368"/>
                </a:solidFill>
                <a:latin typeface="Arial"/>
              </a:rPr>
              <a:t>phone calls in the bank's campaigns, 2008–2010</a:t>
            </a:r>
          </a:p>
        </p:txBody>
      </p:sp>
      <p:sp>
        <p:nvSpPr>
          <p:cNvPr id="110" name="TextBox 109"/>
          <p:cNvSpPr txBox="1"/>
          <p:nvPr/>
        </p:nvSpPr>
        <p:spPr>
          <a:xfrm>
            <a:off x="6035040" y="3200400"/>
            <a:ext cx="5303520" cy="548640"/>
          </a:xfrm>
          <a:prstGeom prst="rect">
            <a:avLst/>
          </a:prstGeom>
          <a:noFill/>
        </p:spPr>
        <p:txBody>
          <a:bodyPr wrap="square" anchor="t" lIns="0" rIns="0" tIns="0" bIns="0">
            <a:spAutoFit/>
          </a:bodyPr>
          <a:lstStyle/>
          <a:p>
            <a:pPr algn="l"/>
            <a:r>
              <a:rPr sz="3400" b="1">
                <a:solidFill>
                  <a:srgbClr val="2F5F9E"/>
                </a:solidFill>
                <a:latin typeface="Arial"/>
              </a:rPr>
              <a:t>only 11.7%</a:t>
            </a:r>
          </a:p>
        </p:txBody>
      </p:sp>
      <p:sp>
        <p:nvSpPr>
          <p:cNvPr id="111" name="TextBox 110"/>
          <p:cNvSpPr txBox="1"/>
          <p:nvPr/>
        </p:nvSpPr>
        <p:spPr>
          <a:xfrm>
            <a:off x="6035040" y="3776472"/>
            <a:ext cx="5303520" cy="274320"/>
          </a:xfrm>
          <a:prstGeom prst="rect">
            <a:avLst/>
          </a:prstGeom>
          <a:noFill/>
        </p:spPr>
        <p:txBody>
          <a:bodyPr wrap="square" anchor="t" lIns="0" rIns="0" tIns="0" bIns="0">
            <a:spAutoFit/>
          </a:bodyPr>
          <a:lstStyle/>
          <a:p>
            <a:pPr algn="l"/>
            <a:r>
              <a:rPr sz="1300" b="0">
                <a:solidFill>
                  <a:srgbClr val="5F6368"/>
                </a:solidFill>
                <a:latin typeface="Arial"/>
              </a:rPr>
              <a:t>ended with the client saying yes</a:t>
            </a:r>
          </a:p>
        </p:txBody>
      </p:sp>
      <p:cxnSp>
        <p:nvCxnSpPr>
          <p:cNvPr id="112" name="Connector 111"/>
          <p:cNvCxnSpPr/>
          <p:nvPr/>
        </p:nvCxnSpPr>
        <p:spPr>
          <a:xfrm>
            <a:off x="6035040" y="4343400"/>
            <a:ext cx="5349240" cy="0"/>
          </a:xfrm>
          <a:prstGeom prst="line">
            <a:avLst/>
          </a:prstGeom>
          <a:ln w="9525">
            <a:solidFill>
              <a:srgbClr val="1D2125"/>
            </a:solidFill>
          </a:ln>
        </p:spPr>
        <p:style>
          <a:lnRef idx="2">
            <a:schemeClr val="accent1"/>
          </a:lnRef>
          <a:fillRef idx="0">
            <a:schemeClr val="accent1"/>
          </a:fillRef>
          <a:effectRef idx="1">
            <a:schemeClr val="accent1"/>
          </a:effectRef>
          <a:fontRef idx="minor">
            <a:schemeClr val="tx1"/>
          </a:fontRef>
        </p:style>
      </p:cxnSp>
      <p:sp>
        <p:nvSpPr>
          <p:cNvPr id="113" name="TextBox 112"/>
          <p:cNvSpPr txBox="1"/>
          <p:nvPr/>
        </p:nvSpPr>
        <p:spPr>
          <a:xfrm>
            <a:off x="6035040" y="4526280"/>
            <a:ext cx="5349240" cy="914400"/>
          </a:xfrm>
          <a:prstGeom prst="rect">
            <a:avLst/>
          </a:prstGeom>
          <a:noFill/>
        </p:spPr>
        <p:txBody>
          <a:bodyPr wrap="square" anchor="t" lIns="0" rIns="0" tIns="0" bIns="0">
            <a:spAutoFit/>
          </a:bodyPr>
          <a:lstStyle/>
          <a:p>
            <a:pPr algn="l"/>
            <a:r>
              <a:rPr sz="1700" b="1">
                <a:solidFill>
                  <a:srgbClr val="1D2125"/>
                </a:solidFill>
                <a:latin typeface="Arial"/>
              </a:rPr>
              <a:t>Calling everyone in turn wastes agent time and annoys clients who were never going to say yes.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gradFill rotWithShape="1">
          <a:gsLst>
            <a:gs pos="0">
              <a:srgbClr val="E4EDF7"/>
            </a:gs>
            <a:gs pos="100000">
              <a:srgbClr val="F8EBDD"/>
            </a:gs>
          </a:gsLst>
          <a:lin scaled="0" ang="2700000"/>
        </a:gradFill>
        <a:effectLst/>
      </p:bgPr>
    </p:bg>
    <p:spTree>
      <p:nvGrpSpPr>
        <p:cNvPr id="1" name=""/>
        <p:cNvGrpSpPr/>
        <p:nvPr/>
      </p:nvGrpSpPr>
      <p:grpSpPr/>
      <p:sp>
        <p:nvSpPr>
          <p:cNvPr id="2" name="Rectangle 1"/>
          <p:cNvSpPr/>
          <p:nvPr/>
        </p:nvSpPr>
        <p:spPr>
          <a:xfrm>
            <a:off x="0" y="0"/>
            <a:ext cx="12191695" cy="91440"/>
          </a:xfrm>
          <a:prstGeom prst="rect">
            <a:avLst/>
          </a:prstGeom>
          <a:gradFill rotWithShape="1">
            <a:gsLst>
              <a:gs pos="0">
                <a:srgbClr val="2F5F9E"/>
              </a:gs>
              <a:gs pos="100000">
                <a:srgbClr val="E08A3C"/>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13816" y="813816"/>
            <a:ext cx="10881360" cy="274320"/>
          </a:xfrm>
          <a:prstGeom prst="rect">
            <a:avLst/>
          </a:prstGeom>
          <a:noFill/>
        </p:spPr>
        <p:txBody>
          <a:bodyPr wrap="square" anchor="t" lIns="0" rIns="0" tIns="0" bIns="0">
            <a:spAutoFit/>
          </a:bodyPr>
          <a:lstStyle/>
          <a:p>
            <a:pPr algn="l"/>
            <a:r>
              <a:rPr sz="1100" b="0" spc="300">
                <a:solidFill>
                  <a:srgbClr val="B5541C"/>
                </a:solidFill>
                <a:latin typeface="Courier New"/>
              </a:rPr>
              <a:t>OUR SOLUTION</a:t>
            </a:r>
          </a:p>
        </p:txBody>
      </p:sp>
      <p:sp>
        <p:nvSpPr>
          <p:cNvPr id="4" name="TextBox 3"/>
          <p:cNvSpPr txBox="1"/>
          <p:nvPr/>
        </p:nvSpPr>
        <p:spPr>
          <a:xfrm>
            <a:off x="813816" y="6236208"/>
            <a:ext cx="9144000" cy="274320"/>
          </a:xfrm>
          <a:prstGeom prst="rect">
            <a:avLst/>
          </a:prstGeom>
          <a:noFill/>
        </p:spPr>
        <p:txBody>
          <a:bodyPr wrap="square" anchor="t" lIns="0" rIns="0" tIns="0" bIns="0">
            <a:spAutoFit/>
          </a:bodyPr>
          <a:lstStyle/>
          <a:p>
            <a:pPr algn="l"/>
            <a:r>
              <a:rPr sz="1100" b="0">
                <a:solidFill>
                  <a:srgbClr val="5F6368"/>
                </a:solidFill>
                <a:latin typeface="Arial"/>
              </a:rPr>
              <a:t>Term Deposit Predictor  ·  Data Miners</a:t>
            </a:r>
          </a:p>
        </p:txBody>
      </p:sp>
      <p:sp>
        <p:nvSpPr>
          <p:cNvPr id="5" name="TextBox 4"/>
          <p:cNvSpPr txBox="1"/>
          <p:nvPr/>
        </p:nvSpPr>
        <p:spPr>
          <a:xfrm>
            <a:off x="10469880" y="6236208"/>
            <a:ext cx="914400" cy="274320"/>
          </a:xfrm>
          <a:prstGeom prst="rect">
            <a:avLst/>
          </a:prstGeom>
          <a:noFill/>
        </p:spPr>
        <p:txBody>
          <a:bodyPr wrap="square" anchor="t" lIns="0" rIns="0" tIns="0" bIns="0">
            <a:spAutoFit/>
          </a:bodyPr>
          <a:lstStyle/>
          <a:p>
            <a:pPr algn="r"/>
            <a:r>
              <a:rPr sz="1100" b="0">
                <a:solidFill>
                  <a:srgbClr val="5F6368"/>
                </a:solidFill>
                <a:latin typeface="Arial"/>
              </a:rPr>
              <a:t>03</a:t>
            </a:r>
          </a:p>
        </p:txBody>
      </p:sp>
      <p:sp>
        <p:nvSpPr>
          <p:cNvPr id="6" name="TextBox 5"/>
          <p:cNvSpPr txBox="1"/>
          <p:nvPr/>
        </p:nvSpPr>
        <p:spPr>
          <a:xfrm>
            <a:off x="813816" y="2011680"/>
            <a:ext cx="10241280" cy="2194560"/>
          </a:xfrm>
          <a:prstGeom prst="rect">
            <a:avLst/>
          </a:prstGeom>
          <a:noFill/>
        </p:spPr>
        <p:txBody>
          <a:bodyPr wrap="square" anchor="t" lIns="0" rIns="0" tIns="0" bIns="0">
            <a:spAutoFit/>
          </a:bodyPr>
          <a:lstStyle/>
          <a:p>
            <a:pPr algn="l">
              <a:lnSpc>
                <a:spcPct val="105000"/>
              </a:lnSpc>
            </a:pPr>
            <a:r>
              <a:rPr sz="3800" b="1">
                <a:solidFill>
                  <a:srgbClr val="1D2125"/>
                </a:solidFill>
                <a:latin typeface="Arial"/>
              </a:rPr>
              <a:t>Our predictor scores every client </a:t>
            </a:r>
            <a:r>
              <a:rPr sz="3800" b="1">
                <a:solidFill>
                  <a:srgbClr val="2F5F9E"/>
                </a:solidFill>
                <a:latin typeface="Arial"/>
              </a:rPr>
              <a:t>before the call</a:t>
            </a:r>
            <a:r>
              <a:rPr sz="3800" b="1">
                <a:solidFill>
                  <a:srgbClr val="1D2125"/>
                </a:solidFill>
                <a:latin typeface="Arial"/>
              </a:rPr>
              <a:t>, so the team phones the most promising people first.</a:t>
            </a:r>
          </a:p>
        </p:txBody>
      </p:sp>
      <p:cxnSp>
        <p:nvCxnSpPr>
          <p:cNvPr id="7" name="Connector 6"/>
          <p:cNvCxnSpPr/>
          <p:nvPr/>
        </p:nvCxnSpPr>
        <p:spPr>
          <a:xfrm>
            <a:off x="813816" y="4663440"/>
            <a:ext cx="3383280" cy="0"/>
          </a:xfrm>
          <a:prstGeom prst="line">
            <a:avLst/>
          </a:prstGeom>
          <a:ln w="9525">
            <a:solidFill>
              <a:srgbClr val="1D2125"/>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813816" y="4818888"/>
            <a:ext cx="3474720" cy="274320"/>
          </a:xfrm>
          <a:prstGeom prst="rect">
            <a:avLst/>
          </a:prstGeom>
          <a:noFill/>
        </p:spPr>
        <p:txBody>
          <a:bodyPr wrap="square" anchor="t" lIns="0" rIns="0" tIns="0" bIns="0">
            <a:spAutoFit/>
          </a:bodyPr>
          <a:lstStyle/>
          <a:p>
            <a:pPr algn="l"/>
            <a:r>
              <a:rPr sz="1700" b="1">
                <a:solidFill>
                  <a:srgbClr val="1D2125"/>
                </a:solidFill>
                <a:latin typeface="Arial"/>
              </a:rPr>
              <a:t>Score one client</a:t>
            </a:r>
          </a:p>
        </p:txBody>
      </p:sp>
      <p:sp>
        <p:nvSpPr>
          <p:cNvPr id="9" name="TextBox 8"/>
          <p:cNvSpPr txBox="1"/>
          <p:nvPr/>
        </p:nvSpPr>
        <p:spPr>
          <a:xfrm>
            <a:off x="813816" y="5138928"/>
            <a:ext cx="3291840" cy="731520"/>
          </a:xfrm>
          <a:prstGeom prst="rect">
            <a:avLst/>
          </a:prstGeom>
          <a:noFill/>
        </p:spPr>
        <p:txBody>
          <a:bodyPr wrap="square" anchor="t" lIns="0" rIns="0" tIns="0" bIns="0">
            <a:spAutoFit/>
          </a:bodyPr>
          <a:lstStyle/>
          <a:p>
            <a:pPr algn="l"/>
            <a:r>
              <a:rPr sz="1300" b="0">
                <a:solidFill>
                  <a:srgbClr val="5F6368"/>
                </a:solidFill>
                <a:latin typeface="Arial"/>
              </a:rPr>
              <a:t>Fill in a short form and instantly get a yes / no and how likely it is.</a:t>
            </a:r>
          </a:p>
        </p:txBody>
      </p:sp>
      <p:cxnSp>
        <p:nvCxnSpPr>
          <p:cNvPr id="10" name="Connector 9"/>
          <p:cNvCxnSpPr/>
          <p:nvPr/>
        </p:nvCxnSpPr>
        <p:spPr>
          <a:xfrm>
            <a:off x="4398264" y="4663440"/>
            <a:ext cx="3383280" cy="0"/>
          </a:xfrm>
          <a:prstGeom prst="line">
            <a:avLst/>
          </a:prstGeom>
          <a:ln w="9525">
            <a:solidFill>
              <a:srgbClr val="1D2125"/>
            </a:solidFill>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4398264" y="4818888"/>
            <a:ext cx="3474720" cy="274320"/>
          </a:xfrm>
          <a:prstGeom prst="rect">
            <a:avLst/>
          </a:prstGeom>
          <a:noFill/>
        </p:spPr>
        <p:txBody>
          <a:bodyPr wrap="square" anchor="t" lIns="0" rIns="0" tIns="0" bIns="0">
            <a:spAutoFit/>
          </a:bodyPr>
          <a:lstStyle/>
          <a:p>
            <a:pPr algn="l"/>
            <a:r>
              <a:rPr sz="1700" b="1">
                <a:solidFill>
                  <a:srgbClr val="1D2125"/>
                </a:solidFill>
                <a:latin typeface="Arial"/>
              </a:rPr>
              <a:t>Rank a whole call list</a:t>
            </a:r>
          </a:p>
        </p:txBody>
      </p:sp>
      <p:sp>
        <p:nvSpPr>
          <p:cNvPr id="12" name="TextBox 11"/>
          <p:cNvSpPr txBox="1"/>
          <p:nvPr/>
        </p:nvSpPr>
        <p:spPr>
          <a:xfrm>
            <a:off x="4398264" y="5138928"/>
            <a:ext cx="3291840" cy="731520"/>
          </a:xfrm>
          <a:prstGeom prst="rect">
            <a:avLst/>
          </a:prstGeom>
          <a:noFill/>
        </p:spPr>
        <p:txBody>
          <a:bodyPr wrap="square" anchor="t" lIns="0" rIns="0" tIns="0" bIns="0">
            <a:spAutoFit/>
          </a:bodyPr>
          <a:lstStyle/>
          <a:p>
            <a:pPr algn="l"/>
            <a:r>
              <a:rPr sz="1300" b="0">
                <a:solidFill>
                  <a:srgbClr val="5F6368"/>
                </a:solidFill>
                <a:latin typeface="Arial"/>
              </a:rPr>
              <a:t>Upload a CSV and get it back sorted from most to least promising.</a:t>
            </a:r>
          </a:p>
        </p:txBody>
      </p:sp>
      <p:cxnSp>
        <p:nvCxnSpPr>
          <p:cNvPr id="13" name="Connector 12"/>
          <p:cNvCxnSpPr/>
          <p:nvPr/>
        </p:nvCxnSpPr>
        <p:spPr>
          <a:xfrm>
            <a:off x="7982712" y="4663440"/>
            <a:ext cx="3383280" cy="0"/>
          </a:xfrm>
          <a:prstGeom prst="line">
            <a:avLst/>
          </a:prstGeom>
          <a:ln w="9525">
            <a:solidFill>
              <a:srgbClr val="1D2125"/>
            </a:solidFill>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7982712" y="4818888"/>
            <a:ext cx="3474720" cy="274320"/>
          </a:xfrm>
          <a:prstGeom prst="rect">
            <a:avLst/>
          </a:prstGeom>
          <a:noFill/>
        </p:spPr>
        <p:txBody>
          <a:bodyPr wrap="square" anchor="t" lIns="0" rIns="0" tIns="0" bIns="0">
            <a:spAutoFit/>
          </a:bodyPr>
          <a:lstStyle/>
          <a:p>
            <a:pPr algn="l"/>
            <a:r>
              <a:rPr sz="1700" b="1">
                <a:solidFill>
                  <a:srgbClr val="1D2125"/>
                </a:solidFill>
                <a:latin typeface="Arial"/>
              </a:rPr>
              <a:t>Understand why</a:t>
            </a:r>
          </a:p>
        </p:txBody>
      </p:sp>
      <p:sp>
        <p:nvSpPr>
          <p:cNvPr id="15" name="TextBox 14"/>
          <p:cNvSpPr txBox="1"/>
          <p:nvPr/>
        </p:nvSpPr>
        <p:spPr>
          <a:xfrm>
            <a:off x="7982712" y="5138928"/>
            <a:ext cx="3291840" cy="731520"/>
          </a:xfrm>
          <a:prstGeom prst="rect">
            <a:avLst/>
          </a:prstGeom>
          <a:noFill/>
        </p:spPr>
        <p:txBody>
          <a:bodyPr wrap="square" anchor="t" lIns="0" rIns="0" tIns="0" bIns="0">
            <a:spAutoFit/>
          </a:bodyPr>
          <a:lstStyle/>
          <a:p>
            <a:pPr algn="l"/>
            <a:r>
              <a:rPr sz="1300" b="0">
                <a:solidFill>
                  <a:srgbClr val="5F6368"/>
                </a:solidFill>
                <a:latin typeface="Arial"/>
              </a:rPr>
              <a:t>Charts show which clients and which timing tend to lead to a yes.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gradFill rotWithShape="1">
          <a:gsLst>
            <a:gs pos="0">
              <a:srgbClr val="E4EDF7"/>
            </a:gs>
            <a:gs pos="100000">
              <a:srgbClr val="F8EBDD"/>
            </a:gs>
          </a:gsLst>
          <a:lin scaled="0" ang="2700000"/>
        </a:gradFill>
        <a:effectLst/>
      </p:bgPr>
    </p:bg>
    <p:spTree>
      <p:nvGrpSpPr>
        <p:cNvPr id="1" name=""/>
        <p:cNvGrpSpPr/>
        <p:nvPr/>
      </p:nvGrpSpPr>
      <p:grpSpPr/>
      <p:sp>
        <p:nvSpPr>
          <p:cNvPr id="2" name="Rectangle 1"/>
          <p:cNvSpPr/>
          <p:nvPr/>
        </p:nvSpPr>
        <p:spPr>
          <a:xfrm>
            <a:off x="0" y="0"/>
            <a:ext cx="12191695" cy="91440"/>
          </a:xfrm>
          <a:prstGeom prst="rect">
            <a:avLst/>
          </a:prstGeom>
          <a:gradFill rotWithShape="1">
            <a:gsLst>
              <a:gs pos="0">
                <a:srgbClr val="2F5F9E"/>
              </a:gs>
              <a:gs pos="100000">
                <a:srgbClr val="E08A3C"/>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13816" y="813816"/>
            <a:ext cx="10881360" cy="274320"/>
          </a:xfrm>
          <a:prstGeom prst="rect">
            <a:avLst/>
          </a:prstGeom>
          <a:noFill/>
        </p:spPr>
        <p:txBody>
          <a:bodyPr wrap="square" anchor="t" lIns="0" rIns="0" tIns="0" bIns="0">
            <a:spAutoFit/>
          </a:bodyPr>
          <a:lstStyle/>
          <a:p>
            <a:pPr algn="l"/>
            <a:r>
              <a:rPr sz="1100" b="0" spc="300">
                <a:solidFill>
                  <a:srgbClr val="B5541C"/>
                </a:solidFill>
                <a:latin typeface="Courier New"/>
              </a:rPr>
              <a:t>THE VALUE</a:t>
            </a:r>
          </a:p>
        </p:txBody>
      </p:sp>
      <p:sp>
        <p:nvSpPr>
          <p:cNvPr id="4" name="TextBox 3"/>
          <p:cNvSpPr txBox="1"/>
          <p:nvPr/>
        </p:nvSpPr>
        <p:spPr>
          <a:xfrm>
            <a:off x="813816" y="1243584"/>
            <a:ext cx="10881360" cy="640080"/>
          </a:xfrm>
          <a:prstGeom prst="rect">
            <a:avLst/>
          </a:prstGeom>
          <a:noFill/>
        </p:spPr>
        <p:txBody>
          <a:bodyPr wrap="square" anchor="t" lIns="0" rIns="0" tIns="0" bIns="0">
            <a:spAutoFit/>
          </a:bodyPr>
          <a:lstStyle/>
          <a:p>
            <a:pPr algn="l"/>
            <a:r>
              <a:rPr sz="3400" b="1">
                <a:solidFill>
                  <a:srgbClr val="1D2125"/>
                </a:solidFill>
                <a:latin typeface="Arial"/>
              </a:rPr>
              <a:t>What scoring clients first gives the bank</a:t>
            </a:r>
          </a:p>
        </p:txBody>
      </p:sp>
      <p:sp>
        <p:nvSpPr>
          <p:cNvPr id="5" name="TextBox 4"/>
          <p:cNvSpPr txBox="1"/>
          <p:nvPr/>
        </p:nvSpPr>
        <p:spPr>
          <a:xfrm>
            <a:off x="813816" y="6236208"/>
            <a:ext cx="9144000" cy="274320"/>
          </a:xfrm>
          <a:prstGeom prst="rect">
            <a:avLst/>
          </a:prstGeom>
          <a:noFill/>
        </p:spPr>
        <p:txBody>
          <a:bodyPr wrap="square" anchor="t" lIns="0" rIns="0" tIns="0" bIns="0">
            <a:spAutoFit/>
          </a:bodyPr>
          <a:lstStyle/>
          <a:p>
            <a:pPr algn="l"/>
            <a:r>
              <a:rPr sz="1100" b="0">
                <a:solidFill>
                  <a:srgbClr val="5F6368"/>
                </a:solidFill>
                <a:latin typeface="Arial"/>
              </a:rPr>
              <a:t>Term Deposit Predictor  ·  Data Miners</a:t>
            </a:r>
          </a:p>
        </p:txBody>
      </p:sp>
      <p:sp>
        <p:nvSpPr>
          <p:cNvPr id="6" name="TextBox 5"/>
          <p:cNvSpPr txBox="1"/>
          <p:nvPr/>
        </p:nvSpPr>
        <p:spPr>
          <a:xfrm>
            <a:off x="10469880" y="6236208"/>
            <a:ext cx="914400" cy="274320"/>
          </a:xfrm>
          <a:prstGeom prst="rect">
            <a:avLst/>
          </a:prstGeom>
          <a:noFill/>
        </p:spPr>
        <p:txBody>
          <a:bodyPr wrap="square" anchor="t" lIns="0" rIns="0" tIns="0" bIns="0">
            <a:spAutoFit/>
          </a:bodyPr>
          <a:lstStyle/>
          <a:p>
            <a:pPr algn="r"/>
            <a:r>
              <a:rPr sz="1100" b="0">
                <a:solidFill>
                  <a:srgbClr val="5F6368"/>
                </a:solidFill>
                <a:latin typeface="Arial"/>
              </a:rPr>
              <a:t>04</a:t>
            </a:r>
          </a:p>
        </p:txBody>
      </p:sp>
      <p:sp>
        <p:nvSpPr>
          <p:cNvPr id="7" name="Rounded Rectangle 6"/>
          <p:cNvSpPr/>
          <p:nvPr/>
        </p:nvSpPr>
        <p:spPr>
          <a:xfrm>
            <a:off x="813816" y="2084831"/>
            <a:ext cx="5175504" cy="1773936"/>
          </a:xfrm>
          <a:prstGeom prst="roundRect">
            <a:avLst>
              <a:gd name="adj" fmla="val 5000"/>
            </a:avLst>
          </a:prstGeom>
          <a:solidFill>
            <a:srgbClr val="FAF9F6"/>
          </a:solidFill>
          <a:ln w="9525">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69848" y="2359151"/>
            <a:ext cx="4663440" cy="320040"/>
          </a:xfrm>
          <a:prstGeom prst="rect">
            <a:avLst/>
          </a:prstGeom>
          <a:noFill/>
        </p:spPr>
        <p:txBody>
          <a:bodyPr wrap="square" anchor="t" lIns="0" rIns="0" tIns="0" bIns="0">
            <a:spAutoFit/>
          </a:bodyPr>
          <a:lstStyle/>
          <a:p>
            <a:pPr algn="l"/>
            <a:r>
              <a:rPr sz="2000" b="1">
                <a:solidFill>
                  <a:srgbClr val="1D2125"/>
                </a:solidFill>
                <a:latin typeface="Arial"/>
              </a:rPr>
              <a:t>Fewer wasted calls</a:t>
            </a:r>
          </a:p>
        </p:txBody>
      </p:sp>
      <p:sp>
        <p:nvSpPr>
          <p:cNvPr id="9" name="TextBox 8"/>
          <p:cNvSpPr txBox="1"/>
          <p:nvPr/>
        </p:nvSpPr>
        <p:spPr>
          <a:xfrm>
            <a:off x="1069848" y="2798063"/>
            <a:ext cx="4663440" cy="822960"/>
          </a:xfrm>
          <a:prstGeom prst="rect">
            <a:avLst/>
          </a:prstGeom>
          <a:noFill/>
        </p:spPr>
        <p:txBody>
          <a:bodyPr wrap="square" anchor="t" lIns="0" rIns="0" tIns="0" bIns="0">
            <a:spAutoFit/>
          </a:bodyPr>
          <a:lstStyle/>
          <a:p>
            <a:pPr algn="l"/>
            <a:r>
              <a:rPr sz="1500" b="0">
                <a:solidFill>
                  <a:srgbClr val="5F6368"/>
                </a:solidFill>
                <a:latin typeface="Arial"/>
              </a:rPr>
              <a:t>Agents spend their time on the clients most likely to say yes.</a:t>
            </a:r>
          </a:p>
        </p:txBody>
      </p:sp>
      <p:sp>
        <p:nvSpPr>
          <p:cNvPr id="10" name="Rounded Rectangle 9"/>
          <p:cNvSpPr/>
          <p:nvPr/>
        </p:nvSpPr>
        <p:spPr>
          <a:xfrm>
            <a:off x="6199632" y="2084831"/>
            <a:ext cx="5175504" cy="1773936"/>
          </a:xfrm>
          <a:prstGeom prst="roundRect">
            <a:avLst>
              <a:gd name="adj" fmla="val 5000"/>
            </a:avLst>
          </a:prstGeom>
          <a:solidFill>
            <a:srgbClr val="FAF9F6"/>
          </a:solidFill>
          <a:ln w="9525">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55664" y="2359151"/>
            <a:ext cx="4663440" cy="320040"/>
          </a:xfrm>
          <a:prstGeom prst="rect">
            <a:avLst/>
          </a:prstGeom>
          <a:noFill/>
        </p:spPr>
        <p:txBody>
          <a:bodyPr wrap="square" anchor="t" lIns="0" rIns="0" tIns="0" bIns="0">
            <a:spAutoFit/>
          </a:bodyPr>
          <a:lstStyle/>
          <a:p>
            <a:pPr algn="l"/>
            <a:r>
              <a:rPr sz="2000" b="1">
                <a:solidFill>
                  <a:srgbClr val="1D2125"/>
                </a:solidFill>
                <a:latin typeface="Arial"/>
              </a:rPr>
              <a:t>More sales from the same effort</a:t>
            </a:r>
          </a:p>
        </p:txBody>
      </p:sp>
      <p:sp>
        <p:nvSpPr>
          <p:cNvPr id="12" name="TextBox 11"/>
          <p:cNvSpPr txBox="1"/>
          <p:nvPr/>
        </p:nvSpPr>
        <p:spPr>
          <a:xfrm>
            <a:off x="6455664" y="2798063"/>
            <a:ext cx="4663440" cy="822960"/>
          </a:xfrm>
          <a:prstGeom prst="rect">
            <a:avLst/>
          </a:prstGeom>
          <a:noFill/>
        </p:spPr>
        <p:txBody>
          <a:bodyPr wrap="square" anchor="t" lIns="0" rIns="0" tIns="0" bIns="0">
            <a:spAutoFit/>
          </a:bodyPr>
          <a:lstStyle/>
          <a:p>
            <a:pPr algn="l"/>
            <a:r>
              <a:rPr sz="1500" b="0">
                <a:solidFill>
                  <a:srgbClr val="5F6368"/>
                </a:solidFill>
                <a:latin typeface="Arial"/>
              </a:rPr>
              <a:t>Calling the top 20% of the list reaches 63% of all subscribers.</a:t>
            </a:r>
          </a:p>
        </p:txBody>
      </p:sp>
      <p:sp>
        <p:nvSpPr>
          <p:cNvPr id="13" name="Rounded Rectangle 12"/>
          <p:cNvSpPr/>
          <p:nvPr/>
        </p:nvSpPr>
        <p:spPr>
          <a:xfrm>
            <a:off x="813816" y="4069079"/>
            <a:ext cx="5175504" cy="1773936"/>
          </a:xfrm>
          <a:prstGeom prst="roundRect">
            <a:avLst>
              <a:gd name="adj" fmla="val 5000"/>
            </a:avLst>
          </a:prstGeom>
          <a:solidFill>
            <a:srgbClr val="FAF9F6"/>
          </a:solidFill>
          <a:ln w="9525">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69848" y="4343399"/>
            <a:ext cx="4663440" cy="320040"/>
          </a:xfrm>
          <a:prstGeom prst="rect">
            <a:avLst/>
          </a:prstGeom>
          <a:noFill/>
        </p:spPr>
        <p:txBody>
          <a:bodyPr wrap="square" anchor="t" lIns="0" rIns="0" tIns="0" bIns="0">
            <a:spAutoFit/>
          </a:bodyPr>
          <a:lstStyle/>
          <a:p>
            <a:pPr algn="l"/>
            <a:r>
              <a:rPr sz="2000" b="1">
                <a:solidFill>
                  <a:srgbClr val="1D2125"/>
                </a:solidFill>
                <a:latin typeface="Arial"/>
              </a:rPr>
              <a:t>Smarter campaign timing</a:t>
            </a:r>
          </a:p>
        </p:txBody>
      </p:sp>
      <p:sp>
        <p:nvSpPr>
          <p:cNvPr id="15" name="TextBox 14"/>
          <p:cNvSpPr txBox="1"/>
          <p:nvPr/>
        </p:nvSpPr>
        <p:spPr>
          <a:xfrm>
            <a:off x="1069848" y="4782311"/>
            <a:ext cx="4663440" cy="822960"/>
          </a:xfrm>
          <a:prstGeom prst="rect">
            <a:avLst/>
          </a:prstGeom>
          <a:noFill/>
        </p:spPr>
        <p:txBody>
          <a:bodyPr wrap="square" anchor="t" lIns="0" rIns="0" tIns="0" bIns="0">
            <a:spAutoFit/>
          </a:bodyPr>
          <a:lstStyle/>
          <a:p>
            <a:pPr algn="l"/>
            <a:r>
              <a:rPr sz="1500" b="0">
                <a:solidFill>
                  <a:srgbClr val="5F6368"/>
                </a:solidFill>
                <a:latin typeface="Arial"/>
              </a:rPr>
              <a:t>The data shows when and how to call, and when not to bother.</a:t>
            </a:r>
          </a:p>
        </p:txBody>
      </p:sp>
      <p:sp>
        <p:nvSpPr>
          <p:cNvPr id="16" name="Rounded Rectangle 15"/>
          <p:cNvSpPr/>
          <p:nvPr/>
        </p:nvSpPr>
        <p:spPr>
          <a:xfrm>
            <a:off x="6199632" y="4069079"/>
            <a:ext cx="5175504" cy="1773936"/>
          </a:xfrm>
          <a:prstGeom prst="roundRect">
            <a:avLst>
              <a:gd name="adj" fmla="val 5000"/>
            </a:avLst>
          </a:prstGeom>
          <a:solidFill>
            <a:srgbClr val="FAF9F6"/>
          </a:solidFill>
          <a:ln w="9525">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55664" y="4343399"/>
            <a:ext cx="4663440" cy="320040"/>
          </a:xfrm>
          <a:prstGeom prst="rect">
            <a:avLst/>
          </a:prstGeom>
          <a:noFill/>
        </p:spPr>
        <p:txBody>
          <a:bodyPr wrap="square" anchor="t" lIns="0" rIns="0" tIns="0" bIns="0">
            <a:spAutoFit/>
          </a:bodyPr>
          <a:lstStyle/>
          <a:p>
            <a:pPr algn="l"/>
            <a:r>
              <a:rPr sz="2000" b="1">
                <a:solidFill>
                  <a:srgbClr val="1D2125"/>
                </a:solidFill>
                <a:latin typeface="Arial"/>
              </a:rPr>
              <a:t>Kinder to clients</a:t>
            </a:r>
          </a:p>
        </p:txBody>
      </p:sp>
      <p:sp>
        <p:nvSpPr>
          <p:cNvPr id="18" name="TextBox 17"/>
          <p:cNvSpPr txBox="1"/>
          <p:nvPr/>
        </p:nvSpPr>
        <p:spPr>
          <a:xfrm>
            <a:off x="6455664" y="4782311"/>
            <a:ext cx="4663440" cy="822960"/>
          </a:xfrm>
          <a:prstGeom prst="rect">
            <a:avLst/>
          </a:prstGeom>
          <a:noFill/>
        </p:spPr>
        <p:txBody>
          <a:bodyPr wrap="square" anchor="t" lIns="0" rIns="0" tIns="0" bIns="0">
            <a:spAutoFit/>
          </a:bodyPr>
          <a:lstStyle/>
          <a:p>
            <a:pPr algn="l"/>
            <a:r>
              <a:rPr sz="1500" b="0">
                <a:solidFill>
                  <a:srgbClr val="5F6368"/>
                </a:solidFill>
                <a:latin typeface="Arial"/>
              </a:rPr>
              <a:t>Fewer repeat calls to people who were never interested.</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gradFill rotWithShape="1">
          <a:gsLst>
            <a:gs pos="0">
              <a:srgbClr val="E4EDF7"/>
            </a:gs>
            <a:gs pos="100000">
              <a:srgbClr val="F8EBDD"/>
            </a:gs>
          </a:gsLst>
          <a:lin scaled="0" ang="2700000"/>
        </a:gradFill>
        <a:effectLst/>
      </p:bgPr>
    </p:bg>
    <p:spTree>
      <p:nvGrpSpPr>
        <p:cNvPr id="1" name=""/>
        <p:cNvGrpSpPr/>
        <p:nvPr/>
      </p:nvGrpSpPr>
      <p:grpSpPr/>
      <p:sp>
        <p:nvSpPr>
          <p:cNvPr id="2" name="Rectangle 1"/>
          <p:cNvSpPr/>
          <p:nvPr/>
        </p:nvSpPr>
        <p:spPr>
          <a:xfrm>
            <a:off x="0" y="0"/>
            <a:ext cx="12191695" cy="91440"/>
          </a:xfrm>
          <a:prstGeom prst="rect">
            <a:avLst/>
          </a:prstGeom>
          <a:gradFill rotWithShape="1">
            <a:gsLst>
              <a:gs pos="0">
                <a:srgbClr val="2F5F9E"/>
              </a:gs>
              <a:gs pos="100000">
                <a:srgbClr val="E08A3C"/>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13816" y="813816"/>
            <a:ext cx="10881360" cy="274320"/>
          </a:xfrm>
          <a:prstGeom prst="rect">
            <a:avLst/>
          </a:prstGeom>
          <a:noFill/>
        </p:spPr>
        <p:txBody>
          <a:bodyPr wrap="square" anchor="t" lIns="0" rIns="0" tIns="0" bIns="0">
            <a:spAutoFit/>
          </a:bodyPr>
          <a:lstStyle/>
          <a:p>
            <a:pPr algn="l"/>
            <a:r>
              <a:rPr sz="1100" b="0" spc="300">
                <a:solidFill>
                  <a:srgbClr val="B5541C"/>
                </a:solidFill>
                <a:latin typeface="Courier New"/>
              </a:rPr>
              <a:t>HOW IT WORKS</a:t>
            </a:r>
          </a:p>
        </p:txBody>
      </p:sp>
      <p:sp>
        <p:nvSpPr>
          <p:cNvPr id="4" name="TextBox 3"/>
          <p:cNvSpPr txBox="1"/>
          <p:nvPr/>
        </p:nvSpPr>
        <p:spPr>
          <a:xfrm>
            <a:off x="813816" y="1243584"/>
            <a:ext cx="10881360" cy="640080"/>
          </a:xfrm>
          <a:prstGeom prst="rect">
            <a:avLst/>
          </a:prstGeom>
          <a:noFill/>
        </p:spPr>
        <p:txBody>
          <a:bodyPr wrap="square" anchor="t" lIns="0" rIns="0" tIns="0" bIns="0">
            <a:spAutoFit/>
          </a:bodyPr>
          <a:lstStyle/>
          <a:p>
            <a:pPr algn="l"/>
            <a:r>
              <a:rPr sz="3400" b="1">
                <a:solidFill>
                  <a:srgbClr val="1D2125"/>
                </a:solidFill>
                <a:latin typeface="Arial"/>
              </a:rPr>
              <a:t>From past calls to a prediction in four steps</a:t>
            </a:r>
          </a:p>
        </p:txBody>
      </p:sp>
      <p:sp>
        <p:nvSpPr>
          <p:cNvPr id="5" name="TextBox 4"/>
          <p:cNvSpPr txBox="1"/>
          <p:nvPr/>
        </p:nvSpPr>
        <p:spPr>
          <a:xfrm>
            <a:off x="813816" y="6236208"/>
            <a:ext cx="9144000" cy="274320"/>
          </a:xfrm>
          <a:prstGeom prst="rect">
            <a:avLst/>
          </a:prstGeom>
          <a:noFill/>
        </p:spPr>
        <p:txBody>
          <a:bodyPr wrap="square" anchor="t" lIns="0" rIns="0" tIns="0" bIns="0">
            <a:spAutoFit/>
          </a:bodyPr>
          <a:lstStyle/>
          <a:p>
            <a:pPr algn="l"/>
            <a:r>
              <a:rPr sz="1100" b="0">
                <a:solidFill>
                  <a:srgbClr val="5F6368"/>
                </a:solidFill>
                <a:latin typeface="Arial"/>
              </a:rPr>
              <a:t>Term Deposit Predictor  ·  Data Miners</a:t>
            </a:r>
          </a:p>
        </p:txBody>
      </p:sp>
      <p:sp>
        <p:nvSpPr>
          <p:cNvPr id="6" name="TextBox 5"/>
          <p:cNvSpPr txBox="1"/>
          <p:nvPr/>
        </p:nvSpPr>
        <p:spPr>
          <a:xfrm>
            <a:off x="10469880" y="6236208"/>
            <a:ext cx="914400" cy="274320"/>
          </a:xfrm>
          <a:prstGeom prst="rect">
            <a:avLst/>
          </a:prstGeom>
          <a:noFill/>
        </p:spPr>
        <p:txBody>
          <a:bodyPr wrap="square" anchor="t" lIns="0" rIns="0" tIns="0" bIns="0">
            <a:spAutoFit/>
          </a:bodyPr>
          <a:lstStyle/>
          <a:p>
            <a:pPr algn="r"/>
            <a:r>
              <a:rPr sz="1100" b="0">
                <a:solidFill>
                  <a:srgbClr val="5F6368"/>
                </a:solidFill>
                <a:latin typeface="Arial"/>
              </a:rPr>
              <a:t>05</a:t>
            </a:r>
          </a:p>
        </p:txBody>
      </p:sp>
      <p:sp>
        <p:nvSpPr>
          <p:cNvPr id="7" name="Rounded Rectangle 6"/>
          <p:cNvSpPr/>
          <p:nvPr/>
        </p:nvSpPr>
        <p:spPr>
          <a:xfrm>
            <a:off x="813816" y="2084831"/>
            <a:ext cx="2258568" cy="2743200"/>
          </a:xfrm>
          <a:prstGeom prst="roundRect">
            <a:avLst>
              <a:gd name="adj" fmla="val 5000"/>
            </a:avLst>
          </a:prstGeom>
          <a:solidFill>
            <a:srgbClr val="FAF9F6"/>
          </a:solidFill>
          <a:ln w="9525">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69848" y="2340864"/>
            <a:ext cx="1737360" cy="411480"/>
          </a:xfrm>
          <a:prstGeom prst="rect">
            <a:avLst/>
          </a:prstGeom>
          <a:noFill/>
        </p:spPr>
        <p:txBody>
          <a:bodyPr wrap="square" anchor="t" lIns="0" rIns="0" tIns="0" bIns="0">
            <a:spAutoFit/>
          </a:bodyPr>
          <a:lstStyle/>
          <a:p>
            <a:pPr algn="l"/>
            <a:r>
              <a:rPr sz="2200" b="0">
                <a:solidFill>
                  <a:srgbClr val="2F5F9E"/>
                </a:solidFill>
                <a:latin typeface="Courier New"/>
              </a:rPr>
              <a:t>01</a:t>
            </a:r>
          </a:p>
        </p:txBody>
      </p:sp>
      <p:sp>
        <p:nvSpPr>
          <p:cNvPr id="9" name="TextBox 8"/>
          <p:cNvSpPr txBox="1"/>
          <p:nvPr/>
        </p:nvSpPr>
        <p:spPr>
          <a:xfrm>
            <a:off x="1069848" y="2834640"/>
            <a:ext cx="1783080" cy="640080"/>
          </a:xfrm>
          <a:prstGeom prst="rect">
            <a:avLst/>
          </a:prstGeom>
          <a:noFill/>
        </p:spPr>
        <p:txBody>
          <a:bodyPr wrap="square" anchor="t" lIns="0" rIns="0" tIns="0" bIns="0">
            <a:spAutoFit/>
          </a:bodyPr>
          <a:lstStyle/>
          <a:p>
            <a:pPr algn="l"/>
            <a:r>
              <a:rPr sz="1700" b="1">
                <a:solidFill>
                  <a:srgbClr val="1D2125"/>
                </a:solidFill>
                <a:latin typeface="Arial"/>
              </a:rPr>
              <a:t>Learn from past calls</a:t>
            </a:r>
          </a:p>
        </p:txBody>
      </p:sp>
      <p:sp>
        <p:nvSpPr>
          <p:cNvPr id="10" name="TextBox 9"/>
          <p:cNvSpPr txBox="1"/>
          <p:nvPr/>
        </p:nvSpPr>
        <p:spPr>
          <a:xfrm>
            <a:off x="1069848" y="3520440"/>
            <a:ext cx="1783080" cy="1188720"/>
          </a:xfrm>
          <a:prstGeom prst="rect">
            <a:avLst/>
          </a:prstGeom>
          <a:noFill/>
        </p:spPr>
        <p:txBody>
          <a:bodyPr wrap="square" anchor="t" lIns="0" rIns="0" tIns="0" bIns="0">
            <a:spAutoFit/>
          </a:bodyPr>
          <a:lstStyle/>
          <a:p>
            <a:pPr algn="l"/>
            <a:r>
              <a:rPr sz="1300" b="0">
                <a:solidFill>
                  <a:srgbClr val="5F6368"/>
                </a:solidFill>
                <a:latin typeface="Arial"/>
              </a:rPr>
              <a:t>45,211 real calls from a Portuguese bank, each with its outcome.</a:t>
            </a:r>
          </a:p>
        </p:txBody>
      </p:sp>
      <p:sp>
        <p:nvSpPr>
          <p:cNvPr id="11" name="Right Arrow 10"/>
          <p:cNvSpPr/>
          <p:nvPr/>
        </p:nvSpPr>
        <p:spPr>
          <a:xfrm>
            <a:off x="3163824" y="3310128"/>
            <a:ext cx="329184" cy="274320"/>
          </a:xfrm>
          <a:prstGeom prst="rightArrow">
            <a:avLst/>
          </a:prstGeom>
          <a:solidFill>
            <a:srgbClr val="2F5F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3584448" y="2084831"/>
            <a:ext cx="2258568" cy="2743200"/>
          </a:xfrm>
          <a:prstGeom prst="roundRect">
            <a:avLst>
              <a:gd name="adj" fmla="val 5000"/>
            </a:avLst>
          </a:prstGeom>
          <a:solidFill>
            <a:srgbClr val="FAF9F6"/>
          </a:solidFill>
          <a:ln w="9525">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840480" y="2340864"/>
            <a:ext cx="1737360" cy="411480"/>
          </a:xfrm>
          <a:prstGeom prst="rect">
            <a:avLst/>
          </a:prstGeom>
          <a:noFill/>
        </p:spPr>
        <p:txBody>
          <a:bodyPr wrap="square" anchor="t" lIns="0" rIns="0" tIns="0" bIns="0">
            <a:spAutoFit/>
          </a:bodyPr>
          <a:lstStyle/>
          <a:p>
            <a:pPr algn="l"/>
            <a:r>
              <a:rPr sz="2200" b="0">
                <a:solidFill>
                  <a:srgbClr val="2F5F9E"/>
                </a:solidFill>
                <a:latin typeface="Courier New"/>
              </a:rPr>
              <a:t>02</a:t>
            </a:r>
          </a:p>
        </p:txBody>
      </p:sp>
      <p:sp>
        <p:nvSpPr>
          <p:cNvPr id="14" name="TextBox 13"/>
          <p:cNvSpPr txBox="1"/>
          <p:nvPr/>
        </p:nvSpPr>
        <p:spPr>
          <a:xfrm>
            <a:off x="3840480" y="2834640"/>
            <a:ext cx="1783080" cy="640080"/>
          </a:xfrm>
          <a:prstGeom prst="rect">
            <a:avLst/>
          </a:prstGeom>
          <a:noFill/>
        </p:spPr>
        <p:txBody>
          <a:bodyPr wrap="square" anchor="t" lIns="0" rIns="0" tIns="0" bIns="0">
            <a:spAutoFit/>
          </a:bodyPr>
          <a:lstStyle/>
          <a:p>
            <a:pPr algn="l"/>
            <a:r>
              <a:rPr sz="1700" b="1">
                <a:solidFill>
                  <a:srgbClr val="1D2125"/>
                </a:solidFill>
                <a:latin typeface="Arial"/>
              </a:rPr>
              <a:t>Clean it and keep it fair</a:t>
            </a:r>
          </a:p>
        </p:txBody>
      </p:sp>
      <p:sp>
        <p:nvSpPr>
          <p:cNvPr id="15" name="TextBox 14"/>
          <p:cNvSpPr txBox="1"/>
          <p:nvPr/>
        </p:nvSpPr>
        <p:spPr>
          <a:xfrm>
            <a:off x="3840480" y="3520440"/>
            <a:ext cx="1783080" cy="1188720"/>
          </a:xfrm>
          <a:prstGeom prst="rect">
            <a:avLst/>
          </a:prstGeom>
          <a:noFill/>
        </p:spPr>
        <p:txBody>
          <a:bodyPr wrap="square" anchor="t" lIns="0" rIns="0" tIns="0" bIns="0">
            <a:spAutoFit/>
          </a:bodyPr>
          <a:lstStyle/>
          <a:p>
            <a:pPr algn="l"/>
            <a:r>
              <a:rPr sz="1300" b="0">
                <a:solidFill>
                  <a:srgbClr val="5F6368"/>
                </a:solidFill>
                <a:latin typeface="Arial"/>
              </a:rPr>
              <a:t>Checked quality and removed call length, which is only known after the call.</a:t>
            </a:r>
          </a:p>
        </p:txBody>
      </p:sp>
      <p:sp>
        <p:nvSpPr>
          <p:cNvPr id="16" name="Right Arrow 15"/>
          <p:cNvSpPr/>
          <p:nvPr/>
        </p:nvSpPr>
        <p:spPr>
          <a:xfrm>
            <a:off x="5934456" y="3310128"/>
            <a:ext cx="329184" cy="274320"/>
          </a:xfrm>
          <a:prstGeom prst="rightArrow">
            <a:avLst/>
          </a:prstGeom>
          <a:solidFill>
            <a:srgbClr val="2F5F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6355080" y="2084831"/>
            <a:ext cx="2258568" cy="2743200"/>
          </a:xfrm>
          <a:prstGeom prst="roundRect">
            <a:avLst>
              <a:gd name="adj" fmla="val 5000"/>
            </a:avLst>
          </a:prstGeom>
          <a:solidFill>
            <a:srgbClr val="FAF9F6"/>
          </a:solidFill>
          <a:ln w="9525">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611112" y="2340864"/>
            <a:ext cx="1737360" cy="411480"/>
          </a:xfrm>
          <a:prstGeom prst="rect">
            <a:avLst/>
          </a:prstGeom>
          <a:noFill/>
        </p:spPr>
        <p:txBody>
          <a:bodyPr wrap="square" anchor="t" lIns="0" rIns="0" tIns="0" bIns="0">
            <a:spAutoFit/>
          </a:bodyPr>
          <a:lstStyle/>
          <a:p>
            <a:pPr algn="l"/>
            <a:r>
              <a:rPr sz="2200" b="0">
                <a:solidFill>
                  <a:srgbClr val="2F5F9E"/>
                </a:solidFill>
                <a:latin typeface="Courier New"/>
              </a:rPr>
              <a:t>03</a:t>
            </a:r>
          </a:p>
        </p:txBody>
      </p:sp>
      <p:sp>
        <p:nvSpPr>
          <p:cNvPr id="19" name="TextBox 18"/>
          <p:cNvSpPr txBox="1"/>
          <p:nvPr/>
        </p:nvSpPr>
        <p:spPr>
          <a:xfrm>
            <a:off x="6611112" y="2834640"/>
            <a:ext cx="1783080" cy="640080"/>
          </a:xfrm>
          <a:prstGeom prst="rect">
            <a:avLst/>
          </a:prstGeom>
          <a:noFill/>
        </p:spPr>
        <p:txBody>
          <a:bodyPr wrap="square" anchor="t" lIns="0" rIns="0" tIns="0" bIns="0">
            <a:spAutoFit/>
          </a:bodyPr>
          <a:lstStyle/>
          <a:p>
            <a:pPr algn="l"/>
            <a:r>
              <a:rPr sz="1700" b="1">
                <a:solidFill>
                  <a:srgbClr val="1D2125"/>
                </a:solidFill>
                <a:latin typeface="Arial"/>
              </a:rPr>
              <a:t>Compare six models</a:t>
            </a:r>
          </a:p>
        </p:txBody>
      </p:sp>
      <p:sp>
        <p:nvSpPr>
          <p:cNvPr id="20" name="TextBox 19"/>
          <p:cNvSpPr txBox="1"/>
          <p:nvPr/>
        </p:nvSpPr>
        <p:spPr>
          <a:xfrm>
            <a:off x="6611112" y="3520440"/>
            <a:ext cx="1783080" cy="1188720"/>
          </a:xfrm>
          <a:prstGeom prst="rect">
            <a:avLst/>
          </a:prstGeom>
          <a:noFill/>
        </p:spPr>
        <p:txBody>
          <a:bodyPr wrap="square" anchor="t" lIns="0" rIns="0" tIns="0" bIns="0">
            <a:spAutoFit/>
          </a:bodyPr>
          <a:lstStyle/>
          <a:p>
            <a:pPr algn="l"/>
            <a:r>
              <a:rPr sz="1300" b="0">
                <a:solidFill>
                  <a:srgbClr val="5F6368"/>
                </a:solidFill>
                <a:latin typeface="Arial"/>
              </a:rPr>
              <a:t>Each one tuned and tested the same way. The best one wins.</a:t>
            </a:r>
          </a:p>
        </p:txBody>
      </p:sp>
      <p:sp>
        <p:nvSpPr>
          <p:cNvPr id="21" name="Right Arrow 20"/>
          <p:cNvSpPr/>
          <p:nvPr/>
        </p:nvSpPr>
        <p:spPr>
          <a:xfrm>
            <a:off x="8705088" y="3310128"/>
            <a:ext cx="329184" cy="274320"/>
          </a:xfrm>
          <a:prstGeom prst="rightArrow">
            <a:avLst/>
          </a:prstGeom>
          <a:solidFill>
            <a:srgbClr val="2F5F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9125712" y="2084831"/>
            <a:ext cx="2258568" cy="2743200"/>
          </a:xfrm>
          <a:prstGeom prst="roundRect">
            <a:avLst>
              <a:gd name="adj" fmla="val 5000"/>
            </a:avLst>
          </a:prstGeom>
          <a:solidFill>
            <a:srgbClr val="FAF9F6"/>
          </a:solidFill>
          <a:ln w="9525">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381744" y="2340864"/>
            <a:ext cx="1737360" cy="411480"/>
          </a:xfrm>
          <a:prstGeom prst="rect">
            <a:avLst/>
          </a:prstGeom>
          <a:noFill/>
        </p:spPr>
        <p:txBody>
          <a:bodyPr wrap="square" anchor="t" lIns="0" rIns="0" tIns="0" bIns="0">
            <a:spAutoFit/>
          </a:bodyPr>
          <a:lstStyle/>
          <a:p>
            <a:pPr algn="l"/>
            <a:r>
              <a:rPr sz="2200" b="0">
                <a:solidFill>
                  <a:srgbClr val="2F5F9E"/>
                </a:solidFill>
                <a:latin typeface="Courier New"/>
              </a:rPr>
              <a:t>04</a:t>
            </a:r>
          </a:p>
        </p:txBody>
      </p:sp>
      <p:sp>
        <p:nvSpPr>
          <p:cNvPr id="24" name="TextBox 23"/>
          <p:cNvSpPr txBox="1"/>
          <p:nvPr/>
        </p:nvSpPr>
        <p:spPr>
          <a:xfrm>
            <a:off x="9381744" y="2834640"/>
            <a:ext cx="1783080" cy="640080"/>
          </a:xfrm>
          <a:prstGeom prst="rect">
            <a:avLst/>
          </a:prstGeom>
          <a:noFill/>
        </p:spPr>
        <p:txBody>
          <a:bodyPr wrap="square" anchor="t" lIns="0" rIns="0" tIns="0" bIns="0">
            <a:spAutoFit/>
          </a:bodyPr>
          <a:lstStyle/>
          <a:p>
            <a:pPr algn="l"/>
            <a:r>
              <a:rPr sz="1700" b="1">
                <a:solidFill>
                  <a:srgbClr val="1D2125"/>
                </a:solidFill>
                <a:latin typeface="Arial"/>
              </a:rPr>
              <a:t>Serve it in an app</a:t>
            </a:r>
          </a:p>
        </p:txBody>
      </p:sp>
      <p:sp>
        <p:nvSpPr>
          <p:cNvPr id="25" name="TextBox 24"/>
          <p:cNvSpPr txBox="1"/>
          <p:nvPr/>
        </p:nvSpPr>
        <p:spPr>
          <a:xfrm>
            <a:off x="9381744" y="3520440"/>
            <a:ext cx="1783080" cy="1188720"/>
          </a:xfrm>
          <a:prstGeom prst="rect">
            <a:avLst/>
          </a:prstGeom>
          <a:noFill/>
        </p:spPr>
        <p:txBody>
          <a:bodyPr wrap="square" anchor="t" lIns="0" rIns="0" tIns="0" bIns="0">
            <a:spAutoFit/>
          </a:bodyPr>
          <a:lstStyle/>
          <a:p>
            <a:pPr algn="l"/>
            <a:r>
              <a:rPr sz="1300" b="0">
                <a:solidFill>
                  <a:srgbClr val="5F6368"/>
                </a:solidFill>
                <a:latin typeface="Arial"/>
              </a:rPr>
              <a:t>A web dashboard and API give predictions on demand.</a:t>
            </a:r>
          </a:p>
        </p:txBody>
      </p:sp>
      <p:sp>
        <p:nvSpPr>
          <p:cNvPr id="26" name="TextBox 25"/>
          <p:cNvSpPr txBox="1"/>
          <p:nvPr/>
        </p:nvSpPr>
        <p:spPr>
          <a:xfrm>
            <a:off x="813816" y="5120640"/>
            <a:ext cx="10881360" cy="320040"/>
          </a:xfrm>
          <a:prstGeom prst="rect">
            <a:avLst/>
          </a:prstGeom>
          <a:noFill/>
        </p:spPr>
        <p:txBody>
          <a:bodyPr wrap="square" anchor="t" lIns="0" rIns="0" tIns="0" bIns="0">
            <a:spAutoFit/>
          </a:bodyPr>
          <a:lstStyle/>
          <a:p>
            <a:pPr algn="l"/>
            <a:r>
              <a:rPr sz="1500" b="0">
                <a:solidFill>
                  <a:srgbClr val="5F6368"/>
                </a:solidFill>
                <a:latin typeface="Arial"/>
              </a:rPr>
              <a:t>Behind the scenes, </a:t>
            </a:r>
            <a:r>
              <a:rPr sz="1500" b="1">
                <a:solidFill>
                  <a:srgbClr val="1D2125"/>
                </a:solidFill>
                <a:latin typeface="Arial"/>
              </a:rPr>
              <a:t>Gradient Boosting</a:t>
            </a:r>
            <a:r>
              <a:rPr sz="1500" b="0">
                <a:solidFill>
                  <a:srgbClr val="5F6368"/>
                </a:solidFill>
                <a:latin typeface="Arial"/>
              </a:rPr>
              <a:t> builds many small decision trees, each one fixing the mistakes of the last.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gradFill rotWithShape="1">
          <a:gsLst>
            <a:gs pos="0">
              <a:srgbClr val="E4EDF7"/>
            </a:gs>
            <a:gs pos="100000">
              <a:srgbClr val="F8EBDD"/>
            </a:gs>
          </a:gsLst>
          <a:lin scaled="0" ang="2700000"/>
        </a:gradFill>
        <a:effectLst/>
      </p:bgPr>
    </p:bg>
    <p:spTree>
      <p:nvGrpSpPr>
        <p:cNvPr id="1" name=""/>
        <p:cNvGrpSpPr/>
        <p:nvPr/>
      </p:nvGrpSpPr>
      <p:grpSpPr/>
      <p:sp>
        <p:nvSpPr>
          <p:cNvPr id="2" name="Rectangle 1"/>
          <p:cNvSpPr/>
          <p:nvPr/>
        </p:nvSpPr>
        <p:spPr>
          <a:xfrm>
            <a:off x="0" y="0"/>
            <a:ext cx="12191695" cy="91440"/>
          </a:xfrm>
          <a:prstGeom prst="rect">
            <a:avLst/>
          </a:prstGeom>
          <a:gradFill rotWithShape="1">
            <a:gsLst>
              <a:gs pos="0">
                <a:srgbClr val="2F5F9E"/>
              </a:gs>
              <a:gs pos="100000">
                <a:srgbClr val="E08A3C"/>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13816" y="813816"/>
            <a:ext cx="10881360" cy="274320"/>
          </a:xfrm>
          <a:prstGeom prst="rect">
            <a:avLst/>
          </a:prstGeom>
          <a:noFill/>
        </p:spPr>
        <p:txBody>
          <a:bodyPr wrap="square" anchor="t" lIns="0" rIns="0" tIns="0" bIns="0">
            <a:spAutoFit/>
          </a:bodyPr>
          <a:lstStyle/>
          <a:p>
            <a:pPr algn="l"/>
            <a:r>
              <a:rPr sz="1100" b="0" spc="300">
                <a:solidFill>
                  <a:srgbClr val="B5541C"/>
                </a:solidFill>
                <a:latin typeface="Courier New"/>
              </a:rPr>
              <a:t>WHAT THE DATA TOLD US</a:t>
            </a:r>
          </a:p>
        </p:txBody>
      </p:sp>
      <p:sp>
        <p:nvSpPr>
          <p:cNvPr id="4" name="TextBox 3"/>
          <p:cNvSpPr txBox="1"/>
          <p:nvPr/>
        </p:nvSpPr>
        <p:spPr>
          <a:xfrm>
            <a:off x="813816" y="1243584"/>
            <a:ext cx="10881360" cy="640080"/>
          </a:xfrm>
          <a:prstGeom prst="rect">
            <a:avLst/>
          </a:prstGeom>
          <a:noFill/>
        </p:spPr>
        <p:txBody>
          <a:bodyPr wrap="square" anchor="t" lIns="0" rIns="0" tIns="0" bIns="0">
            <a:spAutoFit/>
          </a:bodyPr>
          <a:lstStyle/>
          <a:p>
            <a:pPr algn="l"/>
            <a:r>
              <a:rPr sz="3400" b="1">
                <a:solidFill>
                  <a:srgbClr val="1D2125"/>
                </a:solidFill>
                <a:latin typeface="Arial"/>
              </a:rPr>
              <a:t>When and how you call matters most</a:t>
            </a:r>
          </a:p>
        </p:txBody>
      </p:sp>
      <p:sp>
        <p:nvSpPr>
          <p:cNvPr id="5" name="TextBox 4"/>
          <p:cNvSpPr txBox="1"/>
          <p:nvPr/>
        </p:nvSpPr>
        <p:spPr>
          <a:xfrm>
            <a:off x="813816" y="6236208"/>
            <a:ext cx="9144000" cy="274320"/>
          </a:xfrm>
          <a:prstGeom prst="rect">
            <a:avLst/>
          </a:prstGeom>
          <a:noFill/>
        </p:spPr>
        <p:txBody>
          <a:bodyPr wrap="square" anchor="t" lIns="0" rIns="0" tIns="0" bIns="0">
            <a:spAutoFit/>
          </a:bodyPr>
          <a:lstStyle/>
          <a:p>
            <a:pPr algn="l"/>
            <a:r>
              <a:rPr sz="1100" b="0">
                <a:solidFill>
                  <a:srgbClr val="5F6368"/>
                </a:solidFill>
                <a:latin typeface="Arial"/>
              </a:rPr>
              <a:t>Term Deposit Predictor  ·  Data Miners</a:t>
            </a:r>
          </a:p>
        </p:txBody>
      </p:sp>
      <p:sp>
        <p:nvSpPr>
          <p:cNvPr id="6" name="TextBox 5"/>
          <p:cNvSpPr txBox="1"/>
          <p:nvPr/>
        </p:nvSpPr>
        <p:spPr>
          <a:xfrm>
            <a:off x="10469880" y="6236208"/>
            <a:ext cx="914400" cy="274320"/>
          </a:xfrm>
          <a:prstGeom prst="rect">
            <a:avLst/>
          </a:prstGeom>
          <a:noFill/>
        </p:spPr>
        <p:txBody>
          <a:bodyPr wrap="square" anchor="t" lIns="0" rIns="0" tIns="0" bIns="0">
            <a:spAutoFit/>
          </a:bodyPr>
          <a:lstStyle/>
          <a:p>
            <a:pPr algn="r"/>
            <a:r>
              <a:rPr sz="1100" b="0">
                <a:solidFill>
                  <a:srgbClr val="5F6368"/>
                </a:solidFill>
                <a:latin typeface="Arial"/>
              </a:rPr>
              <a:t>06</a:t>
            </a:r>
          </a:p>
        </p:txBody>
      </p:sp>
      <p:sp>
        <p:nvSpPr>
          <p:cNvPr id="7" name="TextBox 6"/>
          <p:cNvSpPr txBox="1"/>
          <p:nvPr/>
        </p:nvSpPr>
        <p:spPr>
          <a:xfrm>
            <a:off x="813816" y="2011680"/>
            <a:ext cx="2743200" cy="274320"/>
          </a:xfrm>
          <a:prstGeom prst="rect">
            <a:avLst/>
          </a:prstGeom>
          <a:noFill/>
        </p:spPr>
        <p:txBody>
          <a:bodyPr wrap="square" anchor="ctr" lIns="0" rIns="0" tIns="0" bIns="0">
            <a:spAutoFit/>
          </a:bodyPr>
          <a:lstStyle/>
          <a:p>
            <a:pPr algn="l"/>
            <a:r>
              <a:rPr sz="1300" b="0">
                <a:solidFill>
                  <a:srgbClr val="22262B"/>
                </a:solidFill>
                <a:latin typeface="Arial"/>
              </a:rPr>
              <a:t>Said yes in the last campaign</a:t>
            </a:r>
          </a:p>
        </p:txBody>
      </p:sp>
      <p:sp>
        <p:nvSpPr>
          <p:cNvPr id="8" name="Rectangle 7"/>
          <p:cNvSpPr/>
          <p:nvPr/>
        </p:nvSpPr>
        <p:spPr>
          <a:xfrm>
            <a:off x="3657600" y="2039112"/>
            <a:ext cx="3931920" cy="237744"/>
          </a:xfrm>
          <a:prstGeom prst="rect">
            <a:avLst/>
          </a:prstGeom>
          <a:solidFill>
            <a:srgbClr val="2F5F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662672" y="2011680"/>
            <a:ext cx="822960" cy="274320"/>
          </a:xfrm>
          <a:prstGeom prst="rect">
            <a:avLst/>
          </a:prstGeom>
          <a:noFill/>
        </p:spPr>
        <p:txBody>
          <a:bodyPr wrap="square" anchor="ctr" lIns="0" rIns="0" tIns="0" bIns="0">
            <a:spAutoFit/>
          </a:bodyPr>
          <a:lstStyle/>
          <a:p>
            <a:pPr algn="l"/>
            <a:r>
              <a:rPr sz="1200" b="1">
                <a:solidFill>
                  <a:srgbClr val="22262B"/>
                </a:solidFill>
                <a:latin typeface="Arial"/>
              </a:rPr>
              <a:t>64.7%</a:t>
            </a:r>
          </a:p>
        </p:txBody>
      </p:sp>
      <p:sp>
        <p:nvSpPr>
          <p:cNvPr id="10" name="TextBox 9"/>
          <p:cNvSpPr txBox="1"/>
          <p:nvPr/>
        </p:nvSpPr>
        <p:spPr>
          <a:xfrm>
            <a:off x="813816" y="2432304"/>
            <a:ext cx="2743200" cy="274320"/>
          </a:xfrm>
          <a:prstGeom prst="rect">
            <a:avLst/>
          </a:prstGeom>
          <a:noFill/>
        </p:spPr>
        <p:txBody>
          <a:bodyPr wrap="square" anchor="ctr" lIns="0" rIns="0" tIns="0" bIns="0">
            <a:spAutoFit/>
          </a:bodyPr>
          <a:lstStyle/>
          <a:p>
            <a:pPr algn="l"/>
            <a:r>
              <a:rPr sz="1300" b="0">
                <a:solidFill>
                  <a:srgbClr val="22262B"/>
                </a:solidFill>
                <a:latin typeface="Arial"/>
              </a:rPr>
              <a:t>Called in March</a:t>
            </a:r>
          </a:p>
        </p:txBody>
      </p:sp>
      <p:sp>
        <p:nvSpPr>
          <p:cNvPr id="11" name="Rectangle 10"/>
          <p:cNvSpPr/>
          <p:nvPr/>
        </p:nvSpPr>
        <p:spPr>
          <a:xfrm>
            <a:off x="3657600" y="2459736"/>
            <a:ext cx="3158049" cy="237744"/>
          </a:xfrm>
          <a:prstGeom prst="rect">
            <a:avLst/>
          </a:prstGeom>
          <a:solidFill>
            <a:srgbClr val="2F5F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88801" y="2432304"/>
            <a:ext cx="822960" cy="274320"/>
          </a:xfrm>
          <a:prstGeom prst="rect">
            <a:avLst/>
          </a:prstGeom>
          <a:noFill/>
        </p:spPr>
        <p:txBody>
          <a:bodyPr wrap="square" anchor="ctr" lIns="0" rIns="0" tIns="0" bIns="0">
            <a:spAutoFit/>
          </a:bodyPr>
          <a:lstStyle/>
          <a:p>
            <a:pPr algn="l"/>
            <a:r>
              <a:rPr sz="1200" b="1">
                <a:solidFill>
                  <a:srgbClr val="22262B"/>
                </a:solidFill>
                <a:latin typeface="Arial"/>
              </a:rPr>
              <a:t>52.0%</a:t>
            </a:r>
          </a:p>
        </p:txBody>
      </p:sp>
      <p:sp>
        <p:nvSpPr>
          <p:cNvPr id="13" name="TextBox 12"/>
          <p:cNvSpPr txBox="1"/>
          <p:nvPr/>
        </p:nvSpPr>
        <p:spPr>
          <a:xfrm>
            <a:off x="813816" y="2852928"/>
            <a:ext cx="2743200" cy="274320"/>
          </a:xfrm>
          <a:prstGeom prst="rect">
            <a:avLst/>
          </a:prstGeom>
          <a:noFill/>
        </p:spPr>
        <p:txBody>
          <a:bodyPr wrap="square" anchor="ctr" lIns="0" rIns="0" tIns="0" bIns="0">
            <a:spAutoFit/>
          </a:bodyPr>
          <a:lstStyle/>
          <a:p>
            <a:pPr algn="l"/>
            <a:r>
              <a:rPr sz="1300" b="0">
                <a:solidFill>
                  <a:srgbClr val="22262B"/>
                </a:solidFill>
                <a:latin typeface="Arial"/>
              </a:rPr>
              <a:t>Called in September</a:t>
            </a:r>
          </a:p>
        </p:txBody>
      </p:sp>
      <p:sp>
        <p:nvSpPr>
          <p:cNvPr id="14" name="Rectangle 13"/>
          <p:cNvSpPr/>
          <p:nvPr/>
        </p:nvSpPr>
        <p:spPr>
          <a:xfrm>
            <a:off x="3657600" y="2880360"/>
            <a:ext cx="2822138" cy="237744"/>
          </a:xfrm>
          <a:prstGeom prst="rect">
            <a:avLst/>
          </a:prstGeom>
          <a:solidFill>
            <a:srgbClr val="2F5F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552890" y="2852928"/>
            <a:ext cx="822960" cy="274320"/>
          </a:xfrm>
          <a:prstGeom prst="rect">
            <a:avLst/>
          </a:prstGeom>
          <a:noFill/>
        </p:spPr>
        <p:txBody>
          <a:bodyPr wrap="square" anchor="ctr" lIns="0" rIns="0" tIns="0" bIns="0">
            <a:spAutoFit/>
          </a:bodyPr>
          <a:lstStyle/>
          <a:p>
            <a:pPr algn="l"/>
            <a:r>
              <a:rPr sz="1200" b="1">
                <a:solidFill>
                  <a:srgbClr val="22262B"/>
                </a:solidFill>
                <a:latin typeface="Arial"/>
              </a:rPr>
              <a:t>46.5%</a:t>
            </a:r>
          </a:p>
        </p:txBody>
      </p:sp>
      <p:sp>
        <p:nvSpPr>
          <p:cNvPr id="16" name="TextBox 15"/>
          <p:cNvSpPr txBox="1"/>
          <p:nvPr/>
        </p:nvSpPr>
        <p:spPr>
          <a:xfrm>
            <a:off x="813816" y="3273552"/>
            <a:ext cx="2743200" cy="274320"/>
          </a:xfrm>
          <a:prstGeom prst="rect">
            <a:avLst/>
          </a:prstGeom>
          <a:noFill/>
        </p:spPr>
        <p:txBody>
          <a:bodyPr wrap="square" anchor="ctr" lIns="0" rIns="0" tIns="0" bIns="0">
            <a:spAutoFit/>
          </a:bodyPr>
          <a:lstStyle/>
          <a:p>
            <a:pPr algn="l"/>
            <a:r>
              <a:rPr sz="1300" b="0">
                <a:solidFill>
                  <a:srgbClr val="22262B"/>
                </a:solidFill>
                <a:latin typeface="Arial"/>
              </a:rPr>
              <a:t>Aged over 65</a:t>
            </a:r>
          </a:p>
        </p:txBody>
      </p:sp>
      <p:sp>
        <p:nvSpPr>
          <p:cNvPr id="17" name="Rectangle 16"/>
          <p:cNvSpPr/>
          <p:nvPr/>
        </p:nvSpPr>
        <p:spPr>
          <a:xfrm>
            <a:off x="3657600" y="3300984"/>
            <a:ext cx="2588276" cy="237744"/>
          </a:xfrm>
          <a:prstGeom prst="rect">
            <a:avLst/>
          </a:prstGeom>
          <a:solidFill>
            <a:srgbClr val="2F5F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319028" y="3273552"/>
            <a:ext cx="822960" cy="274320"/>
          </a:xfrm>
          <a:prstGeom prst="rect">
            <a:avLst/>
          </a:prstGeom>
          <a:noFill/>
        </p:spPr>
        <p:txBody>
          <a:bodyPr wrap="square" anchor="ctr" lIns="0" rIns="0" tIns="0" bIns="0">
            <a:spAutoFit/>
          </a:bodyPr>
          <a:lstStyle/>
          <a:p>
            <a:pPr algn="l"/>
            <a:r>
              <a:rPr sz="1200" b="1">
                <a:solidFill>
                  <a:srgbClr val="22262B"/>
                </a:solidFill>
                <a:latin typeface="Arial"/>
              </a:rPr>
              <a:t>42.6%</a:t>
            </a:r>
          </a:p>
        </p:txBody>
      </p:sp>
      <p:sp>
        <p:nvSpPr>
          <p:cNvPr id="19" name="TextBox 18"/>
          <p:cNvSpPr txBox="1"/>
          <p:nvPr/>
        </p:nvSpPr>
        <p:spPr>
          <a:xfrm>
            <a:off x="813816" y="3694176"/>
            <a:ext cx="2743200" cy="274320"/>
          </a:xfrm>
          <a:prstGeom prst="rect">
            <a:avLst/>
          </a:prstGeom>
          <a:noFill/>
        </p:spPr>
        <p:txBody>
          <a:bodyPr wrap="square" anchor="ctr" lIns="0" rIns="0" tIns="0" bIns="0">
            <a:spAutoFit/>
          </a:bodyPr>
          <a:lstStyle/>
          <a:p>
            <a:pPr algn="l"/>
            <a:r>
              <a:rPr sz="1300" b="0">
                <a:solidFill>
                  <a:srgbClr val="22262B"/>
                </a:solidFill>
                <a:latin typeface="Arial"/>
              </a:rPr>
              <a:t>Students</a:t>
            </a:r>
          </a:p>
        </p:txBody>
      </p:sp>
      <p:sp>
        <p:nvSpPr>
          <p:cNvPr id="20" name="Rectangle 19"/>
          <p:cNvSpPr/>
          <p:nvPr/>
        </p:nvSpPr>
        <p:spPr>
          <a:xfrm>
            <a:off x="3657600" y="3721608"/>
            <a:ext cx="1742120" cy="237744"/>
          </a:xfrm>
          <a:prstGeom prst="rect">
            <a:avLst/>
          </a:prstGeom>
          <a:solidFill>
            <a:srgbClr val="2F5F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472872" y="3694176"/>
            <a:ext cx="822960" cy="274320"/>
          </a:xfrm>
          <a:prstGeom prst="rect">
            <a:avLst/>
          </a:prstGeom>
          <a:noFill/>
        </p:spPr>
        <p:txBody>
          <a:bodyPr wrap="square" anchor="ctr" lIns="0" rIns="0" tIns="0" bIns="0">
            <a:spAutoFit/>
          </a:bodyPr>
          <a:lstStyle/>
          <a:p>
            <a:pPr algn="l"/>
            <a:r>
              <a:rPr sz="1200" b="1">
                <a:solidFill>
                  <a:srgbClr val="22262B"/>
                </a:solidFill>
                <a:latin typeface="Arial"/>
              </a:rPr>
              <a:t>28.7%</a:t>
            </a:r>
          </a:p>
        </p:txBody>
      </p:sp>
      <p:sp>
        <p:nvSpPr>
          <p:cNvPr id="22" name="TextBox 21"/>
          <p:cNvSpPr txBox="1"/>
          <p:nvPr/>
        </p:nvSpPr>
        <p:spPr>
          <a:xfrm>
            <a:off x="813816" y="4114800"/>
            <a:ext cx="2743200" cy="274320"/>
          </a:xfrm>
          <a:prstGeom prst="rect">
            <a:avLst/>
          </a:prstGeom>
          <a:noFill/>
        </p:spPr>
        <p:txBody>
          <a:bodyPr wrap="square" anchor="ctr" lIns="0" rIns="0" tIns="0" bIns="0">
            <a:spAutoFit/>
          </a:bodyPr>
          <a:lstStyle/>
          <a:p>
            <a:pPr algn="l"/>
            <a:r>
              <a:rPr sz="1300" b="0">
                <a:solidFill>
                  <a:srgbClr val="22262B"/>
                </a:solidFill>
                <a:latin typeface="Arial"/>
              </a:rPr>
              <a:t>Called on a mobile</a:t>
            </a:r>
          </a:p>
        </p:txBody>
      </p:sp>
      <p:sp>
        <p:nvSpPr>
          <p:cNvPr id="23" name="Rectangle 22"/>
          <p:cNvSpPr/>
          <p:nvPr/>
        </p:nvSpPr>
        <p:spPr>
          <a:xfrm>
            <a:off x="3657600" y="4142232"/>
            <a:ext cx="906291" cy="237744"/>
          </a:xfrm>
          <a:prstGeom prst="rect">
            <a:avLst/>
          </a:prstGeom>
          <a:solidFill>
            <a:srgbClr val="2F5F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637043" y="4114800"/>
            <a:ext cx="822960" cy="274320"/>
          </a:xfrm>
          <a:prstGeom prst="rect">
            <a:avLst/>
          </a:prstGeom>
          <a:noFill/>
        </p:spPr>
        <p:txBody>
          <a:bodyPr wrap="square" anchor="ctr" lIns="0" rIns="0" tIns="0" bIns="0">
            <a:spAutoFit/>
          </a:bodyPr>
          <a:lstStyle/>
          <a:p>
            <a:pPr algn="l"/>
            <a:r>
              <a:rPr sz="1200" b="1">
                <a:solidFill>
                  <a:srgbClr val="22262B"/>
                </a:solidFill>
                <a:latin typeface="Arial"/>
              </a:rPr>
              <a:t>14.9%</a:t>
            </a:r>
          </a:p>
        </p:txBody>
      </p:sp>
      <p:sp>
        <p:nvSpPr>
          <p:cNvPr id="25" name="TextBox 24"/>
          <p:cNvSpPr txBox="1"/>
          <p:nvPr/>
        </p:nvSpPr>
        <p:spPr>
          <a:xfrm>
            <a:off x="813816" y="4535424"/>
            <a:ext cx="2743200" cy="274320"/>
          </a:xfrm>
          <a:prstGeom prst="rect">
            <a:avLst/>
          </a:prstGeom>
          <a:noFill/>
        </p:spPr>
        <p:txBody>
          <a:bodyPr wrap="square" anchor="ctr" lIns="0" rIns="0" tIns="0" bIns="0">
            <a:spAutoFit/>
          </a:bodyPr>
          <a:lstStyle/>
          <a:p>
            <a:pPr algn="l"/>
            <a:r>
              <a:rPr sz="1300" b="0">
                <a:solidFill>
                  <a:srgbClr val="22262B"/>
                </a:solidFill>
                <a:latin typeface="Arial"/>
              </a:rPr>
              <a:t>Called in May</a:t>
            </a:r>
          </a:p>
        </p:txBody>
      </p:sp>
      <p:sp>
        <p:nvSpPr>
          <p:cNvPr id="26" name="Rectangle 25"/>
          <p:cNvSpPr/>
          <p:nvPr/>
        </p:nvSpPr>
        <p:spPr>
          <a:xfrm>
            <a:off x="3657600" y="4562856"/>
            <a:ext cx="408195" cy="237744"/>
          </a:xfrm>
          <a:prstGeom prst="rect">
            <a:avLst/>
          </a:prstGeom>
          <a:solidFill>
            <a:srgbClr val="B554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138947" y="4535424"/>
            <a:ext cx="822960" cy="274320"/>
          </a:xfrm>
          <a:prstGeom prst="rect">
            <a:avLst/>
          </a:prstGeom>
          <a:noFill/>
        </p:spPr>
        <p:txBody>
          <a:bodyPr wrap="square" anchor="ctr" lIns="0" rIns="0" tIns="0" bIns="0">
            <a:spAutoFit/>
          </a:bodyPr>
          <a:lstStyle/>
          <a:p>
            <a:pPr algn="l"/>
            <a:r>
              <a:rPr sz="1200" b="1">
                <a:solidFill>
                  <a:srgbClr val="22262B"/>
                </a:solidFill>
                <a:latin typeface="Arial"/>
              </a:rPr>
              <a:t>6.7%</a:t>
            </a:r>
          </a:p>
        </p:txBody>
      </p:sp>
      <p:sp>
        <p:nvSpPr>
          <p:cNvPr id="28" name="TextBox 27"/>
          <p:cNvSpPr txBox="1"/>
          <p:nvPr/>
        </p:nvSpPr>
        <p:spPr>
          <a:xfrm>
            <a:off x="813816" y="4956048"/>
            <a:ext cx="2743200" cy="274320"/>
          </a:xfrm>
          <a:prstGeom prst="rect">
            <a:avLst/>
          </a:prstGeom>
          <a:noFill/>
        </p:spPr>
        <p:txBody>
          <a:bodyPr wrap="square" anchor="ctr" lIns="0" rIns="0" tIns="0" bIns="0">
            <a:spAutoFit/>
          </a:bodyPr>
          <a:lstStyle/>
          <a:p>
            <a:pPr algn="l"/>
            <a:r>
              <a:rPr sz="1300" b="0">
                <a:solidFill>
                  <a:srgbClr val="22262B"/>
                </a:solidFill>
                <a:latin typeface="Arial"/>
              </a:rPr>
              <a:t>Called 10+ times</a:t>
            </a:r>
          </a:p>
        </p:txBody>
      </p:sp>
      <p:sp>
        <p:nvSpPr>
          <p:cNvPr id="29" name="Rectangle 28"/>
          <p:cNvSpPr/>
          <p:nvPr/>
        </p:nvSpPr>
        <p:spPr>
          <a:xfrm>
            <a:off x="3657600" y="4983480"/>
            <a:ext cx="253299" cy="237744"/>
          </a:xfrm>
          <a:prstGeom prst="rect">
            <a:avLst/>
          </a:prstGeom>
          <a:solidFill>
            <a:srgbClr val="B554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3984051" y="4956048"/>
            <a:ext cx="822960" cy="274320"/>
          </a:xfrm>
          <a:prstGeom prst="rect">
            <a:avLst/>
          </a:prstGeom>
          <a:noFill/>
        </p:spPr>
        <p:txBody>
          <a:bodyPr wrap="square" anchor="ctr" lIns="0" rIns="0" tIns="0" bIns="0">
            <a:spAutoFit/>
          </a:bodyPr>
          <a:lstStyle/>
          <a:p>
            <a:pPr algn="l"/>
            <a:r>
              <a:rPr sz="1200" b="1">
                <a:solidFill>
                  <a:srgbClr val="22262B"/>
                </a:solidFill>
                <a:latin typeface="Arial"/>
              </a:rPr>
              <a:t>4.2%</a:t>
            </a:r>
          </a:p>
        </p:txBody>
      </p:sp>
      <p:sp>
        <p:nvSpPr>
          <p:cNvPr id="31" name="TextBox 30"/>
          <p:cNvSpPr txBox="1"/>
          <p:nvPr/>
        </p:nvSpPr>
        <p:spPr>
          <a:xfrm>
            <a:off x="813816" y="5376672"/>
            <a:ext cx="2743200" cy="274320"/>
          </a:xfrm>
          <a:prstGeom prst="rect">
            <a:avLst/>
          </a:prstGeom>
          <a:noFill/>
        </p:spPr>
        <p:txBody>
          <a:bodyPr wrap="square" anchor="ctr" lIns="0" rIns="0" tIns="0" bIns="0">
            <a:spAutoFit/>
          </a:bodyPr>
          <a:lstStyle/>
          <a:p>
            <a:pPr algn="l"/>
            <a:r>
              <a:rPr sz="1300" b="0">
                <a:solidFill>
                  <a:srgbClr val="22262B"/>
                </a:solidFill>
                <a:latin typeface="Arial"/>
              </a:rPr>
              <a:t>Contact channel unknown</a:t>
            </a:r>
          </a:p>
        </p:txBody>
      </p:sp>
      <p:sp>
        <p:nvSpPr>
          <p:cNvPr id="32" name="Rectangle 31"/>
          <p:cNvSpPr/>
          <p:nvPr/>
        </p:nvSpPr>
        <p:spPr>
          <a:xfrm>
            <a:off x="3657600" y="5404104"/>
            <a:ext cx="247225" cy="237744"/>
          </a:xfrm>
          <a:prstGeom prst="rect">
            <a:avLst/>
          </a:prstGeom>
          <a:solidFill>
            <a:srgbClr val="B554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3977977" y="5376672"/>
            <a:ext cx="822960" cy="274320"/>
          </a:xfrm>
          <a:prstGeom prst="rect">
            <a:avLst/>
          </a:prstGeom>
          <a:noFill/>
        </p:spPr>
        <p:txBody>
          <a:bodyPr wrap="square" anchor="ctr" lIns="0" rIns="0" tIns="0" bIns="0">
            <a:spAutoFit/>
          </a:bodyPr>
          <a:lstStyle/>
          <a:p>
            <a:pPr algn="l"/>
            <a:r>
              <a:rPr sz="1200" b="1">
                <a:solidFill>
                  <a:srgbClr val="22262B"/>
                </a:solidFill>
                <a:latin typeface="Arial"/>
              </a:rPr>
              <a:t>4.1%</a:t>
            </a:r>
          </a:p>
        </p:txBody>
      </p:sp>
      <p:cxnSp>
        <p:nvCxnSpPr>
          <p:cNvPr id="34" name="Connector 33"/>
          <p:cNvCxnSpPr/>
          <p:nvPr/>
        </p:nvCxnSpPr>
        <p:spPr>
          <a:xfrm>
            <a:off x="4368297" y="1920240"/>
            <a:ext cx="0" cy="3877056"/>
          </a:xfrm>
          <a:prstGeom prst="line">
            <a:avLst/>
          </a:prstGeom>
          <a:ln w="12700">
            <a:solidFill>
              <a:srgbClr val="1D2125"/>
            </a:solidFill>
            <a:prstDash val="dash"/>
          </a:ln>
        </p:spPr>
        <p:style>
          <a:lnRef idx="2">
            <a:schemeClr val="accent1"/>
          </a:lnRef>
          <a:fillRef idx="0">
            <a:schemeClr val="accent1"/>
          </a:fillRef>
          <a:effectRef idx="1">
            <a:schemeClr val="accent1"/>
          </a:effectRef>
          <a:fontRef idx="minor">
            <a:schemeClr val="tx1"/>
          </a:fontRef>
        </p:style>
      </p:cxnSp>
      <p:sp>
        <p:nvSpPr>
          <p:cNvPr id="35" name="TextBox 34"/>
          <p:cNvSpPr txBox="1"/>
          <p:nvPr/>
        </p:nvSpPr>
        <p:spPr>
          <a:xfrm>
            <a:off x="3819657" y="5815584"/>
            <a:ext cx="1463040" cy="228600"/>
          </a:xfrm>
          <a:prstGeom prst="rect">
            <a:avLst/>
          </a:prstGeom>
          <a:noFill/>
        </p:spPr>
        <p:txBody>
          <a:bodyPr wrap="square" anchor="t" lIns="0" rIns="0" tIns="0" bIns="0">
            <a:spAutoFit/>
          </a:bodyPr>
          <a:lstStyle/>
          <a:p>
            <a:pPr algn="ctr"/>
            <a:r>
              <a:rPr sz="1100" b="0">
                <a:solidFill>
                  <a:srgbClr val="5F6368"/>
                </a:solidFill>
                <a:latin typeface="Arial"/>
              </a:rPr>
              <a:t>average 11.7%</a:t>
            </a:r>
          </a:p>
        </p:txBody>
      </p:sp>
      <p:sp>
        <p:nvSpPr>
          <p:cNvPr id="36" name="TextBox 35"/>
          <p:cNvSpPr txBox="1"/>
          <p:nvPr/>
        </p:nvSpPr>
        <p:spPr>
          <a:xfrm>
            <a:off x="8732520" y="2057400"/>
            <a:ext cx="2651760" cy="640080"/>
          </a:xfrm>
          <a:prstGeom prst="rect">
            <a:avLst/>
          </a:prstGeom>
          <a:noFill/>
        </p:spPr>
        <p:txBody>
          <a:bodyPr wrap="square" anchor="t" lIns="0" rIns="0" tIns="0" bIns="0">
            <a:spAutoFit/>
          </a:bodyPr>
          <a:lstStyle/>
          <a:p>
            <a:pPr algn="l"/>
            <a:r>
              <a:rPr sz="4000" b="1">
                <a:solidFill>
                  <a:srgbClr val="2F5F9E"/>
                </a:solidFill>
                <a:latin typeface="Arial"/>
              </a:rPr>
              <a:t>5.5×</a:t>
            </a:r>
          </a:p>
        </p:txBody>
      </p:sp>
      <p:sp>
        <p:nvSpPr>
          <p:cNvPr id="37" name="TextBox 36"/>
          <p:cNvSpPr txBox="1"/>
          <p:nvPr/>
        </p:nvSpPr>
        <p:spPr>
          <a:xfrm>
            <a:off x="8732520" y="2724912"/>
            <a:ext cx="2651760" cy="548640"/>
          </a:xfrm>
          <a:prstGeom prst="rect">
            <a:avLst/>
          </a:prstGeom>
          <a:noFill/>
        </p:spPr>
        <p:txBody>
          <a:bodyPr wrap="square" anchor="t" lIns="0" rIns="0" tIns="0" bIns="0">
            <a:spAutoFit/>
          </a:bodyPr>
          <a:lstStyle/>
          <a:p>
            <a:pPr algn="l"/>
            <a:r>
              <a:rPr sz="1300" b="0">
                <a:solidFill>
                  <a:srgbClr val="5F6368"/>
                </a:solidFill>
                <a:latin typeface="Arial"/>
              </a:rPr>
              <a:t>more likely to say yes if they said yes last time</a:t>
            </a:r>
          </a:p>
        </p:txBody>
      </p:sp>
      <p:sp>
        <p:nvSpPr>
          <p:cNvPr id="38" name="TextBox 37"/>
          <p:cNvSpPr txBox="1"/>
          <p:nvPr/>
        </p:nvSpPr>
        <p:spPr>
          <a:xfrm>
            <a:off x="8732520" y="3611880"/>
            <a:ext cx="2651760" cy="640080"/>
          </a:xfrm>
          <a:prstGeom prst="rect">
            <a:avLst/>
          </a:prstGeom>
          <a:noFill/>
        </p:spPr>
        <p:txBody>
          <a:bodyPr wrap="square" anchor="t" lIns="0" rIns="0" tIns="0" bIns="0">
            <a:spAutoFit/>
          </a:bodyPr>
          <a:lstStyle/>
          <a:p>
            <a:pPr algn="l"/>
            <a:r>
              <a:rPr sz="4000" b="1">
                <a:solidFill>
                  <a:srgbClr val="B5541C"/>
                </a:solidFill>
                <a:latin typeface="Arial"/>
              </a:rPr>
              <a:t>30%</a:t>
            </a:r>
          </a:p>
        </p:txBody>
      </p:sp>
      <p:sp>
        <p:nvSpPr>
          <p:cNvPr id="39" name="TextBox 38"/>
          <p:cNvSpPr txBox="1"/>
          <p:nvPr/>
        </p:nvSpPr>
        <p:spPr>
          <a:xfrm>
            <a:off x="8732520" y="4279392"/>
            <a:ext cx="2651760" cy="548640"/>
          </a:xfrm>
          <a:prstGeom prst="rect">
            <a:avLst/>
          </a:prstGeom>
          <a:noFill/>
        </p:spPr>
        <p:txBody>
          <a:bodyPr wrap="square" anchor="t" lIns="0" rIns="0" tIns="0" bIns="0">
            <a:spAutoFit/>
          </a:bodyPr>
          <a:lstStyle/>
          <a:p>
            <a:pPr algn="l"/>
            <a:r>
              <a:rPr sz="1300" b="0">
                <a:solidFill>
                  <a:srgbClr val="5F6368"/>
                </a:solidFill>
                <a:latin typeface="Arial"/>
              </a:rPr>
              <a:t>of all calls were made in May, when only 6.7% said yes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gradFill rotWithShape="1">
          <a:gsLst>
            <a:gs pos="0">
              <a:srgbClr val="0F1B33"/>
            </a:gs>
            <a:gs pos="100000">
              <a:srgbClr val="1F4E82"/>
            </a:gs>
          </a:gsLst>
          <a:lin scaled="0" ang="2700000"/>
        </a:gradFill>
        <a:effectLst/>
      </p:bgPr>
    </p:bg>
    <p:spTree>
      <p:nvGrpSpPr>
        <p:cNvPr id="1" name=""/>
        <p:cNvGrpSpPr/>
        <p:nvPr/>
      </p:nvGrpSpPr>
      <p:grpSpPr/>
      <p:sp>
        <p:nvSpPr>
          <p:cNvPr id="2" name="TextBox 1"/>
          <p:cNvSpPr txBox="1"/>
          <p:nvPr/>
        </p:nvSpPr>
        <p:spPr>
          <a:xfrm>
            <a:off x="813816" y="813816"/>
            <a:ext cx="10881360" cy="274320"/>
          </a:xfrm>
          <a:prstGeom prst="rect">
            <a:avLst/>
          </a:prstGeom>
          <a:noFill/>
        </p:spPr>
        <p:txBody>
          <a:bodyPr wrap="square" anchor="t" lIns="0" rIns="0" tIns="0" bIns="0">
            <a:spAutoFit/>
          </a:bodyPr>
          <a:lstStyle/>
          <a:p>
            <a:pPr algn="l"/>
            <a:r>
              <a:rPr sz="1100" b="0" spc="300">
                <a:solidFill>
                  <a:srgbClr val="F2994A"/>
                </a:solidFill>
                <a:latin typeface="Courier New"/>
              </a:rPr>
              <a:t>LIVE DEMO · ABOUT 4 MINUTES</a:t>
            </a:r>
          </a:p>
        </p:txBody>
      </p:sp>
      <p:sp>
        <p:nvSpPr>
          <p:cNvPr id="3" name="TextBox 2"/>
          <p:cNvSpPr txBox="1"/>
          <p:nvPr/>
        </p:nvSpPr>
        <p:spPr>
          <a:xfrm>
            <a:off x="813816" y="1243584"/>
            <a:ext cx="10881360" cy="640080"/>
          </a:xfrm>
          <a:prstGeom prst="rect">
            <a:avLst/>
          </a:prstGeom>
          <a:noFill/>
        </p:spPr>
        <p:txBody>
          <a:bodyPr wrap="square" anchor="t" lIns="0" rIns="0" tIns="0" bIns="0">
            <a:spAutoFit/>
          </a:bodyPr>
          <a:lstStyle/>
          <a:p>
            <a:pPr algn="l"/>
            <a:r>
              <a:rPr sz="3400" b="1">
                <a:solidFill>
                  <a:srgbClr val="F5F3EE"/>
                </a:solidFill>
                <a:latin typeface="Arial"/>
              </a:rPr>
              <a:t>Following one call list through the app</a:t>
            </a:r>
          </a:p>
        </p:txBody>
      </p:sp>
      <p:graphicFrame>
        <p:nvGraphicFramePr>
          <p:cNvPr id="4" name="Table 3"/>
          <p:cNvGraphicFramePr>
            <a:graphicFrameLocks noGrp="1"/>
          </p:cNvGraphicFramePr>
          <p:nvPr/>
        </p:nvGraphicFramePr>
        <p:xfrm>
          <a:off x="822960" y="2093976"/>
          <a:ext cx="10552175" cy="3072384"/>
        </p:xfrm>
        <a:graphic>
          <a:graphicData uri="http://schemas.openxmlformats.org/drawingml/2006/table">
            <a:tbl>
              <a:tblPr>
                <a:tableStyleId>{5C22544A-7EE6-4342-B048-85BDC9FD1C3A}</a:tableStyleId>
              </a:tblPr>
              <a:tblGrid>
                <a:gridCol w="458790"/>
                <a:gridCol w="2385709"/>
                <a:gridCol w="3853838"/>
                <a:gridCol w="3853838"/>
              </a:tblGrid>
              <a:tr h="512064">
                <a:tc>
                  <a:txBody>
                    <a:bodyPr/>
                    <a:lstStyle/>
                    <a:p/>
                  </a:txBody>
                  <a:tcPr marL="137160" marR="137160" anchor="ctr">
                    <a:lnL w="9525">
                      <a:solidFill>
                        <a:srgbClr val="3A5580"/>
                      </a:solidFill>
                    </a:lnL>
                    <a:lnR w="9525">
                      <a:solidFill>
                        <a:srgbClr val="3A5580"/>
                      </a:solidFill>
                    </a:lnR>
                    <a:lnT w="9525">
                      <a:solidFill>
                        <a:srgbClr val="3A5580"/>
                      </a:solidFill>
                    </a:lnT>
                    <a:lnB w="9525">
                      <a:solidFill>
                        <a:srgbClr val="3A5580"/>
                      </a:solidFill>
                    </a:lnB>
                    <a:solidFill>
                      <a:srgbClr val="14223D"/>
                    </a:solidFill>
                  </a:tcPr>
                </a:tc>
                <a:tc>
                  <a:txBody>
                    <a:bodyPr/>
                    <a:lstStyle/>
                    <a:p>
                      <a:r>
                        <a:rPr sz="1500" b="0">
                          <a:solidFill>
                            <a:srgbClr val="B8BCC2"/>
                          </a:solidFill>
                          <a:latin typeface="Arial"/>
                        </a:rPr>
                        <a:t>Page</a:t>
                      </a:r>
                    </a:p>
                  </a:txBody>
                  <a:tcPr marL="137160" marR="137160" anchor="ctr">
                    <a:lnL w="9525">
                      <a:solidFill>
                        <a:srgbClr val="3A5580"/>
                      </a:solidFill>
                    </a:lnL>
                    <a:lnR w="9525">
                      <a:solidFill>
                        <a:srgbClr val="3A5580"/>
                      </a:solidFill>
                    </a:lnR>
                    <a:lnT w="9525">
                      <a:solidFill>
                        <a:srgbClr val="3A5580"/>
                      </a:solidFill>
                    </a:lnT>
                    <a:lnB w="9525">
                      <a:solidFill>
                        <a:srgbClr val="3A5580"/>
                      </a:solidFill>
                    </a:lnB>
                    <a:solidFill>
                      <a:srgbClr val="14223D"/>
                    </a:solidFill>
                  </a:tcPr>
                </a:tc>
                <a:tc>
                  <a:txBody>
                    <a:bodyPr/>
                    <a:lstStyle/>
                    <a:p>
                      <a:r>
                        <a:rPr sz="1500" b="0">
                          <a:solidFill>
                            <a:srgbClr val="B8BCC2"/>
                          </a:solidFill>
                          <a:latin typeface="Arial"/>
                        </a:rPr>
                        <a:t>What we show</a:t>
                      </a:r>
                    </a:p>
                  </a:txBody>
                  <a:tcPr marL="137160" marR="137160" anchor="ctr">
                    <a:lnL w="9525">
                      <a:solidFill>
                        <a:srgbClr val="3A5580"/>
                      </a:solidFill>
                    </a:lnL>
                    <a:lnR w="9525">
                      <a:solidFill>
                        <a:srgbClr val="3A5580"/>
                      </a:solidFill>
                    </a:lnR>
                    <a:lnT w="9525">
                      <a:solidFill>
                        <a:srgbClr val="3A5580"/>
                      </a:solidFill>
                    </a:lnT>
                    <a:lnB w="9525">
                      <a:solidFill>
                        <a:srgbClr val="3A5580"/>
                      </a:solidFill>
                    </a:lnB>
                    <a:solidFill>
                      <a:srgbClr val="14223D"/>
                    </a:solidFill>
                  </a:tcPr>
                </a:tc>
                <a:tc>
                  <a:txBody>
                    <a:bodyPr/>
                    <a:lstStyle/>
                    <a:p>
                      <a:r>
                        <a:rPr sz="1500" b="0">
                          <a:solidFill>
                            <a:srgbClr val="B8BCC2"/>
                          </a:solidFill>
                          <a:latin typeface="Arial"/>
                        </a:rPr>
                        <a:t>Look for</a:t>
                      </a:r>
                    </a:p>
                  </a:txBody>
                  <a:tcPr marL="137160" marR="137160" anchor="ctr">
                    <a:lnL w="9525">
                      <a:solidFill>
                        <a:srgbClr val="3A5580"/>
                      </a:solidFill>
                    </a:lnL>
                    <a:lnR w="9525">
                      <a:solidFill>
                        <a:srgbClr val="3A5580"/>
                      </a:solidFill>
                    </a:lnR>
                    <a:lnT w="9525">
                      <a:solidFill>
                        <a:srgbClr val="3A5580"/>
                      </a:solidFill>
                    </a:lnT>
                    <a:lnB w="9525">
                      <a:solidFill>
                        <a:srgbClr val="3A5580"/>
                      </a:solidFill>
                    </a:lnB>
                    <a:solidFill>
                      <a:srgbClr val="14223D"/>
                    </a:solidFill>
                  </a:tcPr>
                </a:tc>
              </a:tr>
              <a:tr h="512064">
                <a:tc>
                  <a:txBody>
                    <a:bodyPr/>
                    <a:lstStyle/>
                    <a:p>
                      <a:r>
                        <a:rPr sz="1500" b="0">
                          <a:solidFill>
                            <a:srgbClr val="B5541C"/>
                          </a:solidFill>
                          <a:latin typeface="Arial"/>
                        </a:rPr>
                        <a:t>1</a:t>
                      </a:r>
                    </a:p>
                  </a:txBody>
                  <a:tcPr marL="137160" marR="137160" anchor="ctr">
                    <a:lnL w="9525">
                      <a:solidFill>
                        <a:srgbClr val="3A5580"/>
                      </a:solidFill>
                    </a:lnL>
                    <a:lnR w="9525">
                      <a:solidFill>
                        <a:srgbClr val="3A5580"/>
                      </a:solidFill>
                    </a:lnR>
                    <a:lnT w="9525">
                      <a:solidFill>
                        <a:srgbClr val="3A5580"/>
                      </a:solidFill>
                    </a:lnT>
                    <a:lnB w="9525">
                      <a:solidFill>
                        <a:srgbClr val="3A5580"/>
                      </a:solidFill>
                    </a:lnB>
                    <a:solidFill>
                      <a:srgbClr val="1F3355"/>
                    </a:solidFill>
                  </a:tcPr>
                </a:tc>
                <a:tc>
                  <a:txBody>
                    <a:bodyPr/>
                    <a:lstStyle/>
                    <a:p>
                      <a:r>
                        <a:rPr sz="1500" b="0">
                          <a:solidFill>
                            <a:srgbClr val="F5F3EE"/>
                          </a:solidFill>
                          <a:latin typeface="Arial"/>
                        </a:rPr>
                        <a:t>Home</a:t>
                      </a:r>
                    </a:p>
                  </a:txBody>
                  <a:tcPr marL="137160" marR="137160" anchor="ctr">
                    <a:lnL w="9525">
                      <a:solidFill>
                        <a:srgbClr val="3A5580"/>
                      </a:solidFill>
                    </a:lnL>
                    <a:lnR w="9525">
                      <a:solidFill>
                        <a:srgbClr val="3A5580"/>
                      </a:solidFill>
                    </a:lnR>
                    <a:lnT w="9525">
                      <a:solidFill>
                        <a:srgbClr val="3A5580"/>
                      </a:solidFill>
                    </a:lnT>
                    <a:lnB w="9525">
                      <a:solidFill>
                        <a:srgbClr val="3A5580"/>
                      </a:solidFill>
                    </a:lnB>
                    <a:solidFill>
                      <a:srgbClr val="1F3355"/>
                    </a:solidFill>
                  </a:tcPr>
                </a:tc>
                <a:tc>
                  <a:txBody>
                    <a:bodyPr/>
                    <a:lstStyle/>
                    <a:p>
                      <a:r>
                        <a:rPr sz="1500" b="0">
                          <a:solidFill>
                            <a:srgbClr val="F5F3EE"/>
                          </a:solidFill>
                          <a:latin typeface="Arial"/>
                        </a:rPr>
                        <a:t>What the tool does and the model in use</a:t>
                      </a:r>
                    </a:p>
                  </a:txBody>
                  <a:tcPr marL="137160" marR="137160" anchor="ctr">
                    <a:lnL w="9525">
                      <a:solidFill>
                        <a:srgbClr val="3A5580"/>
                      </a:solidFill>
                    </a:lnL>
                    <a:lnR w="9525">
                      <a:solidFill>
                        <a:srgbClr val="3A5580"/>
                      </a:solidFill>
                    </a:lnR>
                    <a:lnT w="9525">
                      <a:solidFill>
                        <a:srgbClr val="3A5580"/>
                      </a:solidFill>
                    </a:lnT>
                    <a:lnB w="9525">
                      <a:solidFill>
                        <a:srgbClr val="3A5580"/>
                      </a:solidFill>
                    </a:lnB>
                    <a:solidFill>
                      <a:srgbClr val="1F3355"/>
                    </a:solidFill>
                  </a:tcPr>
                </a:tc>
                <a:tc>
                  <a:txBody>
                    <a:bodyPr/>
                    <a:lstStyle/>
                    <a:p>
                      <a:r>
                        <a:rPr sz="1500" b="0">
                          <a:solidFill>
                            <a:srgbClr val="F5F3EE"/>
                          </a:solidFill>
                          <a:latin typeface="Arial"/>
                        </a:rPr>
                        <a:t>One-line summary of the serving model</a:t>
                      </a:r>
                    </a:p>
                  </a:txBody>
                  <a:tcPr marL="137160" marR="137160" anchor="ctr">
                    <a:lnL w="9525">
                      <a:solidFill>
                        <a:srgbClr val="3A5580"/>
                      </a:solidFill>
                    </a:lnL>
                    <a:lnR w="9525">
                      <a:solidFill>
                        <a:srgbClr val="3A5580"/>
                      </a:solidFill>
                    </a:lnR>
                    <a:lnT w="9525">
                      <a:solidFill>
                        <a:srgbClr val="3A5580"/>
                      </a:solidFill>
                    </a:lnT>
                    <a:lnB w="9525">
                      <a:solidFill>
                        <a:srgbClr val="3A5580"/>
                      </a:solidFill>
                    </a:lnB>
                    <a:solidFill>
                      <a:srgbClr val="1F3355"/>
                    </a:solidFill>
                  </a:tcPr>
                </a:tc>
              </a:tr>
              <a:tr h="512064">
                <a:tc>
                  <a:txBody>
                    <a:bodyPr/>
                    <a:lstStyle/>
                    <a:p>
                      <a:r>
                        <a:rPr sz="1500" b="0">
                          <a:solidFill>
                            <a:srgbClr val="B5541C"/>
                          </a:solidFill>
                          <a:latin typeface="Arial"/>
                        </a:rPr>
                        <a:t>2</a:t>
                      </a:r>
                    </a:p>
                  </a:txBody>
                  <a:tcPr marL="137160" marR="137160" anchor="ctr">
                    <a:lnL w="9525">
                      <a:solidFill>
                        <a:srgbClr val="3A5580"/>
                      </a:solidFill>
                    </a:lnL>
                    <a:lnR w="9525">
                      <a:solidFill>
                        <a:srgbClr val="3A5580"/>
                      </a:solidFill>
                    </a:lnR>
                    <a:lnT w="9525">
                      <a:solidFill>
                        <a:srgbClr val="3A5580"/>
                      </a:solidFill>
                    </a:lnT>
                    <a:lnB w="9525">
                      <a:solidFill>
                        <a:srgbClr val="3A5580"/>
                      </a:solidFill>
                    </a:lnB>
                    <a:solidFill>
                      <a:srgbClr val="1F3355"/>
                    </a:solidFill>
                  </a:tcPr>
                </a:tc>
                <a:tc>
                  <a:txBody>
                    <a:bodyPr/>
                    <a:lstStyle/>
                    <a:p>
                      <a:r>
                        <a:rPr sz="1500" b="0">
                          <a:solidFill>
                            <a:srgbClr val="F5F3EE"/>
                          </a:solidFill>
                          <a:latin typeface="Arial"/>
                        </a:rPr>
                        <a:t>Prediction · single client</a:t>
                      </a:r>
                    </a:p>
                  </a:txBody>
                  <a:tcPr marL="137160" marR="137160" anchor="ctr">
                    <a:lnL w="9525">
                      <a:solidFill>
                        <a:srgbClr val="3A5580"/>
                      </a:solidFill>
                    </a:lnL>
                    <a:lnR w="9525">
                      <a:solidFill>
                        <a:srgbClr val="3A5580"/>
                      </a:solidFill>
                    </a:lnR>
                    <a:lnT w="9525">
                      <a:solidFill>
                        <a:srgbClr val="3A5580"/>
                      </a:solidFill>
                    </a:lnT>
                    <a:lnB w="9525">
                      <a:solidFill>
                        <a:srgbClr val="3A5580"/>
                      </a:solidFill>
                    </a:lnB>
                    <a:solidFill>
                      <a:srgbClr val="1F3355"/>
                    </a:solidFill>
                  </a:tcPr>
                </a:tc>
                <a:tc>
                  <a:txBody>
                    <a:bodyPr/>
                    <a:lstStyle/>
                    <a:p>
                      <a:r>
                        <a:rPr sz="1500" b="0">
                          <a:solidFill>
                            <a:srgbClr val="F5F3EE"/>
                          </a:solidFill>
                          <a:latin typeface="Arial"/>
                        </a:rPr>
                        <a:t>Score a likely and an unlikely client</a:t>
                      </a:r>
                    </a:p>
                  </a:txBody>
                  <a:tcPr marL="137160" marR="137160" anchor="ctr">
                    <a:lnL w="9525">
                      <a:solidFill>
                        <a:srgbClr val="3A5580"/>
                      </a:solidFill>
                    </a:lnL>
                    <a:lnR w="9525">
                      <a:solidFill>
                        <a:srgbClr val="3A5580"/>
                      </a:solidFill>
                    </a:lnR>
                    <a:lnT w="9525">
                      <a:solidFill>
                        <a:srgbClr val="3A5580"/>
                      </a:solidFill>
                    </a:lnT>
                    <a:lnB w="9525">
                      <a:solidFill>
                        <a:srgbClr val="3A5580"/>
                      </a:solidFill>
                    </a:lnB>
                    <a:solidFill>
                      <a:srgbClr val="1F3355"/>
                    </a:solidFill>
                  </a:tcPr>
                </a:tc>
                <a:tc>
                  <a:txBody>
                    <a:bodyPr/>
                    <a:lstStyle/>
                    <a:p>
                      <a:r>
                        <a:rPr sz="1500" b="0">
                          <a:solidFill>
                            <a:srgbClr val="F5F3EE"/>
                          </a:solidFill>
                          <a:latin typeface="Arial"/>
                        </a:rPr>
                        <a:t>Probability bar and priority</a:t>
                      </a:r>
                    </a:p>
                  </a:txBody>
                  <a:tcPr marL="137160" marR="137160" anchor="ctr">
                    <a:lnL w="9525">
                      <a:solidFill>
                        <a:srgbClr val="3A5580"/>
                      </a:solidFill>
                    </a:lnL>
                    <a:lnR w="9525">
                      <a:solidFill>
                        <a:srgbClr val="3A5580"/>
                      </a:solidFill>
                    </a:lnR>
                    <a:lnT w="9525">
                      <a:solidFill>
                        <a:srgbClr val="3A5580"/>
                      </a:solidFill>
                    </a:lnT>
                    <a:lnB w="9525">
                      <a:solidFill>
                        <a:srgbClr val="3A5580"/>
                      </a:solidFill>
                    </a:lnB>
                    <a:solidFill>
                      <a:srgbClr val="1F3355"/>
                    </a:solidFill>
                  </a:tcPr>
                </a:tc>
              </a:tr>
              <a:tr h="512064">
                <a:tc>
                  <a:txBody>
                    <a:bodyPr/>
                    <a:lstStyle/>
                    <a:p>
                      <a:r>
                        <a:rPr sz="1500" b="0">
                          <a:solidFill>
                            <a:srgbClr val="B5541C"/>
                          </a:solidFill>
                          <a:latin typeface="Arial"/>
                        </a:rPr>
                        <a:t>3</a:t>
                      </a:r>
                    </a:p>
                  </a:txBody>
                  <a:tcPr marL="137160" marR="137160" anchor="ctr">
                    <a:lnL w="9525">
                      <a:solidFill>
                        <a:srgbClr val="3A5580"/>
                      </a:solidFill>
                    </a:lnL>
                    <a:lnR w="9525">
                      <a:solidFill>
                        <a:srgbClr val="3A5580"/>
                      </a:solidFill>
                    </a:lnR>
                    <a:lnT w="9525">
                      <a:solidFill>
                        <a:srgbClr val="3A5580"/>
                      </a:solidFill>
                    </a:lnT>
                    <a:lnB w="9525">
                      <a:solidFill>
                        <a:srgbClr val="3A5580"/>
                      </a:solidFill>
                    </a:lnB>
                    <a:solidFill>
                      <a:srgbClr val="1F3355"/>
                    </a:solidFill>
                  </a:tcPr>
                </a:tc>
                <a:tc>
                  <a:txBody>
                    <a:bodyPr/>
                    <a:lstStyle/>
                    <a:p>
                      <a:r>
                        <a:rPr sz="1500" b="0">
                          <a:solidFill>
                            <a:srgbClr val="F5F3EE"/>
                          </a:solidFill>
                          <a:latin typeface="Arial"/>
                        </a:rPr>
                        <a:t>Prediction · batch (CSV)</a:t>
                      </a:r>
                    </a:p>
                  </a:txBody>
                  <a:tcPr marL="137160" marR="137160" anchor="ctr">
                    <a:lnL w="9525">
                      <a:solidFill>
                        <a:srgbClr val="3A5580"/>
                      </a:solidFill>
                    </a:lnL>
                    <a:lnR w="9525">
                      <a:solidFill>
                        <a:srgbClr val="3A5580"/>
                      </a:solidFill>
                    </a:lnR>
                    <a:lnT w="9525">
                      <a:solidFill>
                        <a:srgbClr val="3A5580"/>
                      </a:solidFill>
                    </a:lnT>
                    <a:lnB w="9525">
                      <a:solidFill>
                        <a:srgbClr val="3A5580"/>
                      </a:solidFill>
                    </a:lnB>
                    <a:solidFill>
                      <a:srgbClr val="1F3355"/>
                    </a:solidFill>
                  </a:tcPr>
                </a:tc>
                <a:tc>
                  <a:txBody>
                    <a:bodyPr/>
                    <a:lstStyle/>
                    <a:p>
                      <a:r>
                        <a:rPr sz="1500" b="0">
                          <a:solidFill>
                            <a:srgbClr val="F5F3EE"/>
                          </a:solidFill>
                          <a:latin typeface="Arial"/>
                        </a:rPr>
                        <a:t>Upload a whole call list</a:t>
                      </a:r>
                    </a:p>
                  </a:txBody>
                  <a:tcPr marL="137160" marR="137160" anchor="ctr">
                    <a:lnL w="9525">
                      <a:solidFill>
                        <a:srgbClr val="3A5580"/>
                      </a:solidFill>
                    </a:lnL>
                    <a:lnR w="9525">
                      <a:solidFill>
                        <a:srgbClr val="3A5580"/>
                      </a:solidFill>
                    </a:lnR>
                    <a:lnT w="9525">
                      <a:solidFill>
                        <a:srgbClr val="3A5580"/>
                      </a:solidFill>
                    </a:lnT>
                    <a:lnB w="9525">
                      <a:solidFill>
                        <a:srgbClr val="3A5580"/>
                      </a:solidFill>
                    </a:lnB>
                    <a:solidFill>
                      <a:srgbClr val="1F3355"/>
                    </a:solidFill>
                  </a:tcPr>
                </a:tc>
                <a:tc>
                  <a:txBody>
                    <a:bodyPr/>
                    <a:lstStyle/>
                    <a:p>
                      <a:r>
                        <a:rPr sz="1500" b="0">
                          <a:solidFill>
                            <a:srgbClr val="F5F3EE"/>
                          </a:solidFill>
                          <a:latin typeface="Arial"/>
                        </a:rPr>
                        <a:t>Best leads sorted to the top, export</a:t>
                      </a:r>
                    </a:p>
                  </a:txBody>
                  <a:tcPr marL="137160" marR="137160" anchor="ctr">
                    <a:lnL w="9525">
                      <a:solidFill>
                        <a:srgbClr val="3A5580"/>
                      </a:solidFill>
                    </a:lnL>
                    <a:lnR w="9525">
                      <a:solidFill>
                        <a:srgbClr val="3A5580"/>
                      </a:solidFill>
                    </a:lnR>
                    <a:lnT w="9525">
                      <a:solidFill>
                        <a:srgbClr val="3A5580"/>
                      </a:solidFill>
                    </a:lnT>
                    <a:lnB w="9525">
                      <a:solidFill>
                        <a:srgbClr val="3A5580"/>
                      </a:solidFill>
                    </a:lnB>
                    <a:solidFill>
                      <a:srgbClr val="1F3355"/>
                    </a:solidFill>
                  </a:tcPr>
                </a:tc>
              </a:tr>
              <a:tr h="512064">
                <a:tc>
                  <a:txBody>
                    <a:bodyPr/>
                    <a:lstStyle/>
                    <a:p>
                      <a:r>
                        <a:rPr sz="1500" b="0">
                          <a:solidFill>
                            <a:srgbClr val="B5541C"/>
                          </a:solidFill>
                          <a:latin typeface="Arial"/>
                        </a:rPr>
                        <a:t>4</a:t>
                      </a:r>
                    </a:p>
                  </a:txBody>
                  <a:tcPr marL="137160" marR="137160" anchor="ctr">
                    <a:lnL w="9525">
                      <a:solidFill>
                        <a:srgbClr val="3A5580"/>
                      </a:solidFill>
                    </a:lnL>
                    <a:lnR w="9525">
                      <a:solidFill>
                        <a:srgbClr val="3A5580"/>
                      </a:solidFill>
                    </a:lnR>
                    <a:lnT w="9525">
                      <a:solidFill>
                        <a:srgbClr val="3A5580"/>
                      </a:solidFill>
                    </a:lnT>
                    <a:lnB w="9525">
                      <a:solidFill>
                        <a:srgbClr val="3A5580"/>
                      </a:solidFill>
                    </a:lnB>
                    <a:solidFill>
                      <a:srgbClr val="1F3355"/>
                    </a:solidFill>
                  </a:tcPr>
                </a:tc>
                <a:tc>
                  <a:txBody>
                    <a:bodyPr/>
                    <a:lstStyle/>
                    <a:p>
                      <a:r>
                        <a:rPr sz="1500" b="0">
                          <a:solidFill>
                            <a:srgbClr val="F5F3EE"/>
                          </a:solidFill>
                          <a:latin typeface="Arial"/>
                        </a:rPr>
                        <a:t>EDA</a:t>
                      </a:r>
                    </a:p>
                  </a:txBody>
                  <a:tcPr marL="137160" marR="137160" anchor="ctr">
                    <a:lnL w="9525">
                      <a:solidFill>
                        <a:srgbClr val="3A5580"/>
                      </a:solidFill>
                    </a:lnL>
                    <a:lnR w="9525">
                      <a:solidFill>
                        <a:srgbClr val="3A5580"/>
                      </a:solidFill>
                    </a:lnR>
                    <a:lnT w="9525">
                      <a:solidFill>
                        <a:srgbClr val="3A5580"/>
                      </a:solidFill>
                    </a:lnT>
                    <a:lnB w="9525">
                      <a:solidFill>
                        <a:srgbClr val="3A5580"/>
                      </a:solidFill>
                    </a:lnB>
                    <a:solidFill>
                      <a:srgbClr val="1F3355"/>
                    </a:solidFill>
                  </a:tcPr>
                </a:tc>
                <a:tc>
                  <a:txBody>
                    <a:bodyPr/>
                    <a:lstStyle/>
                    <a:p>
                      <a:r>
                        <a:rPr sz="1500" b="0">
                          <a:solidFill>
                            <a:srgbClr val="F5F3EE"/>
                          </a:solidFill>
                          <a:latin typeface="Arial"/>
                        </a:rPr>
                        <a:t>Key findings and interactive charts</a:t>
                      </a:r>
                    </a:p>
                  </a:txBody>
                  <a:tcPr marL="137160" marR="137160" anchor="ctr">
                    <a:lnL w="9525">
                      <a:solidFill>
                        <a:srgbClr val="3A5580"/>
                      </a:solidFill>
                    </a:lnL>
                    <a:lnR w="9525">
                      <a:solidFill>
                        <a:srgbClr val="3A5580"/>
                      </a:solidFill>
                    </a:lnR>
                    <a:lnT w="9525">
                      <a:solidFill>
                        <a:srgbClr val="3A5580"/>
                      </a:solidFill>
                    </a:lnT>
                    <a:lnB w="9525">
                      <a:solidFill>
                        <a:srgbClr val="3A5580"/>
                      </a:solidFill>
                    </a:lnB>
                    <a:solidFill>
                      <a:srgbClr val="1F3355"/>
                    </a:solidFill>
                  </a:tcPr>
                </a:tc>
                <a:tc>
                  <a:txBody>
                    <a:bodyPr/>
                    <a:lstStyle/>
                    <a:p>
                      <a:r>
                        <a:rPr sz="1500" b="0">
                          <a:solidFill>
                            <a:srgbClr val="F5F3EE"/>
                          </a:solidFill>
                          <a:latin typeface="Arial"/>
                        </a:rPr>
                        <a:t>Which clients say yes most often</a:t>
                      </a:r>
                    </a:p>
                  </a:txBody>
                  <a:tcPr marL="137160" marR="137160" anchor="ctr">
                    <a:lnL w="9525">
                      <a:solidFill>
                        <a:srgbClr val="3A5580"/>
                      </a:solidFill>
                    </a:lnL>
                    <a:lnR w="9525">
                      <a:solidFill>
                        <a:srgbClr val="3A5580"/>
                      </a:solidFill>
                    </a:lnR>
                    <a:lnT w="9525">
                      <a:solidFill>
                        <a:srgbClr val="3A5580"/>
                      </a:solidFill>
                    </a:lnT>
                    <a:lnB w="9525">
                      <a:solidFill>
                        <a:srgbClr val="3A5580"/>
                      </a:solidFill>
                    </a:lnB>
                    <a:solidFill>
                      <a:srgbClr val="1F3355"/>
                    </a:solidFill>
                  </a:tcPr>
                </a:tc>
              </a:tr>
              <a:tr h="512064">
                <a:tc>
                  <a:txBody>
                    <a:bodyPr/>
                    <a:lstStyle/>
                    <a:p>
                      <a:r>
                        <a:rPr sz="1500" b="0">
                          <a:solidFill>
                            <a:srgbClr val="B5541C"/>
                          </a:solidFill>
                          <a:latin typeface="Arial"/>
                        </a:rPr>
                        <a:t>5</a:t>
                      </a:r>
                    </a:p>
                  </a:txBody>
                  <a:tcPr marL="137160" marR="137160" anchor="ctr">
                    <a:lnL w="9525">
                      <a:solidFill>
                        <a:srgbClr val="3A5580"/>
                      </a:solidFill>
                    </a:lnL>
                    <a:lnR w="9525">
                      <a:solidFill>
                        <a:srgbClr val="3A5580"/>
                      </a:solidFill>
                    </a:lnR>
                    <a:lnT w="9525">
                      <a:solidFill>
                        <a:srgbClr val="3A5580"/>
                      </a:solidFill>
                    </a:lnT>
                    <a:lnB w="9525">
                      <a:solidFill>
                        <a:srgbClr val="3A5580"/>
                      </a:solidFill>
                    </a:lnB>
                    <a:solidFill>
                      <a:srgbClr val="1F3355"/>
                    </a:solidFill>
                  </a:tcPr>
                </a:tc>
                <a:tc>
                  <a:txBody>
                    <a:bodyPr/>
                    <a:lstStyle/>
                    <a:p>
                      <a:r>
                        <a:rPr sz="1500" b="0">
                          <a:solidFill>
                            <a:srgbClr val="F5F3EE"/>
                          </a:solidFill>
                          <a:latin typeface="Arial"/>
                        </a:rPr>
                        <a:t>Models</a:t>
                      </a:r>
                    </a:p>
                  </a:txBody>
                  <a:tcPr marL="137160" marR="137160" anchor="ctr">
                    <a:lnL w="9525">
                      <a:solidFill>
                        <a:srgbClr val="3A5580"/>
                      </a:solidFill>
                    </a:lnL>
                    <a:lnR w="9525">
                      <a:solidFill>
                        <a:srgbClr val="3A5580"/>
                      </a:solidFill>
                    </a:lnR>
                    <a:lnT w="9525">
                      <a:solidFill>
                        <a:srgbClr val="3A5580"/>
                      </a:solidFill>
                    </a:lnT>
                    <a:lnB w="9525">
                      <a:solidFill>
                        <a:srgbClr val="3A5580"/>
                      </a:solidFill>
                    </a:lnB>
                    <a:solidFill>
                      <a:srgbClr val="1F3355"/>
                    </a:solidFill>
                  </a:tcPr>
                </a:tc>
                <a:tc>
                  <a:txBody>
                    <a:bodyPr/>
                    <a:lstStyle/>
                    <a:p>
                      <a:r>
                        <a:rPr sz="1500" b="0">
                          <a:solidFill>
                            <a:srgbClr val="F5F3EE"/>
                          </a:solidFill>
                          <a:latin typeface="Arial"/>
                        </a:rPr>
                        <a:t>Six models side by side</a:t>
                      </a:r>
                    </a:p>
                  </a:txBody>
                  <a:tcPr marL="137160" marR="137160" anchor="ctr">
                    <a:lnL w="9525">
                      <a:solidFill>
                        <a:srgbClr val="3A5580"/>
                      </a:solidFill>
                    </a:lnL>
                    <a:lnR w="9525">
                      <a:solidFill>
                        <a:srgbClr val="3A5580"/>
                      </a:solidFill>
                    </a:lnR>
                    <a:lnT w="9525">
                      <a:solidFill>
                        <a:srgbClr val="3A5580"/>
                      </a:solidFill>
                    </a:lnT>
                    <a:lnB w="9525">
                      <a:solidFill>
                        <a:srgbClr val="3A5580"/>
                      </a:solidFill>
                    </a:lnB>
                    <a:solidFill>
                      <a:srgbClr val="1F3355"/>
                    </a:solidFill>
                  </a:tcPr>
                </a:tc>
                <a:tc>
                  <a:txBody>
                    <a:bodyPr/>
                    <a:lstStyle/>
                    <a:p>
                      <a:r>
                        <a:rPr sz="1500" b="0">
                          <a:solidFill>
                            <a:srgbClr val="F5F3EE"/>
                          </a:solidFill>
                          <a:latin typeface="Arial"/>
                        </a:rPr>
                        <a:t>Why Gradient Boosting was chosen</a:t>
                      </a:r>
                    </a:p>
                  </a:txBody>
                  <a:tcPr marL="137160" marR="137160" anchor="ctr">
                    <a:lnL w="9525">
                      <a:solidFill>
                        <a:srgbClr val="3A5580"/>
                      </a:solidFill>
                    </a:lnL>
                    <a:lnR w="9525">
                      <a:solidFill>
                        <a:srgbClr val="3A5580"/>
                      </a:solidFill>
                    </a:lnR>
                    <a:lnT w="9525">
                      <a:solidFill>
                        <a:srgbClr val="3A5580"/>
                      </a:solidFill>
                    </a:lnT>
                    <a:lnB w="9525">
                      <a:solidFill>
                        <a:srgbClr val="3A5580"/>
                      </a:solidFill>
                    </a:lnB>
                    <a:solidFill>
                      <a:srgbClr val="1F3355"/>
                    </a:solidFill>
                  </a:tcPr>
                </a:tc>
              </a:tr>
            </a:tbl>
          </a:graphicData>
        </a:graphic>
      </p:graphicFrame>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gradFill rotWithShape="1">
          <a:gsLst>
            <a:gs pos="0">
              <a:srgbClr val="E4EDF7"/>
            </a:gs>
            <a:gs pos="100000">
              <a:srgbClr val="F8EBDD"/>
            </a:gs>
          </a:gsLst>
          <a:lin scaled="0" ang="2700000"/>
        </a:gradFill>
        <a:effectLst/>
      </p:bgPr>
    </p:bg>
    <p:spTree>
      <p:nvGrpSpPr>
        <p:cNvPr id="1" name=""/>
        <p:cNvGrpSpPr/>
        <p:nvPr/>
      </p:nvGrpSpPr>
      <p:grpSpPr/>
      <p:sp>
        <p:nvSpPr>
          <p:cNvPr id="2" name="Rectangle 1"/>
          <p:cNvSpPr/>
          <p:nvPr/>
        </p:nvSpPr>
        <p:spPr>
          <a:xfrm>
            <a:off x="0" y="0"/>
            <a:ext cx="12191695" cy="91440"/>
          </a:xfrm>
          <a:prstGeom prst="rect">
            <a:avLst/>
          </a:prstGeom>
          <a:gradFill rotWithShape="1">
            <a:gsLst>
              <a:gs pos="0">
                <a:srgbClr val="2F5F9E"/>
              </a:gs>
              <a:gs pos="100000">
                <a:srgbClr val="E08A3C"/>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13816" y="813816"/>
            <a:ext cx="10881360" cy="274320"/>
          </a:xfrm>
          <a:prstGeom prst="rect">
            <a:avLst/>
          </a:prstGeom>
          <a:noFill/>
        </p:spPr>
        <p:txBody>
          <a:bodyPr wrap="square" anchor="t" lIns="0" rIns="0" tIns="0" bIns="0">
            <a:spAutoFit/>
          </a:bodyPr>
          <a:lstStyle/>
          <a:p>
            <a:pPr algn="l"/>
            <a:r>
              <a:rPr sz="1100" b="0" spc="300">
                <a:solidFill>
                  <a:srgbClr val="B5541C"/>
                </a:solidFill>
                <a:latin typeface="Courier New"/>
              </a:rPr>
              <a:t>FINDINGS</a:t>
            </a:r>
          </a:p>
        </p:txBody>
      </p:sp>
      <p:sp>
        <p:nvSpPr>
          <p:cNvPr id="4" name="TextBox 3"/>
          <p:cNvSpPr txBox="1"/>
          <p:nvPr/>
        </p:nvSpPr>
        <p:spPr>
          <a:xfrm>
            <a:off x="813816" y="1243584"/>
            <a:ext cx="10881360" cy="640080"/>
          </a:xfrm>
          <a:prstGeom prst="rect">
            <a:avLst/>
          </a:prstGeom>
          <a:noFill/>
        </p:spPr>
        <p:txBody>
          <a:bodyPr wrap="square" anchor="t" lIns="0" rIns="0" tIns="0" bIns="0">
            <a:spAutoFit/>
          </a:bodyPr>
          <a:lstStyle/>
          <a:p>
            <a:pPr algn="l"/>
            <a:r>
              <a:rPr sz="3400" b="1">
                <a:solidFill>
                  <a:srgbClr val="1D2125"/>
                </a:solidFill>
                <a:latin typeface="Arial"/>
              </a:rPr>
              <a:t>Calling by score finds subscribers far faster</a:t>
            </a:r>
          </a:p>
        </p:txBody>
      </p:sp>
      <p:sp>
        <p:nvSpPr>
          <p:cNvPr id="5" name="TextBox 4"/>
          <p:cNvSpPr txBox="1"/>
          <p:nvPr/>
        </p:nvSpPr>
        <p:spPr>
          <a:xfrm>
            <a:off x="813816" y="6236208"/>
            <a:ext cx="9144000" cy="274320"/>
          </a:xfrm>
          <a:prstGeom prst="rect">
            <a:avLst/>
          </a:prstGeom>
          <a:noFill/>
        </p:spPr>
        <p:txBody>
          <a:bodyPr wrap="square" anchor="t" lIns="0" rIns="0" tIns="0" bIns="0">
            <a:spAutoFit/>
          </a:bodyPr>
          <a:lstStyle/>
          <a:p>
            <a:pPr algn="l"/>
            <a:r>
              <a:rPr sz="1100" b="0">
                <a:solidFill>
                  <a:srgbClr val="5F6368"/>
                </a:solidFill>
                <a:latin typeface="Arial"/>
              </a:rPr>
              <a:t>Measured on 9,043 test clients the model never saw during training</a:t>
            </a:r>
          </a:p>
        </p:txBody>
      </p:sp>
      <p:sp>
        <p:nvSpPr>
          <p:cNvPr id="6" name="TextBox 5"/>
          <p:cNvSpPr txBox="1"/>
          <p:nvPr/>
        </p:nvSpPr>
        <p:spPr>
          <a:xfrm>
            <a:off x="10469880" y="6236208"/>
            <a:ext cx="914400" cy="274320"/>
          </a:xfrm>
          <a:prstGeom prst="rect">
            <a:avLst/>
          </a:prstGeom>
          <a:noFill/>
        </p:spPr>
        <p:txBody>
          <a:bodyPr wrap="square" anchor="t" lIns="0" rIns="0" tIns="0" bIns="0">
            <a:spAutoFit/>
          </a:bodyPr>
          <a:lstStyle/>
          <a:p>
            <a:pPr algn="r"/>
            <a:r>
              <a:rPr sz="1100" b="0">
                <a:solidFill>
                  <a:srgbClr val="5F6368"/>
                </a:solidFill>
                <a:latin typeface="Arial"/>
              </a:rPr>
              <a:t>08</a:t>
            </a:r>
          </a:p>
        </p:txBody>
      </p:sp>
      <p:sp>
        <p:nvSpPr>
          <p:cNvPr id="7" name="Rectangle 6"/>
          <p:cNvSpPr/>
          <p:nvPr/>
        </p:nvSpPr>
        <p:spPr>
          <a:xfrm>
            <a:off x="813816" y="2020824"/>
            <a:ext cx="201168" cy="155448"/>
          </a:xfrm>
          <a:prstGeom prst="rect">
            <a:avLst/>
          </a:prstGeom>
          <a:solidFill>
            <a:srgbClr val="A9A49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88136" y="1984248"/>
            <a:ext cx="2011680" cy="237744"/>
          </a:xfrm>
          <a:prstGeom prst="rect">
            <a:avLst/>
          </a:prstGeom>
          <a:noFill/>
        </p:spPr>
        <p:txBody>
          <a:bodyPr wrap="square" anchor="t" lIns="0" rIns="0" tIns="0" bIns="0">
            <a:spAutoFit/>
          </a:bodyPr>
          <a:lstStyle/>
          <a:p>
            <a:pPr algn="l"/>
            <a:r>
              <a:rPr sz="1200" b="0">
                <a:solidFill>
                  <a:srgbClr val="5F6368"/>
                </a:solidFill>
                <a:latin typeface="Arial"/>
              </a:rPr>
              <a:t>Calling in random order</a:t>
            </a:r>
          </a:p>
        </p:txBody>
      </p:sp>
      <p:sp>
        <p:nvSpPr>
          <p:cNvPr id="9" name="Rectangle 8"/>
          <p:cNvSpPr/>
          <p:nvPr/>
        </p:nvSpPr>
        <p:spPr>
          <a:xfrm>
            <a:off x="3328416" y="2020824"/>
            <a:ext cx="201168" cy="155448"/>
          </a:xfrm>
          <a:prstGeom prst="rect">
            <a:avLst/>
          </a:prstGeom>
          <a:solidFill>
            <a:srgbClr val="2F5F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02736" y="1984248"/>
            <a:ext cx="3657600" cy="237744"/>
          </a:xfrm>
          <a:prstGeom prst="rect">
            <a:avLst/>
          </a:prstGeom>
          <a:noFill/>
        </p:spPr>
        <p:txBody>
          <a:bodyPr wrap="square" anchor="t" lIns="0" rIns="0" tIns="0" bIns="0">
            <a:spAutoFit/>
          </a:bodyPr>
          <a:lstStyle/>
          <a:p>
            <a:pPr algn="l"/>
            <a:r>
              <a:rPr sz="1200" b="0">
                <a:solidFill>
                  <a:srgbClr val="5F6368"/>
                </a:solidFill>
                <a:latin typeface="Arial"/>
              </a:rPr>
              <a:t>Calling in our model's order (Gradient Boosting)</a:t>
            </a:r>
          </a:p>
        </p:txBody>
      </p:sp>
      <p:cxnSp>
        <p:nvCxnSpPr>
          <p:cNvPr id="11" name="Connector 10"/>
          <p:cNvCxnSpPr/>
          <p:nvPr/>
        </p:nvCxnSpPr>
        <p:spPr>
          <a:xfrm>
            <a:off x="813816" y="2450592"/>
            <a:ext cx="10570464" cy="0"/>
          </a:xfrm>
          <a:prstGeom prst="line">
            <a:avLst/>
          </a:prstGeom>
          <a:ln w="12700">
            <a:solidFill>
              <a:srgbClr val="5F6368"/>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813816" y="2670048"/>
            <a:ext cx="2286000" cy="274320"/>
          </a:xfrm>
          <a:prstGeom prst="rect">
            <a:avLst/>
          </a:prstGeom>
          <a:noFill/>
        </p:spPr>
        <p:txBody>
          <a:bodyPr wrap="square" anchor="t" lIns="0" rIns="0" tIns="0" bIns="0">
            <a:spAutoFit/>
          </a:bodyPr>
          <a:lstStyle/>
          <a:p>
            <a:pPr algn="l"/>
            <a:r>
              <a:rPr sz="1600" b="1">
                <a:solidFill>
                  <a:srgbClr val="1D2125"/>
                </a:solidFill>
                <a:latin typeface="Arial"/>
              </a:rPr>
              <a:t>Top 10% of the list</a:t>
            </a:r>
          </a:p>
        </p:txBody>
      </p:sp>
      <p:sp>
        <p:nvSpPr>
          <p:cNvPr id="13" name="TextBox 12"/>
          <p:cNvSpPr txBox="1"/>
          <p:nvPr/>
        </p:nvSpPr>
        <p:spPr>
          <a:xfrm>
            <a:off x="813816" y="2962656"/>
            <a:ext cx="2286000" cy="274320"/>
          </a:xfrm>
          <a:prstGeom prst="rect">
            <a:avLst/>
          </a:prstGeom>
          <a:noFill/>
        </p:spPr>
        <p:txBody>
          <a:bodyPr wrap="square" anchor="t" lIns="0" rIns="0" tIns="0" bIns="0">
            <a:spAutoFit/>
          </a:bodyPr>
          <a:lstStyle/>
          <a:p>
            <a:pPr algn="l"/>
            <a:r>
              <a:rPr sz="1200" b="0">
                <a:solidFill>
                  <a:srgbClr val="5F6368"/>
                </a:solidFill>
                <a:latin typeface="Arial"/>
              </a:rPr>
              <a:t>share of subscribers reached</a:t>
            </a:r>
          </a:p>
        </p:txBody>
      </p:sp>
      <p:sp>
        <p:nvSpPr>
          <p:cNvPr id="14" name="Rectangle 13"/>
          <p:cNvSpPr/>
          <p:nvPr/>
        </p:nvSpPr>
        <p:spPr>
          <a:xfrm>
            <a:off x="3227832" y="2651760"/>
            <a:ext cx="548640" cy="228600"/>
          </a:xfrm>
          <a:prstGeom prst="rect">
            <a:avLst/>
          </a:prstGeom>
          <a:solidFill>
            <a:srgbClr val="A9A49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867912" y="2651760"/>
            <a:ext cx="1280160" cy="237744"/>
          </a:xfrm>
          <a:prstGeom prst="rect">
            <a:avLst/>
          </a:prstGeom>
          <a:noFill/>
        </p:spPr>
        <p:txBody>
          <a:bodyPr wrap="square" anchor="ctr" lIns="0" rIns="0" tIns="0" bIns="0">
            <a:spAutoFit/>
          </a:bodyPr>
          <a:lstStyle/>
          <a:p>
            <a:pPr algn="l"/>
            <a:r>
              <a:rPr sz="1200" b="0">
                <a:solidFill>
                  <a:srgbClr val="5F6368"/>
                </a:solidFill>
                <a:latin typeface="Arial"/>
              </a:rPr>
              <a:t>10%</a:t>
            </a:r>
          </a:p>
        </p:txBody>
      </p:sp>
      <p:sp>
        <p:nvSpPr>
          <p:cNvPr id="16" name="Rectangle 15"/>
          <p:cNvSpPr/>
          <p:nvPr/>
        </p:nvSpPr>
        <p:spPr>
          <a:xfrm>
            <a:off x="3227832" y="2944368"/>
            <a:ext cx="2435961" cy="228600"/>
          </a:xfrm>
          <a:prstGeom prst="rect">
            <a:avLst/>
          </a:prstGeom>
          <a:solidFill>
            <a:srgbClr val="2F5F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755233" y="2944368"/>
            <a:ext cx="1280160" cy="237744"/>
          </a:xfrm>
          <a:prstGeom prst="rect">
            <a:avLst/>
          </a:prstGeom>
          <a:noFill/>
        </p:spPr>
        <p:txBody>
          <a:bodyPr wrap="square" anchor="ctr" lIns="0" rIns="0" tIns="0" bIns="0">
            <a:spAutoFit/>
          </a:bodyPr>
          <a:lstStyle/>
          <a:p>
            <a:pPr algn="l"/>
            <a:r>
              <a:rPr sz="1200" b="1">
                <a:solidFill>
                  <a:srgbClr val="22262B"/>
                </a:solidFill>
                <a:latin typeface="Arial"/>
              </a:rPr>
              <a:t>44%</a:t>
            </a:r>
          </a:p>
        </p:txBody>
      </p:sp>
      <p:sp>
        <p:nvSpPr>
          <p:cNvPr id="18" name="TextBox 17"/>
          <p:cNvSpPr txBox="1"/>
          <p:nvPr/>
        </p:nvSpPr>
        <p:spPr>
          <a:xfrm>
            <a:off x="9326880" y="2615184"/>
            <a:ext cx="2057400" cy="603504"/>
          </a:xfrm>
          <a:prstGeom prst="rect">
            <a:avLst/>
          </a:prstGeom>
          <a:noFill/>
        </p:spPr>
        <p:txBody>
          <a:bodyPr wrap="square" anchor="ctr" lIns="0" rIns="0" tIns="0" bIns="0">
            <a:spAutoFit/>
          </a:bodyPr>
          <a:lstStyle/>
          <a:p>
            <a:pPr algn="r"/>
            <a:r>
              <a:rPr sz="3200" b="1">
                <a:solidFill>
                  <a:srgbClr val="B5541C"/>
                </a:solidFill>
                <a:latin typeface="Arial"/>
              </a:rPr>
              <a:t>4.4×</a:t>
            </a:r>
          </a:p>
        </p:txBody>
      </p:sp>
      <p:cxnSp>
        <p:nvCxnSpPr>
          <p:cNvPr id="19" name="Connector 18"/>
          <p:cNvCxnSpPr/>
          <p:nvPr/>
        </p:nvCxnSpPr>
        <p:spPr>
          <a:xfrm>
            <a:off x="813816" y="3337560"/>
            <a:ext cx="10570464" cy="0"/>
          </a:xfrm>
          <a:prstGeom prst="line">
            <a:avLst/>
          </a:prstGeom>
          <a:ln w="9525">
            <a:solidFill>
              <a:srgbClr val="DCD8CF"/>
            </a:solidFill>
          </a:ln>
        </p:spPr>
        <p:style>
          <a:lnRef idx="2">
            <a:schemeClr val="accent1"/>
          </a:lnRef>
          <a:fillRef idx="0">
            <a:schemeClr val="accent1"/>
          </a:fillRef>
          <a:effectRef idx="1">
            <a:schemeClr val="accent1"/>
          </a:effectRef>
          <a:fontRef idx="minor">
            <a:schemeClr val="tx1"/>
          </a:fontRef>
        </p:style>
      </p:cxnSp>
      <p:sp>
        <p:nvSpPr>
          <p:cNvPr id="20" name="TextBox 19"/>
          <p:cNvSpPr txBox="1"/>
          <p:nvPr/>
        </p:nvSpPr>
        <p:spPr>
          <a:xfrm>
            <a:off x="813816" y="3547872"/>
            <a:ext cx="2286000" cy="274320"/>
          </a:xfrm>
          <a:prstGeom prst="rect">
            <a:avLst/>
          </a:prstGeom>
          <a:noFill/>
        </p:spPr>
        <p:txBody>
          <a:bodyPr wrap="square" anchor="t" lIns="0" rIns="0" tIns="0" bIns="0">
            <a:spAutoFit/>
          </a:bodyPr>
          <a:lstStyle/>
          <a:p>
            <a:pPr algn="l"/>
            <a:r>
              <a:rPr sz="1600" b="1">
                <a:solidFill>
                  <a:srgbClr val="1D2125"/>
                </a:solidFill>
                <a:latin typeface="Arial"/>
              </a:rPr>
              <a:t>Top 20% of the list</a:t>
            </a:r>
          </a:p>
        </p:txBody>
      </p:sp>
      <p:sp>
        <p:nvSpPr>
          <p:cNvPr id="21" name="TextBox 20"/>
          <p:cNvSpPr txBox="1"/>
          <p:nvPr/>
        </p:nvSpPr>
        <p:spPr>
          <a:xfrm>
            <a:off x="813816" y="3840480"/>
            <a:ext cx="2286000" cy="274320"/>
          </a:xfrm>
          <a:prstGeom prst="rect">
            <a:avLst/>
          </a:prstGeom>
          <a:noFill/>
        </p:spPr>
        <p:txBody>
          <a:bodyPr wrap="square" anchor="t" lIns="0" rIns="0" tIns="0" bIns="0">
            <a:spAutoFit/>
          </a:bodyPr>
          <a:lstStyle/>
          <a:p>
            <a:pPr algn="l"/>
            <a:r>
              <a:rPr sz="1200" b="0">
                <a:solidFill>
                  <a:srgbClr val="5F6368"/>
                </a:solidFill>
                <a:latin typeface="Arial"/>
              </a:rPr>
              <a:t>share of subscribers reached</a:t>
            </a:r>
          </a:p>
        </p:txBody>
      </p:sp>
      <p:sp>
        <p:nvSpPr>
          <p:cNvPr id="22" name="Rectangle 21"/>
          <p:cNvSpPr/>
          <p:nvPr/>
        </p:nvSpPr>
        <p:spPr>
          <a:xfrm>
            <a:off x="3227832" y="3529584"/>
            <a:ext cx="1097280" cy="228600"/>
          </a:xfrm>
          <a:prstGeom prst="rect">
            <a:avLst/>
          </a:prstGeom>
          <a:solidFill>
            <a:srgbClr val="A9A49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416552" y="3529584"/>
            <a:ext cx="1280160" cy="237744"/>
          </a:xfrm>
          <a:prstGeom prst="rect">
            <a:avLst/>
          </a:prstGeom>
          <a:noFill/>
        </p:spPr>
        <p:txBody>
          <a:bodyPr wrap="square" anchor="ctr" lIns="0" rIns="0" tIns="0" bIns="0">
            <a:spAutoFit/>
          </a:bodyPr>
          <a:lstStyle/>
          <a:p>
            <a:pPr algn="l"/>
            <a:r>
              <a:rPr sz="1200" b="0">
                <a:solidFill>
                  <a:srgbClr val="5F6368"/>
                </a:solidFill>
                <a:latin typeface="Arial"/>
              </a:rPr>
              <a:t>20%</a:t>
            </a:r>
          </a:p>
        </p:txBody>
      </p:sp>
      <p:sp>
        <p:nvSpPr>
          <p:cNvPr id="24" name="Rectangle 23"/>
          <p:cNvSpPr/>
          <p:nvPr/>
        </p:nvSpPr>
        <p:spPr>
          <a:xfrm>
            <a:off x="3227832" y="3822192"/>
            <a:ext cx="3445459" cy="228600"/>
          </a:xfrm>
          <a:prstGeom prst="rect">
            <a:avLst/>
          </a:prstGeom>
          <a:solidFill>
            <a:srgbClr val="2F5F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764731" y="3822192"/>
            <a:ext cx="1280160" cy="237744"/>
          </a:xfrm>
          <a:prstGeom prst="rect">
            <a:avLst/>
          </a:prstGeom>
          <a:noFill/>
        </p:spPr>
        <p:txBody>
          <a:bodyPr wrap="square" anchor="ctr" lIns="0" rIns="0" tIns="0" bIns="0">
            <a:spAutoFit/>
          </a:bodyPr>
          <a:lstStyle/>
          <a:p>
            <a:pPr algn="l"/>
            <a:r>
              <a:rPr sz="1200" b="1">
                <a:solidFill>
                  <a:srgbClr val="22262B"/>
                </a:solidFill>
                <a:latin typeface="Arial"/>
              </a:rPr>
              <a:t>63%</a:t>
            </a:r>
          </a:p>
        </p:txBody>
      </p:sp>
      <p:sp>
        <p:nvSpPr>
          <p:cNvPr id="26" name="TextBox 25"/>
          <p:cNvSpPr txBox="1"/>
          <p:nvPr/>
        </p:nvSpPr>
        <p:spPr>
          <a:xfrm>
            <a:off x="9326880" y="3493008"/>
            <a:ext cx="2057400" cy="603504"/>
          </a:xfrm>
          <a:prstGeom prst="rect">
            <a:avLst/>
          </a:prstGeom>
          <a:noFill/>
        </p:spPr>
        <p:txBody>
          <a:bodyPr wrap="square" anchor="ctr" lIns="0" rIns="0" tIns="0" bIns="0">
            <a:spAutoFit/>
          </a:bodyPr>
          <a:lstStyle/>
          <a:p>
            <a:pPr algn="r"/>
            <a:r>
              <a:rPr sz="3200" b="1">
                <a:solidFill>
                  <a:srgbClr val="B5541C"/>
                </a:solidFill>
                <a:latin typeface="Arial"/>
              </a:rPr>
              <a:t>3.1×</a:t>
            </a:r>
          </a:p>
        </p:txBody>
      </p:sp>
      <p:cxnSp>
        <p:nvCxnSpPr>
          <p:cNvPr id="27" name="Connector 26"/>
          <p:cNvCxnSpPr/>
          <p:nvPr/>
        </p:nvCxnSpPr>
        <p:spPr>
          <a:xfrm>
            <a:off x="813816" y="4215384"/>
            <a:ext cx="10570464" cy="0"/>
          </a:xfrm>
          <a:prstGeom prst="line">
            <a:avLst/>
          </a:prstGeom>
          <a:ln w="9525">
            <a:solidFill>
              <a:srgbClr val="DCD8CF"/>
            </a:solidFill>
          </a:ln>
        </p:spPr>
        <p:style>
          <a:lnRef idx="2">
            <a:schemeClr val="accent1"/>
          </a:lnRef>
          <a:fillRef idx="0">
            <a:schemeClr val="accent1"/>
          </a:fillRef>
          <a:effectRef idx="1">
            <a:schemeClr val="accent1"/>
          </a:effectRef>
          <a:fontRef idx="minor">
            <a:schemeClr val="tx1"/>
          </a:fontRef>
        </p:style>
      </p:cxnSp>
      <p:sp>
        <p:nvSpPr>
          <p:cNvPr id="28" name="TextBox 27"/>
          <p:cNvSpPr txBox="1"/>
          <p:nvPr/>
        </p:nvSpPr>
        <p:spPr>
          <a:xfrm>
            <a:off x="813816" y="4425696"/>
            <a:ext cx="2286000" cy="274320"/>
          </a:xfrm>
          <a:prstGeom prst="rect">
            <a:avLst/>
          </a:prstGeom>
          <a:noFill/>
        </p:spPr>
        <p:txBody>
          <a:bodyPr wrap="square" anchor="t" lIns="0" rIns="0" tIns="0" bIns="0">
            <a:spAutoFit/>
          </a:bodyPr>
          <a:lstStyle/>
          <a:p>
            <a:pPr algn="l"/>
            <a:r>
              <a:rPr sz="1600" b="1">
                <a:solidFill>
                  <a:srgbClr val="1D2125"/>
                </a:solidFill>
                <a:latin typeface="Arial"/>
              </a:rPr>
              <a:t>Top 30% of the list</a:t>
            </a:r>
          </a:p>
        </p:txBody>
      </p:sp>
      <p:sp>
        <p:nvSpPr>
          <p:cNvPr id="29" name="TextBox 28"/>
          <p:cNvSpPr txBox="1"/>
          <p:nvPr/>
        </p:nvSpPr>
        <p:spPr>
          <a:xfrm>
            <a:off x="813816" y="4718304"/>
            <a:ext cx="2286000" cy="274320"/>
          </a:xfrm>
          <a:prstGeom prst="rect">
            <a:avLst/>
          </a:prstGeom>
          <a:noFill/>
        </p:spPr>
        <p:txBody>
          <a:bodyPr wrap="square" anchor="t" lIns="0" rIns="0" tIns="0" bIns="0">
            <a:spAutoFit/>
          </a:bodyPr>
          <a:lstStyle/>
          <a:p>
            <a:pPr algn="l"/>
            <a:r>
              <a:rPr sz="1200" b="0">
                <a:solidFill>
                  <a:srgbClr val="5F6368"/>
                </a:solidFill>
                <a:latin typeface="Arial"/>
              </a:rPr>
              <a:t>share of subscribers reached</a:t>
            </a:r>
          </a:p>
        </p:txBody>
      </p:sp>
      <p:sp>
        <p:nvSpPr>
          <p:cNvPr id="30" name="Rectangle 29"/>
          <p:cNvSpPr/>
          <p:nvPr/>
        </p:nvSpPr>
        <p:spPr>
          <a:xfrm>
            <a:off x="3227832" y="4407408"/>
            <a:ext cx="1645920" cy="228600"/>
          </a:xfrm>
          <a:prstGeom prst="rect">
            <a:avLst/>
          </a:prstGeom>
          <a:solidFill>
            <a:srgbClr val="A9A49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965192" y="4407408"/>
            <a:ext cx="1280160" cy="237744"/>
          </a:xfrm>
          <a:prstGeom prst="rect">
            <a:avLst/>
          </a:prstGeom>
          <a:noFill/>
        </p:spPr>
        <p:txBody>
          <a:bodyPr wrap="square" anchor="ctr" lIns="0" rIns="0" tIns="0" bIns="0">
            <a:spAutoFit/>
          </a:bodyPr>
          <a:lstStyle/>
          <a:p>
            <a:pPr algn="l"/>
            <a:r>
              <a:rPr sz="1200" b="0">
                <a:solidFill>
                  <a:srgbClr val="5F6368"/>
                </a:solidFill>
                <a:latin typeface="Arial"/>
              </a:rPr>
              <a:t>30%</a:t>
            </a:r>
          </a:p>
        </p:txBody>
      </p:sp>
      <p:sp>
        <p:nvSpPr>
          <p:cNvPr id="32" name="Rectangle 31"/>
          <p:cNvSpPr/>
          <p:nvPr/>
        </p:nvSpPr>
        <p:spPr>
          <a:xfrm>
            <a:off x="3227832" y="4700016"/>
            <a:ext cx="3933748" cy="228600"/>
          </a:xfrm>
          <a:prstGeom prst="rect">
            <a:avLst/>
          </a:prstGeom>
          <a:solidFill>
            <a:srgbClr val="2F5F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7253020" y="4700016"/>
            <a:ext cx="1280160" cy="237744"/>
          </a:xfrm>
          <a:prstGeom prst="rect">
            <a:avLst/>
          </a:prstGeom>
          <a:noFill/>
        </p:spPr>
        <p:txBody>
          <a:bodyPr wrap="square" anchor="ctr" lIns="0" rIns="0" tIns="0" bIns="0">
            <a:spAutoFit/>
          </a:bodyPr>
          <a:lstStyle/>
          <a:p>
            <a:pPr algn="l"/>
            <a:r>
              <a:rPr sz="1200" b="1">
                <a:solidFill>
                  <a:srgbClr val="22262B"/>
                </a:solidFill>
                <a:latin typeface="Arial"/>
              </a:rPr>
              <a:t>72%</a:t>
            </a:r>
          </a:p>
        </p:txBody>
      </p:sp>
      <p:sp>
        <p:nvSpPr>
          <p:cNvPr id="34" name="TextBox 33"/>
          <p:cNvSpPr txBox="1"/>
          <p:nvPr/>
        </p:nvSpPr>
        <p:spPr>
          <a:xfrm>
            <a:off x="9326880" y="4370832"/>
            <a:ext cx="2057400" cy="603504"/>
          </a:xfrm>
          <a:prstGeom prst="rect">
            <a:avLst/>
          </a:prstGeom>
          <a:noFill/>
        </p:spPr>
        <p:txBody>
          <a:bodyPr wrap="square" anchor="ctr" lIns="0" rIns="0" tIns="0" bIns="0">
            <a:spAutoFit/>
          </a:bodyPr>
          <a:lstStyle/>
          <a:p>
            <a:pPr algn="r"/>
            <a:r>
              <a:rPr sz="3200" b="1">
                <a:solidFill>
                  <a:srgbClr val="B5541C"/>
                </a:solidFill>
                <a:latin typeface="Arial"/>
              </a:rPr>
              <a:t>2.4×</a:t>
            </a:r>
          </a:p>
        </p:txBody>
      </p:sp>
      <p:cxnSp>
        <p:nvCxnSpPr>
          <p:cNvPr id="35" name="Connector 34"/>
          <p:cNvCxnSpPr/>
          <p:nvPr/>
        </p:nvCxnSpPr>
        <p:spPr>
          <a:xfrm>
            <a:off x="813816" y="5093208"/>
            <a:ext cx="10570464" cy="0"/>
          </a:xfrm>
          <a:prstGeom prst="line">
            <a:avLst/>
          </a:prstGeom>
          <a:ln w="9525">
            <a:solidFill>
              <a:srgbClr val="DCD8CF"/>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gradFill rotWithShape="1">
          <a:gsLst>
            <a:gs pos="0">
              <a:srgbClr val="E4EDF7"/>
            </a:gs>
            <a:gs pos="100000">
              <a:srgbClr val="F8EBDD"/>
            </a:gs>
          </a:gsLst>
          <a:lin scaled="0" ang="2700000"/>
        </a:gradFill>
        <a:effectLst/>
      </p:bgPr>
    </p:bg>
    <p:spTree>
      <p:nvGrpSpPr>
        <p:cNvPr id="1" name=""/>
        <p:cNvGrpSpPr/>
        <p:nvPr/>
      </p:nvGrpSpPr>
      <p:grpSpPr/>
      <p:sp>
        <p:nvSpPr>
          <p:cNvPr id="2" name="Rectangle 1"/>
          <p:cNvSpPr/>
          <p:nvPr/>
        </p:nvSpPr>
        <p:spPr>
          <a:xfrm>
            <a:off x="0" y="0"/>
            <a:ext cx="12191695" cy="91440"/>
          </a:xfrm>
          <a:prstGeom prst="rect">
            <a:avLst/>
          </a:prstGeom>
          <a:gradFill rotWithShape="1">
            <a:gsLst>
              <a:gs pos="0">
                <a:srgbClr val="2F5F9E"/>
              </a:gs>
              <a:gs pos="100000">
                <a:srgbClr val="E08A3C"/>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13816" y="813816"/>
            <a:ext cx="10881360" cy="274320"/>
          </a:xfrm>
          <a:prstGeom prst="rect">
            <a:avLst/>
          </a:prstGeom>
          <a:noFill/>
        </p:spPr>
        <p:txBody>
          <a:bodyPr wrap="square" anchor="t" lIns="0" rIns="0" tIns="0" bIns="0">
            <a:spAutoFit/>
          </a:bodyPr>
          <a:lstStyle/>
          <a:p>
            <a:pPr algn="l"/>
            <a:r>
              <a:rPr sz="1100" b="0" spc="300">
                <a:solidFill>
                  <a:srgbClr val="B5541C"/>
                </a:solidFill>
                <a:latin typeface="Courier New"/>
              </a:rPr>
              <a:t>FINDINGS</a:t>
            </a:r>
          </a:p>
        </p:txBody>
      </p:sp>
      <p:sp>
        <p:nvSpPr>
          <p:cNvPr id="4" name="TextBox 3"/>
          <p:cNvSpPr txBox="1"/>
          <p:nvPr/>
        </p:nvSpPr>
        <p:spPr>
          <a:xfrm>
            <a:off x="813816" y="1243584"/>
            <a:ext cx="10881360" cy="640080"/>
          </a:xfrm>
          <a:prstGeom prst="rect">
            <a:avLst/>
          </a:prstGeom>
          <a:noFill/>
        </p:spPr>
        <p:txBody>
          <a:bodyPr wrap="square" anchor="t" lIns="0" rIns="0" tIns="0" bIns="0">
            <a:spAutoFit/>
          </a:bodyPr>
          <a:lstStyle/>
          <a:p>
            <a:pPr algn="l"/>
            <a:r>
              <a:rPr sz="3400" b="1">
                <a:solidFill>
                  <a:srgbClr val="1D2125"/>
                </a:solidFill>
                <a:latin typeface="Arial"/>
              </a:rPr>
              <a:t>Tuning the decision point cut wasted calls by 43%</a:t>
            </a:r>
          </a:p>
        </p:txBody>
      </p:sp>
      <p:sp>
        <p:nvSpPr>
          <p:cNvPr id="5" name="TextBox 4"/>
          <p:cNvSpPr txBox="1"/>
          <p:nvPr/>
        </p:nvSpPr>
        <p:spPr>
          <a:xfrm>
            <a:off x="813816" y="6236208"/>
            <a:ext cx="9144000" cy="274320"/>
          </a:xfrm>
          <a:prstGeom prst="rect">
            <a:avLst/>
          </a:prstGeom>
          <a:noFill/>
        </p:spPr>
        <p:txBody>
          <a:bodyPr wrap="square" anchor="t" lIns="0" rIns="0" tIns="0" bIns="0">
            <a:spAutoFit/>
          </a:bodyPr>
          <a:lstStyle/>
          <a:p>
            <a:pPr algn="l"/>
            <a:r>
              <a:rPr sz="1100" b="0">
                <a:solidFill>
                  <a:srgbClr val="5F6368"/>
                </a:solidFill>
                <a:latin typeface="Arial"/>
              </a:rPr>
              <a:t>Same 9,043 test clients for both  ·  balance score (F1) 0.46 → 0.49</a:t>
            </a:r>
          </a:p>
        </p:txBody>
      </p:sp>
      <p:sp>
        <p:nvSpPr>
          <p:cNvPr id="6" name="TextBox 5"/>
          <p:cNvSpPr txBox="1"/>
          <p:nvPr/>
        </p:nvSpPr>
        <p:spPr>
          <a:xfrm>
            <a:off x="10469880" y="6236208"/>
            <a:ext cx="914400" cy="274320"/>
          </a:xfrm>
          <a:prstGeom prst="rect">
            <a:avLst/>
          </a:prstGeom>
          <a:noFill/>
        </p:spPr>
        <p:txBody>
          <a:bodyPr wrap="square" anchor="t" lIns="0" rIns="0" tIns="0" bIns="0">
            <a:spAutoFit/>
          </a:bodyPr>
          <a:lstStyle/>
          <a:p>
            <a:pPr algn="r"/>
            <a:r>
              <a:rPr sz="1100" b="0">
                <a:solidFill>
                  <a:srgbClr val="5F6368"/>
                </a:solidFill>
                <a:latin typeface="Arial"/>
              </a:rPr>
              <a:t>09</a:t>
            </a:r>
          </a:p>
        </p:txBody>
      </p:sp>
      <p:sp>
        <p:nvSpPr>
          <p:cNvPr id="7" name="Rectangle 6"/>
          <p:cNvSpPr/>
          <p:nvPr/>
        </p:nvSpPr>
        <p:spPr>
          <a:xfrm>
            <a:off x="813816" y="2020824"/>
            <a:ext cx="201168" cy="155448"/>
          </a:xfrm>
          <a:prstGeom prst="rect">
            <a:avLst/>
          </a:prstGeom>
          <a:solidFill>
            <a:srgbClr val="A9A49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88136" y="1984248"/>
            <a:ext cx="1828800" cy="237744"/>
          </a:xfrm>
          <a:prstGeom prst="rect">
            <a:avLst/>
          </a:prstGeom>
          <a:noFill/>
        </p:spPr>
        <p:txBody>
          <a:bodyPr wrap="square" anchor="t" lIns="0" rIns="0" tIns="0" bIns="0">
            <a:spAutoFit/>
          </a:bodyPr>
          <a:lstStyle/>
          <a:p>
            <a:pPr algn="l"/>
            <a:r>
              <a:rPr sz="1200" b="0">
                <a:solidFill>
                  <a:srgbClr val="5F6368"/>
                </a:solidFill>
                <a:latin typeface="Arial"/>
              </a:rPr>
              <a:t>Default cut-off (50%)</a:t>
            </a:r>
          </a:p>
        </p:txBody>
      </p:sp>
      <p:sp>
        <p:nvSpPr>
          <p:cNvPr id="9" name="Rectangle 8"/>
          <p:cNvSpPr/>
          <p:nvPr/>
        </p:nvSpPr>
        <p:spPr>
          <a:xfrm>
            <a:off x="3145536" y="2020824"/>
            <a:ext cx="201168" cy="155448"/>
          </a:xfrm>
          <a:prstGeom prst="rect">
            <a:avLst/>
          </a:prstGeom>
          <a:solidFill>
            <a:srgbClr val="2F5F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419856" y="1984248"/>
            <a:ext cx="2194560" cy="237744"/>
          </a:xfrm>
          <a:prstGeom prst="rect">
            <a:avLst/>
          </a:prstGeom>
          <a:noFill/>
        </p:spPr>
        <p:txBody>
          <a:bodyPr wrap="square" anchor="t" lIns="0" rIns="0" tIns="0" bIns="0">
            <a:spAutoFit/>
          </a:bodyPr>
          <a:lstStyle/>
          <a:p>
            <a:pPr algn="l"/>
            <a:r>
              <a:rPr sz="1200" b="0">
                <a:solidFill>
                  <a:srgbClr val="5F6368"/>
                </a:solidFill>
                <a:latin typeface="Arial"/>
              </a:rPr>
              <a:t>Tuned cut-off (62%)</a:t>
            </a:r>
          </a:p>
        </p:txBody>
      </p:sp>
      <p:cxnSp>
        <p:nvCxnSpPr>
          <p:cNvPr id="11" name="Connector 10"/>
          <p:cNvCxnSpPr/>
          <p:nvPr/>
        </p:nvCxnSpPr>
        <p:spPr>
          <a:xfrm>
            <a:off x="813816" y="2450592"/>
            <a:ext cx="10570464" cy="0"/>
          </a:xfrm>
          <a:prstGeom prst="line">
            <a:avLst/>
          </a:prstGeom>
          <a:ln w="12700">
            <a:solidFill>
              <a:srgbClr val="5F6368"/>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813816" y="2670048"/>
            <a:ext cx="2286000" cy="274320"/>
          </a:xfrm>
          <a:prstGeom prst="rect">
            <a:avLst/>
          </a:prstGeom>
          <a:noFill/>
        </p:spPr>
        <p:txBody>
          <a:bodyPr wrap="square" anchor="t" lIns="0" rIns="0" tIns="0" bIns="0">
            <a:spAutoFit/>
          </a:bodyPr>
          <a:lstStyle/>
          <a:p>
            <a:pPr algn="l"/>
            <a:r>
              <a:rPr sz="1600" b="1">
                <a:solidFill>
                  <a:srgbClr val="1D2125"/>
                </a:solidFill>
                <a:latin typeface="Arial"/>
              </a:rPr>
              <a:t>Wasted calls</a:t>
            </a:r>
          </a:p>
        </p:txBody>
      </p:sp>
      <p:sp>
        <p:nvSpPr>
          <p:cNvPr id="13" name="TextBox 12"/>
          <p:cNvSpPr txBox="1"/>
          <p:nvPr/>
        </p:nvSpPr>
        <p:spPr>
          <a:xfrm>
            <a:off x="813816" y="2962656"/>
            <a:ext cx="2286000" cy="274320"/>
          </a:xfrm>
          <a:prstGeom prst="rect">
            <a:avLst/>
          </a:prstGeom>
          <a:noFill/>
        </p:spPr>
        <p:txBody>
          <a:bodyPr wrap="square" anchor="t" lIns="0" rIns="0" tIns="0" bIns="0">
            <a:spAutoFit/>
          </a:bodyPr>
          <a:lstStyle/>
          <a:p>
            <a:pPr algn="l"/>
            <a:r>
              <a:rPr sz="1200" b="0">
                <a:solidFill>
                  <a:srgbClr val="5F6368"/>
                </a:solidFill>
                <a:latin typeface="Arial"/>
              </a:rPr>
              <a:t>clients flagged who said no</a:t>
            </a:r>
          </a:p>
        </p:txBody>
      </p:sp>
      <p:sp>
        <p:nvSpPr>
          <p:cNvPr id="14" name="Rectangle 13"/>
          <p:cNvSpPr/>
          <p:nvPr/>
        </p:nvSpPr>
        <p:spPr>
          <a:xfrm>
            <a:off x="3227832" y="2651760"/>
            <a:ext cx="5486400" cy="228600"/>
          </a:xfrm>
          <a:prstGeom prst="rect">
            <a:avLst/>
          </a:prstGeom>
          <a:solidFill>
            <a:srgbClr val="A9A49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805672" y="2651760"/>
            <a:ext cx="1280160" cy="237744"/>
          </a:xfrm>
          <a:prstGeom prst="rect">
            <a:avLst/>
          </a:prstGeom>
          <a:noFill/>
        </p:spPr>
        <p:txBody>
          <a:bodyPr wrap="square" anchor="ctr" lIns="0" rIns="0" tIns="0" bIns="0">
            <a:spAutoFit/>
          </a:bodyPr>
          <a:lstStyle/>
          <a:p>
            <a:pPr algn="l"/>
            <a:r>
              <a:rPr sz="1200" b="0">
                <a:solidFill>
                  <a:srgbClr val="5F6368"/>
                </a:solidFill>
                <a:latin typeface="Arial"/>
              </a:rPr>
              <a:t>1,212</a:t>
            </a:r>
          </a:p>
        </p:txBody>
      </p:sp>
      <p:sp>
        <p:nvSpPr>
          <p:cNvPr id="16" name="Rectangle 15"/>
          <p:cNvSpPr/>
          <p:nvPr/>
        </p:nvSpPr>
        <p:spPr>
          <a:xfrm>
            <a:off x="3227832" y="2944368"/>
            <a:ext cx="3123445" cy="228600"/>
          </a:xfrm>
          <a:prstGeom prst="rect">
            <a:avLst/>
          </a:prstGeom>
          <a:solidFill>
            <a:srgbClr val="2F5F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42717" y="2944368"/>
            <a:ext cx="1280160" cy="237744"/>
          </a:xfrm>
          <a:prstGeom prst="rect">
            <a:avLst/>
          </a:prstGeom>
          <a:noFill/>
        </p:spPr>
        <p:txBody>
          <a:bodyPr wrap="square" anchor="ctr" lIns="0" rIns="0" tIns="0" bIns="0">
            <a:spAutoFit/>
          </a:bodyPr>
          <a:lstStyle/>
          <a:p>
            <a:pPr algn="l"/>
            <a:r>
              <a:rPr sz="1200" b="1">
                <a:solidFill>
                  <a:srgbClr val="22262B"/>
                </a:solidFill>
                <a:latin typeface="Arial"/>
              </a:rPr>
              <a:t>690</a:t>
            </a:r>
          </a:p>
        </p:txBody>
      </p:sp>
      <p:sp>
        <p:nvSpPr>
          <p:cNvPr id="18" name="TextBox 17"/>
          <p:cNvSpPr txBox="1"/>
          <p:nvPr/>
        </p:nvSpPr>
        <p:spPr>
          <a:xfrm>
            <a:off x="9326880" y="2615184"/>
            <a:ext cx="2057400" cy="603504"/>
          </a:xfrm>
          <a:prstGeom prst="rect">
            <a:avLst/>
          </a:prstGeom>
          <a:noFill/>
        </p:spPr>
        <p:txBody>
          <a:bodyPr wrap="square" anchor="ctr" lIns="0" rIns="0" tIns="0" bIns="0">
            <a:spAutoFit/>
          </a:bodyPr>
          <a:lstStyle/>
          <a:p>
            <a:pPr algn="r"/>
            <a:r>
              <a:rPr sz="3200" b="1">
                <a:solidFill>
                  <a:srgbClr val="B5541C"/>
                </a:solidFill>
                <a:latin typeface="Arial"/>
              </a:rPr>
              <a:t>−43%</a:t>
            </a:r>
          </a:p>
        </p:txBody>
      </p:sp>
      <p:cxnSp>
        <p:nvCxnSpPr>
          <p:cNvPr id="19" name="Connector 18"/>
          <p:cNvCxnSpPr/>
          <p:nvPr/>
        </p:nvCxnSpPr>
        <p:spPr>
          <a:xfrm>
            <a:off x="813816" y="3337560"/>
            <a:ext cx="10570464" cy="0"/>
          </a:xfrm>
          <a:prstGeom prst="line">
            <a:avLst/>
          </a:prstGeom>
          <a:ln w="9525">
            <a:solidFill>
              <a:srgbClr val="DCD8CF"/>
            </a:solidFill>
          </a:ln>
        </p:spPr>
        <p:style>
          <a:lnRef idx="2">
            <a:schemeClr val="accent1"/>
          </a:lnRef>
          <a:fillRef idx="0">
            <a:schemeClr val="accent1"/>
          </a:fillRef>
          <a:effectRef idx="1">
            <a:schemeClr val="accent1"/>
          </a:effectRef>
          <a:fontRef idx="minor">
            <a:schemeClr val="tx1"/>
          </a:fontRef>
        </p:style>
      </p:cxnSp>
      <p:sp>
        <p:nvSpPr>
          <p:cNvPr id="20" name="TextBox 19"/>
          <p:cNvSpPr txBox="1"/>
          <p:nvPr/>
        </p:nvSpPr>
        <p:spPr>
          <a:xfrm>
            <a:off x="813816" y="3547872"/>
            <a:ext cx="2286000" cy="274320"/>
          </a:xfrm>
          <a:prstGeom prst="rect">
            <a:avLst/>
          </a:prstGeom>
          <a:noFill/>
        </p:spPr>
        <p:txBody>
          <a:bodyPr wrap="square" anchor="t" lIns="0" rIns="0" tIns="0" bIns="0">
            <a:spAutoFit/>
          </a:bodyPr>
          <a:lstStyle/>
          <a:p>
            <a:pPr algn="l"/>
            <a:r>
              <a:rPr sz="1600" b="1">
                <a:solidFill>
                  <a:srgbClr val="1D2125"/>
                </a:solidFill>
                <a:latin typeface="Arial"/>
              </a:rPr>
              <a:t>Hit rate</a:t>
            </a:r>
          </a:p>
        </p:txBody>
      </p:sp>
      <p:sp>
        <p:nvSpPr>
          <p:cNvPr id="21" name="TextBox 20"/>
          <p:cNvSpPr txBox="1"/>
          <p:nvPr/>
        </p:nvSpPr>
        <p:spPr>
          <a:xfrm>
            <a:off x="813816" y="3840480"/>
            <a:ext cx="2286000" cy="274320"/>
          </a:xfrm>
          <a:prstGeom prst="rect">
            <a:avLst/>
          </a:prstGeom>
          <a:noFill/>
        </p:spPr>
        <p:txBody>
          <a:bodyPr wrap="square" anchor="t" lIns="0" rIns="0" tIns="0" bIns="0">
            <a:spAutoFit/>
          </a:bodyPr>
          <a:lstStyle/>
          <a:p>
            <a:pPr algn="l"/>
            <a:r>
              <a:rPr sz="1200" b="0">
                <a:solidFill>
                  <a:srgbClr val="5F6368"/>
                </a:solidFill>
                <a:latin typeface="Arial"/>
              </a:rPr>
              <a:t>flagged clients who said yes</a:t>
            </a:r>
          </a:p>
        </p:txBody>
      </p:sp>
      <p:sp>
        <p:nvSpPr>
          <p:cNvPr id="22" name="Rectangle 21"/>
          <p:cNvSpPr/>
          <p:nvPr/>
        </p:nvSpPr>
        <p:spPr>
          <a:xfrm>
            <a:off x="3227832" y="3529584"/>
            <a:ext cx="4376653" cy="228600"/>
          </a:xfrm>
          <a:prstGeom prst="rect">
            <a:avLst/>
          </a:prstGeom>
          <a:solidFill>
            <a:srgbClr val="A9A49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695925" y="3529584"/>
            <a:ext cx="1280160" cy="237744"/>
          </a:xfrm>
          <a:prstGeom prst="rect">
            <a:avLst/>
          </a:prstGeom>
          <a:noFill/>
        </p:spPr>
        <p:txBody>
          <a:bodyPr wrap="square" anchor="ctr" lIns="0" rIns="0" tIns="0" bIns="0">
            <a:spAutoFit/>
          </a:bodyPr>
          <a:lstStyle/>
          <a:p>
            <a:pPr algn="l"/>
            <a:r>
              <a:rPr sz="1200" b="0">
                <a:solidFill>
                  <a:srgbClr val="5F6368"/>
                </a:solidFill>
                <a:latin typeface="Arial"/>
              </a:rPr>
              <a:t>36%</a:t>
            </a:r>
          </a:p>
        </p:txBody>
      </p:sp>
      <p:sp>
        <p:nvSpPr>
          <p:cNvPr id="24" name="Rectangle 23"/>
          <p:cNvSpPr/>
          <p:nvPr/>
        </p:nvSpPr>
        <p:spPr>
          <a:xfrm>
            <a:off x="3227832" y="3822192"/>
            <a:ext cx="5486400" cy="228600"/>
          </a:xfrm>
          <a:prstGeom prst="rect">
            <a:avLst/>
          </a:prstGeom>
          <a:solidFill>
            <a:srgbClr val="2F5F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805672" y="3822192"/>
            <a:ext cx="1280160" cy="237744"/>
          </a:xfrm>
          <a:prstGeom prst="rect">
            <a:avLst/>
          </a:prstGeom>
          <a:noFill/>
        </p:spPr>
        <p:txBody>
          <a:bodyPr wrap="square" anchor="ctr" lIns="0" rIns="0" tIns="0" bIns="0">
            <a:spAutoFit/>
          </a:bodyPr>
          <a:lstStyle/>
          <a:p>
            <a:pPr algn="l"/>
            <a:r>
              <a:rPr sz="1200" b="1">
                <a:solidFill>
                  <a:srgbClr val="22262B"/>
                </a:solidFill>
                <a:latin typeface="Arial"/>
              </a:rPr>
              <a:t>45%</a:t>
            </a:r>
          </a:p>
        </p:txBody>
      </p:sp>
      <p:sp>
        <p:nvSpPr>
          <p:cNvPr id="26" name="TextBox 25"/>
          <p:cNvSpPr txBox="1"/>
          <p:nvPr/>
        </p:nvSpPr>
        <p:spPr>
          <a:xfrm>
            <a:off x="9326880" y="3493008"/>
            <a:ext cx="2057400" cy="603504"/>
          </a:xfrm>
          <a:prstGeom prst="rect">
            <a:avLst/>
          </a:prstGeom>
          <a:noFill/>
        </p:spPr>
        <p:txBody>
          <a:bodyPr wrap="square" anchor="ctr" lIns="0" rIns="0" tIns="0" bIns="0">
            <a:spAutoFit/>
          </a:bodyPr>
          <a:lstStyle/>
          <a:p>
            <a:pPr algn="r"/>
            <a:r>
              <a:rPr sz="3200" b="1">
                <a:solidFill>
                  <a:srgbClr val="B5541C"/>
                </a:solidFill>
                <a:latin typeface="Arial"/>
              </a:rPr>
              <a:t>+9 pts</a:t>
            </a:r>
          </a:p>
        </p:txBody>
      </p:sp>
      <p:cxnSp>
        <p:nvCxnSpPr>
          <p:cNvPr id="27" name="Connector 26"/>
          <p:cNvCxnSpPr/>
          <p:nvPr/>
        </p:nvCxnSpPr>
        <p:spPr>
          <a:xfrm>
            <a:off x="813816" y="4215384"/>
            <a:ext cx="10570464" cy="0"/>
          </a:xfrm>
          <a:prstGeom prst="line">
            <a:avLst/>
          </a:prstGeom>
          <a:ln w="9525">
            <a:solidFill>
              <a:srgbClr val="DCD8CF"/>
            </a:solidFill>
          </a:ln>
        </p:spPr>
        <p:style>
          <a:lnRef idx="2">
            <a:schemeClr val="accent1"/>
          </a:lnRef>
          <a:fillRef idx="0">
            <a:schemeClr val="accent1"/>
          </a:fillRef>
          <a:effectRef idx="1">
            <a:schemeClr val="accent1"/>
          </a:effectRef>
          <a:fontRef idx="minor">
            <a:schemeClr val="tx1"/>
          </a:fontRef>
        </p:style>
      </p:cxnSp>
      <p:sp>
        <p:nvSpPr>
          <p:cNvPr id="28" name="TextBox 27"/>
          <p:cNvSpPr txBox="1"/>
          <p:nvPr/>
        </p:nvSpPr>
        <p:spPr>
          <a:xfrm>
            <a:off x="813816" y="4425696"/>
            <a:ext cx="2286000" cy="274320"/>
          </a:xfrm>
          <a:prstGeom prst="rect">
            <a:avLst/>
          </a:prstGeom>
          <a:noFill/>
        </p:spPr>
        <p:txBody>
          <a:bodyPr wrap="square" anchor="t" lIns="0" rIns="0" tIns="0" bIns="0">
            <a:spAutoFit/>
          </a:bodyPr>
          <a:lstStyle/>
          <a:p>
            <a:pPr algn="l"/>
            <a:r>
              <a:rPr sz="1600" b="1">
                <a:solidFill>
                  <a:srgbClr val="1D2125"/>
                </a:solidFill>
                <a:latin typeface="Arial"/>
              </a:rPr>
              <a:t>Subscribers found</a:t>
            </a:r>
          </a:p>
        </p:txBody>
      </p:sp>
      <p:sp>
        <p:nvSpPr>
          <p:cNvPr id="29" name="TextBox 28"/>
          <p:cNvSpPr txBox="1"/>
          <p:nvPr/>
        </p:nvSpPr>
        <p:spPr>
          <a:xfrm>
            <a:off x="813816" y="4718304"/>
            <a:ext cx="2286000" cy="274320"/>
          </a:xfrm>
          <a:prstGeom prst="rect">
            <a:avLst/>
          </a:prstGeom>
          <a:noFill/>
        </p:spPr>
        <p:txBody>
          <a:bodyPr wrap="square" anchor="t" lIns="0" rIns="0" tIns="0" bIns="0">
            <a:spAutoFit/>
          </a:bodyPr>
          <a:lstStyle/>
          <a:p>
            <a:pPr algn="l"/>
            <a:r>
              <a:rPr sz="1200" b="0">
                <a:solidFill>
                  <a:srgbClr val="5F6368"/>
                </a:solidFill>
                <a:latin typeface="Arial"/>
              </a:rPr>
              <a:t>out of 1,058</a:t>
            </a:r>
          </a:p>
        </p:txBody>
      </p:sp>
      <p:sp>
        <p:nvSpPr>
          <p:cNvPr id="30" name="Rectangle 29"/>
          <p:cNvSpPr/>
          <p:nvPr/>
        </p:nvSpPr>
        <p:spPr>
          <a:xfrm>
            <a:off x="3227832" y="4407408"/>
            <a:ext cx="5486400" cy="228600"/>
          </a:xfrm>
          <a:prstGeom prst="rect">
            <a:avLst/>
          </a:prstGeom>
          <a:solidFill>
            <a:srgbClr val="A9A49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805672" y="4407408"/>
            <a:ext cx="1280160" cy="237744"/>
          </a:xfrm>
          <a:prstGeom prst="rect">
            <a:avLst/>
          </a:prstGeom>
          <a:noFill/>
        </p:spPr>
        <p:txBody>
          <a:bodyPr wrap="square" anchor="ctr" lIns="0" rIns="0" tIns="0" bIns="0">
            <a:spAutoFit/>
          </a:bodyPr>
          <a:lstStyle/>
          <a:p>
            <a:pPr algn="l"/>
            <a:r>
              <a:rPr sz="1200" b="0">
                <a:solidFill>
                  <a:srgbClr val="5F6368"/>
                </a:solidFill>
                <a:latin typeface="Arial"/>
              </a:rPr>
              <a:t>676</a:t>
            </a:r>
          </a:p>
        </p:txBody>
      </p:sp>
      <p:sp>
        <p:nvSpPr>
          <p:cNvPr id="32" name="Rectangle 31"/>
          <p:cNvSpPr/>
          <p:nvPr/>
        </p:nvSpPr>
        <p:spPr>
          <a:xfrm>
            <a:off x="3227832" y="4700016"/>
            <a:ext cx="4561178" cy="228600"/>
          </a:xfrm>
          <a:prstGeom prst="rect">
            <a:avLst/>
          </a:prstGeom>
          <a:solidFill>
            <a:srgbClr val="2F5F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7880450" y="4700016"/>
            <a:ext cx="1280160" cy="237744"/>
          </a:xfrm>
          <a:prstGeom prst="rect">
            <a:avLst/>
          </a:prstGeom>
          <a:noFill/>
        </p:spPr>
        <p:txBody>
          <a:bodyPr wrap="square" anchor="ctr" lIns="0" rIns="0" tIns="0" bIns="0">
            <a:spAutoFit/>
          </a:bodyPr>
          <a:lstStyle/>
          <a:p>
            <a:pPr algn="l"/>
            <a:r>
              <a:rPr sz="1200" b="1">
                <a:solidFill>
                  <a:srgbClr val="22262B"/>
                </a:solidFill>
                <a:latin typeface="Arial"/>
              </a:rPr>
              <a:t>562</a:t>
            </a:r>
          </a:p>
        </p:txBody>
      </p:sp>
      <p:sp>
        <p:nvSpPr>
          <p:cNvPr id="34" name="TextBox 33"/>
          <p:cNvSpPr txBox="1"/>
          <p:nvPr/>
        </p:nvSpPr>
        <p:spPr>
          <a:xfrm>
            <a:off x="9326880" y="4370832"/>
            <a:ext cx="2057400" cy="603504"/>
          </a:xfrm>
          <a:prstGeom prst="rect">
            <a:avLst/>
          </a:prstGeom>
          <a:noFill/>
        </p:spPr>
        <p:txBody>
          <a:bodyPr wrap="square" anchor="ctr" lIns="0" rIns="0" tIns="0" bIns="0">
            <a:spAutoFit/>
          </a:bodyPr>
          <a:lstStyle/>
          <a:p>
            <a:pPr algn="r"/>
            <a:r>
              <a:rPr sz="3200" b="1">
                <a:solidFill>
                  <a:srgbClr val="A9A498"/>
                </a:solidFill>
                <a:latin typeface="Arial"/>
              </a:rPr>
              <a:t>−17%</a:t>
            </a:r>
          </a:p>
        </p:txBody>
      </p:sp>
      <p:cxnSp>
        <p:nvCxnSpPr>
          <p:cNvPr id="35" name="Connector 34"/>
          <p:cNvCxnSpPr/>
          <p:nvPr/>
        </p:nvCxnSpPr>
        <p:spPr>
          <a:xfrm>
            <a:off x="813816" y="5093208"/>
            <a:ext cx="10570464" cy="0"/>
          </a:xfrm>
          <a:prstGeom prst="line">
            <a:avLst/>
          </a:prstGeom>
          <a:ln w="9525">
            <a:solidFill>
              <a:srgbClr val="DCD8CF"/>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gradFill rotWithShape="1">
          <a:gsLst>
            <a:gs pos="0">
              <a:srgbClr val="E4EDF7"/>
            </a:gs>
            <a:gs pos="100000">
              <a:srgbClr val="F8EBDD"/>
            </a:gs>
          </a:gsLst>
          <a:lin scaled="0" ang="2700000"/>
        </a:gradFill>
        <a:effectLst/>
      </p:bgPr>
    </p:bg>
    <p:spTree>
      <p:nvGrpSpPr>
        <p:cNvPr id="1" name=""/>
        <p:cNvGrpSpPr/>
        <p:nvPr/>
      </p:nvGrpSpPr>
      <p:grpSpPr/>
      <p:sp>
        <p:nvSpPr>
          <p:cNvPr id="2" name="Rectangle 1"/>
          <p:cNvSpPr/>
          <p:nvPr/>
        </p:nvSpPr>
        <p:spPr>
          <a:xfrm>
            <a:off x="0" y="0"/>
            <a:ext cx="12191695" cy="91440"/>
          </a:xfrm>
          <a:prstGeom prst="rect">
            <a:avLst/>
          </a:prstGeom>
          <a:gradFill rotWithShape="1">
            <a:gsLst>
              <a:gs pos="0">
                <a:srgbClr val="2F5F9E"/>
              </a:gs>
              <a:gs pos="100000">
                <a:srgbClr val="E08A3C"/>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13816" y="813816"/>
            <a:ext cx="10881360" cy="274320"/>
          </a:xfrm>
          <a:prstGeom prst="rect">
            <a:avLst/>
          </a:prstGeom>
          <a:noFill/>
        </p:spPr>
        <p:txBody>
          <a:bodyPr wrap="square" anchor="t" lIns="0" rIns="0" tIns="0" bIns="0">
            <a:spAutoFit/>
          </a:bodyPr>
          <a:lstStyle/>
          <a:p>
            <a:pPr algn="l"/>
            <a:r>
              <a:rPr sz="1100" b="0" spc="300">
                <a:solidFill>
                  <a:srgbClr val="B5541C"/>
                </a:solidFill>
                <a:latin typeface="Courier New"/>
              </a:rPr>
              <a:t>MODEL CHOICE</a:t>
            </a:r>
          </a:p>
        </p:txBody>
      </p:sp>
      <p:sp>
        <p:nvSpPr>
          <p:cNvPr id="4" name="TextBox 3"/>
          <p:cNvSpPr txBox="1"/>
          <p:nvPr/>
        </p:nvSpPr>
        <p:spPr>
          <a:xfrm>
            <a:off x="813816" y="1243584"/>
            <a:ext cx="10881360" cy="640080"/>
          </a:xfrm>
          <a:prstGeom prst="rect">
            <a:avLst/>
          </a:prstGeom>
          <a:noFill/>
        </p:spPr>
        <p:txBody>
          <a:bodyPr wrap="square" anchor="t" lIns="0" rIns="0" tIns="0" bIns="0">
            <a:spAutoFit/>
          </a:bodyPr>
          <a:lstStyle/>
          <a:p>
            <a:pPr algn="l"/>
            <a:r>
              <a:rPr sz="3400" b="1">
                <a:solidFill>
                  <a:srgbClr val="1D2125"/>
                </a:solidFill>
                <a:latin typeface="Arial"/>
              </a:rPr>
              <a:t>Why we chose Gradient Boosting from six models</a:t>
            </a:r>
          </a:p>
        </p:txBody>
      </p:sp>
      <p:sp>
        <p:nvSpPr>
          <p:cNvPr id="5" name="TextBox 4"/>
          <p:cNvSpPr txBox="1"/>
          <p:nvPr/>
        </p:nvSpPr>
        <p:spPr>
          <a:xfrm>
            <a:off x="813816" y="6236208"/>
            <a:ext cx="9144000" cy="274320"/>
          </a:xfrm>
          <a:prstGeom prst="rect">
            <a:avLst/>
          </a:prstGeom>
          <a:noFill/>
        </p:spPr>
        <p:txBody>
          <a:bodyPr wrap="square" anchor="t" lIns="0" rIns="0" tIns="0" bIns="0">
            <a:spAutoFit/>
          </a:bodyPr>
          <a:lstStyle/>
          <a:p>
            <a:pPr algn="l"/>
            <a:r>
              <a:rPr sz="1100" b="0">
                <a:solidFill>
                  <a:srgbClr val="5F6368"/>
                </a:solidFill>
                <a:latin typeface="Arial"/>
              </a:rPr>
              <a:t>Test set, default 50% cut-off. The winner was picked on cross-validated ROC-AUC, never on test results.</a:t>
            </a:r>
          </a:p>
        </p:txBody>
      </p:sp>
      <p:sp>
        <p:nvSpPr>
          <p:cNvPr id="6" name="TextBox 5"/>
          <p:cNvSpPr txBox="1"/>
          <p:nvPr/>
        </p:nvSpPr>
        <p:spPr>
          <a:xfrm>
            <a:off x="10469880" y="6236208"/>
            <a:ext cx="914400" cy="274320"/>
          </a:xfrm>
          <a:prstGeom prst="rect">
            <a:avLst/>
          </a:prstGeom>
          <a:noFill/>
        </p:spPr>
        <p:txBody>
          <a:bodyPr wrap="square" anchor="t" lIns="0" rIns="0" tIns="0" bIns="0">
            <a:spAutoFit/>
          </a:bodyPr>
          <a:lstStyle/>
          <a:p>
            <a:pPr algn="r"/>
            <a:r>
              <a:rPr sz="1100" b="0">
                <a:solidFill>
                  <a:srgbClr val="5F6368"/>
                </a:solidFill>
                <a:latin typeface="Arial"/>
              </a:rPr>
              <a:t>10</a:t>
            </a:r>
          </a:p>
        </p:txBody>
      </p:sp>
      <p:graphicFrame>
        <p:nvGraphicFramePr>
          <p:cNvPr id="7" name="Table 6"/>
          <p:cNvGraphicFramePr>
            <a:graphicFrameLocks noGrp="1"/>
          </p:cNvGraphicFramePr>
          <p:nvPr/>
        </p:nvGraphicFramePr>
        <p:xfrm>
          <a:off x="822960" y="1993392"/>
          <a:ext cx="10552174" cy="2816352"/>
        </p:xfrm>
        <a:graphic>
          <a:graphicData uri="http://schemas.openxmlformats.org/drawingml/2006/table">
            <a:tbl>
              <a:tblPr>
                <a:tableStyleId>{5C22544A-7EE6-4342-B048-85BDC9FD1C3A}</a:tableStyleId>
              </a:tblPr>
              <a:tblGrid>
                <a:gridCol w="3422327"/>
                <a:gridCol w="2091422"/>
                <a:gridCol w="1901292"/>
                <a:gridCol w="1806228"/>
                <a:gridCol w="1330905"/>
              </a:tblGrid>
              <a:tr h="402336">
                <a:tc>
                  <a:txBody>
                    <a:bodyPr wrap="square"/>
                    <a:lstStyle/>
                    <a:p>
                      <a:r>
                        <a:rPr sz="1200" b="0">
                          <a:solidFill>
                            <a:srgbClr val="5F6368"/>
                          </a:solidFill>
                          <a:latin typeface="Arial"/>
                        </a:rPr>
                        <a:t>Model</a:t>
                      </a:r>
                    </a:p>
                  </a:txBody>
                  <a:tcPr marL="109728" marR="109728" anchor="ctr">
                    <a:solidFill>
                      <a:srgbClr val="F2F0EB"/>
                    </a:solidFill>
                  </a:tcPr>
                </a:tc>
                <a:tc>
                  <a:txBody>
                    <a:bodyPr wrap="square"/>
                    <a:lstStyle/>
                    <a:p>
                      <a:pPr algn="ctr"/>
                      <a:r>
                        <a:rPr sz="1200" b="0">
                          <a:solidFill>
                            <a:srgbClr val="5F6368"/>
                          </a:solidFill>
                          <a:latin typeface="Arial"/>
                        </a:rPr>
                        <a:t>Ranks clients well (ROC-AUC)</a:t>
                      </a:r>
                    </a:p>
                  </a:txBody>
                  <a:tcPr marL="109728" marR="109728" anchor="ctr">
                    <a:solidFill>
                      <a:srgbClr val="F2F0EB"/>
                    </a:solidFill>
                  </a:tcPr>
                </a:tc>
                <a:tc>
                  <a:txBody>
                    <a:bodyPr wrap="square"/>
                    <a:lstStyle/>
                    <a:p>
                      <a:pPr algn="ctr"/>
                      <a:r>
                        <a:rPr sz="1200" b="0">
                          <a:solidFill>
                            <a:srgbClr val="5F6368"/>
                          </a:solidFill>
                          <a:latin typeface="Arial"/>
                        </a:rPr>
                        <a:t>Finds subscribers (recall)</a:t>
                      </a:r>
                    </a:p>
                  </a:txBody>
                  <a:tcPr marL="109728" marR="109728" anchor="ctr">
                    <a:solidFill>
                      <a:srgbClr val="F2F0EB"/>
                    </a:solidFill>
                  </a:tcPr>
                </a:tc>
                <a:tc>
                  <a:txBody>
                    <a:bodyPr wrap="square"/>
                    <a:lstStyle/>
                    <a:p>
                      <a:pPr algn="ctr"/>
                      <a:r>
                        <a:rPr sz="1200" b="0">
                          <a:solidFill>
                            <a:srgbClr val="5F6368"/>
                          </a:solidFill>
                          <a:latin typeface="Arial"/>
                        </a:rPr>
                        <a:t>Hit rate (precision)</a:t>
                      </a:r>
                    </a:p>
                  </a:txBody>
                  <a:tcPr marL="109728" marR="109728" anchor="ctr">
                    <a:solidFill>
                      <a:srgbClr val="F2F0EB"/>
                    </a:solidFill>
                  </a:tcPr>
                </a:tc>
                <a:tc>
                  <a:txBody>
                    <a:bodyPr wrap="square"/>
                    <a:lstStyle/>
                    <a:p>
                      <a:pPr algn="ctr"/>
                      <a:r>
                        <a:rPr sz="1200" b="0">
                          <a:solidFill>
                            <a:srgbClr val="5F6368"/>
                          </a:solidFill>
                          <a:latin typeface="Arial"/>
                        </a:rPr>
                        <a:t>Accuracy</a:t>
                      </a:r>
                    </a:p>
                  </a:txBody>
                  <a:tcPr marL="109728" marR="109728" anchor="ctr">
                    <a:solidFill>
                      <a:srgbClr val="F2F0EB"/>
                    </a:solidFill>
                  </a:tcPr>
                </a:tc>
              </a:tr>
              <a:tr h="402336">
                <a:tc>
                  <a:txBody>
                    <a:bodyPr wrap="square"/>
                    <a:lstStyle/>
                    <a:p>
                      <a:r>
                        <a:rPr sz="1400" b="1">
                          <a:solidFill>
                            <a:srgbClr val="2F5F9E"/>
                          </a:solidFill>
                          <a:latin typeface="Arial"/>
                        </a:rPr>
                        <a:t>Gradient Boosting  · selected</a:t>
                      </a:r>
                    </a:p>
                  </a:txBody>
                  <a:tcPr marL="109728" marR="109728" anchor="ctr">
                    <a:solidFill>
                      <a:srgbClr val="E3EAF4"/>
                    </a:solidFill>
                  </a:tcPr>
                </a:tc>
                <a:tc>
                  <a:txBody>
                    <a:bodyPr wrap="square"/>
                    <a:lstStyle/>
                    <a:p>
                      <a:pPr algn="ctr"/>
                      <a:r>
                        <a:rPr sz="1400" b="0">
                          <a:solidFill>
                            <a:srgbClr val="22262B"/>
                          </a:solidFill>
                          <a:latin typeface="Arial"/>
                        </a:rPr>
                        <a:t>0.806</a:t>
                      </a:r>
                    </a:p>
                  </a:txBody>
                  <a:tcPr marL="109728" marR="109728" anchor="ctr">
                    <a:solidFill>
                      <a:srgbClr val="E3EAF4"/>
                    </a:solidFill>
                  </a:tcPr>
                </a:tc>
                <a:tc>
                  <a:txBody>
                    <a:bodyPr wrap="square"/>
                    <a:lstStyle/>
                    <a:p>
                      <a:pPr algn="ctr"/>
                      <a:r>
                        <a:rPr sz="1400" b="0">
                          <a:solidFill>
                            <a:srgbClr val="22262B"/>
                          </a:solidFill>
                          <a:latin typeface="Arial"/>
                        </a:rPr>
                        <a:t>64%</a:t>
                      </a:r>
                    </a:p>
                  </a:txBody>
                  <a:tcPr marL="109728" marR="109728" anchor="ctr">
                    <a:solidFill>
                      <a:srgbClr val="E3EAF4"/>
                    </a:solidFill>
                  </a:tcPr>
                </a:tc>
                <a:tc>
                  <a:txBody>
                    <a:bodyPr wrap="square"/>
                    <a:lstStyle/>
                    <a:p>
                      <a:pPr algn="ctr"/>
                      <a:r>
                        <a:rPr sz="1400" b="0">
                          <a:solidFill>
                            <a:srgbClr val="22262B"/>
                          </a:solidFill>
                          <a:latin typeface="Arial"/>
                        </a:rPr>
                        <a:t>36%</a:t>
                      </a:r>
                    </a:p>
                  </a:txBody>
                  <a:tcPr marL="109728" marR="109728" anchor="ctr">
                    <a:solidFill>
                      <a:srgbClr val="E3EAF4"/>
                    </a:solidFill>
                  </a:tcPr>
                </a:tc>
                <a:tc>
                  <a:txBody>
                    <a:bodyPr wrap="square"/>
                    <a:lstStyle/>
                    <a:p>
                      <a:pPr algn="ctr"/>
                      <a:r>
                        <a:rPr sz="1400" b="0">
                          <a:solidFill>
                            <a:srgbClr val="22262B"/>
                          </a:solidFill>
                          <a:latin typeface="Arial"/>
                        </a:rPr>
                        <a:t>82%</a:t>
                      </a:r>
                    </a:p>
                  </a:txBody>
                  <a:tcPr marL="109728" marR="109728" anchor="ctr">
                    <a:solidFill>
                      <a:srgbClr val="E3EAF4"/>
                    </a:solidFill>
                  </a:tcPr>
                </a:tc>
              </a:tr>
              <a:tr h="402336">
                <a:tc>
                  <a:txBody>
                    <a:bodyPr wrap="square"/>
                    <a:lstStyle/>
                    <a:p>
                      <a:r>
                        <a:rPr sz="1400" b="0">
                          <a:solidFill>
                            <a:srgbClr val="22262B"/>
                          </a:solidFill>
                          <a:latin typeface="Arial"/>
                        </a:rPr>
                        <a:t>Random Forest</a:t>
                      </a:r>
                    </a:p>
                  </a:txBody>
                  <a:tcPr marL="109728" marR="109728" anchor="ctr">
                    <a:solidFill>
                      <a:srgbClr val="FAF9F6"/>
                    </a:solidFill>
                  </a:tcPr>
                </a:tc>
                <a:tc>
                  <a:txBody>
                    <a:bodyPr wrap="square"/>
                    <a:lstStyle/>
                    <a:p>
                      <a:pPr algn="ctr"/>
                      <a:r>
                        <a:rPr sz="1400" b="0">
                          <a:solidFill>
                            <a:srgbClr val="22262B"/>
                          </a:solidFill>
                          <a:latin typeface="Arial"/>
                        </a:rPr>
                        <a:t>0.797</a:t>
                      </a:r>
                    </a:p>
                  </a:txBody>
                  <a:tcPr marL="109728" marR="109728" anchor="ctr">
                    <a:solidFill>
                      <a:srgbClr val="FAF9F6"/>
                    </a:solidFill>
                  </a:tcPr>
                </a:tc>
                <a:tc>
                  <a:txBody>
                    <a:bodyPr wrap="square"/>
                    <a:lstStyle/>
                    <a:p>
                      <a:pPr algn="ctr"/>
                      <a:r>
                        <a:rPr sz="1400" b="0">
                          <a:solidFill>
                            <a:srgbClr val="22262B"/>
                          </a:solidFill>
                          <a:latin typeface="Arial"/>
                        </a:rPr>
                        <a:t>58%</a:t>
                      </a:r>
                    </a:p>
                  </a:txBody>
                  <a:tcPr marL="109728" marR="109728" anchor="ctr">
                    <a:solidFill>
                      <a:srgbClr val="FAF9F6"/>
                    </a:solidFill>
                  </a:tcPr>
                </a:tc>
                <a:tc>
                  <a:txBody>
                    <a:bodyPr wrap="square"/>
                    <a:lstStyle/>
                    <a:p>
                      <a:pPr algn="ctr"/>
                      <a:r>
                        <a:rPr sz="1400" b="0">
                          <a:solidFill>
                            <a:srgbClr val="22262B"/>
                          </a:solidFill>
                          <a:latin typeface="Arial"/>
                        </a:rPr>
                        <a:t>38%</a:t>
                      </a:r>
                    </a:p>
                  </a:txBody>
                  <a:tcPr marL="109728" marR="109728" anchor="ctr">
                    <a:solidFill>
                      <a:srgbClr val="FAF9F6"/>
                    </a:solidFill>
                  </a:tcPr>
                </a:tc>
                <a:tc>
                  <a:txBody>
                    <a:bodyPr wrap="square"/>
                    <a:lstStyle/>
                    <a:p>
                      <a:pPr algn="ctr"/>
                      <a:r>
                        <a:rPr sz="1400" b="0">
                          <a:solidFill>
                            <a:srgbClr val="22262B"/>
                          </a:solidFill>
                          <a:latin typeface="Arial"/>
                        </a:rPr>
                        <a:t>84%</a:t>
                      </a:r>
                    </a:p>
                  </a:txBody>
                  <a:tcPr marL="109728" marR="109728" anchor="ctr">
                    <a:solidFill>
                      <a:srgbClr val="FAF9F6"/>
                    </a:solidFill>
                  </a:tcPr>
                </a:tc>
              </a:tr>
              <a:tr h="402336">
                <a:tc>
                  <a:txBody>
                    <a:bodyPr wrap="square"/>
                    <a:lstStyle/>
                    <a:p>
                      <a:r>
                        <a:rPr sz="1400" b="0">
                          <a:solidFill>
                            <a:srgbClr val="22262B"/>
                          </a:solidFill>
                          <a:latin typeface="Arial"/>
                        </a:rPr>
                        <a:t>Logistic Regression</a:t>
                      </a:r>
                    </a:p>
                  </a:txBody>
                  <a:tcPr marL="109728" marR="109728" anchor="ctr">
                    <a:solidFill>
                      <a:srgbClr val="FAF9F6"/>
                    </a:solidFill>
                  </a:tcPr>
                </a:tc>
                <a:tc>
                  <a:txBody>
                    <a:bodyPr wrap="square"/>
                    <a:lstStyle/>
                    <a:p>
                      <a:pPr algn="ctr"/>
                      <a:r>
                        <a:rPr sz="1400" b="0">
                          <a:solidFill>
                            <a:srgbClr val="22262B"/>
                          </a:solidFill>
                          <a:latin typeface="Arial"/>
                        </a:rPr>
                        <a:t>0.776</a:t>
                      </a:r>
                    </a:p>
                  </a:txBody>
                  <a:tcPr marL="109728" marR="109728" anchor="ctr">
                    <a:solidFill>
                      <a:srgbClr val="FAF9F6"/>
                    </a:solidFill>
                  </a:tcPr>
                </a:tc>
                <a:tc>
                  <a:txBody>
                    <a:bodyPr wrap="square"/>
                    <a:lstStyle/>
                    <a:p>
                      <a:pPr algn="ctr"/>
                      <a:r>
                        <a:rPr sz="1400" b="0">
                          <a:solidFill>
                            <a:srgbClr val="22262B"/>
                          </a:solidFill>
                          <a:latin typeface="Arial"/>
                        </a:rPr>
                        <a:t>64%</a:t>
                      </a:r>
                    </a:p>
                  </a:txBody>
                  <a:tcPr marL="109728" marR="109728" anchor="ctr">
                    <a:solidFill>
                      <a:srgbClr val="FAF9F6"/>
                    </a:solidFill>
                  </a:tcPr>
                </a:tc>
                <a:tc>
                  <a:txBody>
                    <a:bodyPr wrap="square"/>
                    <a:lstStyle/>
                    <a:p>
                      <a:pPr algn="ctr"/>
                      <a:r>
                        <a:rPr sz="1400" b="0">
                          <a:solidFill>
                            <a:srgbClr val="22262B"/>
                          </a:solidFill>
                          <a:latin typeface="Arial"/>
                        </a:rPr>
                        <a:t>27%</a:t>
                      </a:r>
                    </a:p>
                  </a:txBody>
                  <a:tcPr marL="109728" marR="109728" anchor="ctr">
                    <a:solidFill>
                      <a:srgbClr val="FAF9F6"/>
                    </a:solidFill>
                  </a:tcPr>
                </a:tc>
                <a:tc>
                  <a:txBody>
                    <a:bodyPr wrap="square"/>
                    <a:lstStyle/>
                    <a:p>
                      <a:pPr algn="ctr"/>
                      <a:r>
                        <a:rPr sz="1400" b="0">
                          <a:solidFill>
                            <a:srgbClr val="22262B"/>
                          </a:solidFill>
                          <a:latin typeface="Arial"/>
                        </a:rPr>
                        <a:t>76%</a:t>
                      </a:r>
                    </a:p>
                  </a:txBody>
                  <a:tcPr marL="109728" marR="109728" anchor="ctr">
                    <a:solidFill>
                      <a:srgbClr val="FAF9F6"/>
                    </a:solidFill>
                  </a:tcPr>
                </a:tc>
              </a:tr>
              <a:tr h="402336">
                <a:tc>
                  <a:txBody>
                    <a:bodyPr wrap="square"/>
                    <a:lstStyle/>
                    <a:p>
                      <a:r>
                        <a:rPr sz="1400" b="0">
                          <a:solidFill>
                            <a:srgbClr val="22262B"/>
                          </a:solidFill>
                          <a:latin typeface="Arial"/>
                        </a:rPr>
                        <a:t>Decision Tree</a:t>
                      </a:r>
                    </a:p>
                  </a:txBody>
                  <a:tcPr marL="109728" marR="109728" anchor="ctr">
                    <a:solidFill>
                      <a:srgbClr val="FAF9F6"/>
                    </a:solidFill>
                  </a:tcPr>
                </a:tc>
                <a:tc>
                  <a:txBody>
                    <a:bodyPr wrap="square"/>
                    <a:lstStyle/>
                    <a:p>
                      <a:pPr algn="ctr"/>
                      <a:r>
                        <a:rPr sz="1400" b="0">
                          <a:solidFill>
                            <a:srgbClr val="22262B"/>
                          </a:solidFill>
                          <a:latin typeface="Arial"/>
                        </a:rPr>
                        <a:t>0.773</a:t>
                      </a:r>
                    </a:p>
                  </a:txBody>
                  <a:tcPr marL="109728" marR="109728" anchor="ctr">
                    <a:solidFill>
                      <a:srgbClr val="FAF9F6"/>
                    </a:solidFill>
                  </a:tcPr>
                </a:tc>
                <a:tc>
                  <a:txBody>
                    <a:bodyPr wrap="square"/>
                    <a:lstStyle/>
                    <a:p>
                      <a:pPr algn="ctr"/>
                      <a:r>
                        <a:rPr sz="1400" b="0">
                          <a:solidFill>
                            <a:srgbClr val="22262B"/>
                          </a:solidFill>
                          <a:latin typeface="Arial"/>
                        </a:rPr>
                        <a:t>58%</a:t>
                      </a:r>
                    </a:p>
                  </a:txBody>
                  <a:tcPr marL="109728" marR="109728" anchor="ctr">
                    <a:solidFill>
                      <a:srgbClr val="FAF9F6"/>
                    </a:solidFill>
                  </a:tcPr>
                </a:tc>
                <a:tc>
                  <a:txBody>
                    <a:bodyPr wrap="square"/>
                    <a:lstStyle/>
                    <a:p>
                      <a:pPr algn="ctr"/>
                      <a:r>
                        <a:rPr sz="1400" b="0">
                          <a:solidFill>
                            <a:srgbClr val="22262B"/>
                          </a:solidFill>
                          <a:latin typeface="Arial"/>
                        </a:rPr>
                        <a:t>34%</a:t>
                      </a:r>
                    </a:p>
                  </a:txBody>
                  <a:tcPr marL="109728" marR="109728" anchor="ctr">
                    <a:solidFill>
                      <a:srgbClr val="FAF9F6"/>
                    </a:solidFill>
                  </a:tcPr>
                </a:tc>
                <a:tc>
                  <a:txBody>
                    <a:bodyPr wrap="square"/>
                    <a:lstStyle/>
                    <a:p>
                      <a:pPr algn="ctr"/>
                      <a:r>
                        <a:rPr sz="1400" b="0">
                          <a:solidFill>
                            <a:srgbClr val="22262B"/>
                          </a:solidFill>
                          <a:latin typeface="Arial"/>
                        </a:rPr>
                        <a:t>82%</a:t>
                      </a:r>
                    </a:p>
                  </a:txBody>
                  <a:tcPr marL="109728" marR="109728" anchor="ctr">
                    <a:solidFill>
                      <a:srgbClr val="FAF9F6"/>
                    </a:solidFill>
                  </a:tcPr>
                </a:tc>
              </a:tr>
              <a:tr h="402336">
                <a:tc>
                  <a:txBody>
                    <a:bodyPr wrap="square"/>
                    <a:lstStyle/>
                    <a:p>
                      <a:r>
                        <a:rPr sz="1400" b="0">
                          <a:solidFill>
                            <a:srgbClr val="22262B"/>
                          </a:solidFill>
                          <a:latin typeface="Arial"/>
                        </a:rPr>
                        <a:t>K-Nearest Neighbours</a:t>
                      </a:r>
                    </a:p>
                  </a:txBody>
                  <a:tcPr marL="109728" marR="109728" anchor="ctr">
                    <a:solidFill>
                      <a:srgbClr val="FAF9F6"/>
                    </a:solidFill>
                  </a:tcPr>
                </a:tc>
                <a:tc>
                  <a:txBody>
                    <a:bodyPr wrap="square"/>
                    <a:lstStyle/>
                    <a:p>
                      <a:pPr algn="ctr"/>
                      <a:r>
                        <a:rPr sz="1400" b="0">
                          <a:solidFill>
                            <a:srgbClr val="22262B"/>
                          </a:solidFill>
                          <a:latin typeface="Arial"/>
                        </a:rPr>
                        <a:t>0.767</a:t>
                      </a:r>
                    </a:p>
                  </a:txBody>
                  <a:tcPr marL="109728" marR="109728" anchor="ctr">
                    <a:solidFill>
                      <a:srgbClr val="FAF9F6"/>
                    </a:solidFill>
                  </a:tcPr>
                </a:tc>
                <a:tc>
                  <a:txBody>
                    <a:bodyPr wrap="square"/>
                    <a:lstStyle/>
                    <a:p>
                      <a:pPr algn="ctr"/>
                      <a:r>
                        <a:rPr sz="1400" b="0">
                          <a:solidFill>
                            <a:srgbClr val="22262B"/>
                          </a:solidFill>
                          <a:latin typeface="Arial"/>
                        </a:rPr>
                        <a:t>12%</a:t>
                      </a:r>
                    </a:p>
                  </a:txBody>
                  <a:tcPr marL="109728" marR="109728" anchor="ctr">
                    <a:solidFill>
                      <a:srgbClr val="FAF9F6"/>
                    </a:solidFill>
                  </a:tcPr>
                </a:tc>
                <a:tc>
                  <a:txBody>
                    <a:bodyPr wrap="square"/>
                    <a:lstStyle/>
                    <a:p>
                      <a:pPr algn="ctr"/>
                      <a:r>
                        <a:rPr sz="1400" b="0">
                          <a:solidFill>
                            <a:srgbClr val="22262B"/>
                          </a:solidFill>
                          <a:latin typeface="Arial"/>
                        </a:rPr>
                        <a:t>67%</a:t>
                      </a:r>
                    </a:p>
                  </a:txBody>
                  <a:tcPr marL="109728" marR="109728" anchor="ctr">
                    <a:solidFill>
                      <a:srgbClr val="FAF9F6"/>
                    </a:solidFill>
                  </a:tcPr>
                </a:tc>
                <a:tc>
                  <a:txBody>
                    <a:bodyPr wrap="square"/>
                    <a:lstStyle/>
                    <a:p>
                      <a:pPr algn="ctr"/>
                      <a:r>
                        <a:rPr sz="1400" b="0">
                          <a:solidFill>
                            <a:srgbClr val="22262B"/>
                          </a:solidFill>
                          <a:latin typeface="Arial"/>
                        </a:rPr>
                        <a:t>89%</a:t>
                      </a:r>
                    </a:p>
                  </a:txBody>
                  <a:tcPr marL="109728" marR="109728" anchor="ctr">
                    <a:solidFill>
                      <a:srgbClr val="FAF9F6"/>
                    </a:solidFill>
                  </a:tcPr>
                </a:tc>
              </a:tr>
              <a:tr h="402336">
                <a:tc>
                  <a:txBody>
                    <a:bodyPr wrap="square"/>
                    <a:lstStyle/>
                    <a:p>
                      <a:r>
                        <a:rPr sz="1400" b="0">
                          <a:solidFill>
                            <a:srgbClr val="22262B"/>
                          </a:solidFill>
                          <a:latin typeface="Arial"/>
                        </a:rPr>
                        <a:t>Naive Bayes</a:t>
                      </a:r>
                    </a:p>
                  </a:txBody>
                  <a:tcPr marL="109728" marR="109728" anchor="ctr">
                    <a:solidFill>
                      <a:srgbClr val="FAF9F6"/>
                    </a:solidFill>
                  </a:tcPr>
                </a:tc>
                <a:tc>
                  <a:txBody>
                    <a:bodyPr wrap="square"/>
                    <a:lstStyle/>
                    <a:p>
                      <a:pPr algn="ctr"/>
                      <a:r>
                        <a:rPr sz="1400" b="0">
                          <a:solidFill>
                            <a:srgbClr val="22262B"/>
                          </a:solidFill>
                          <a:latin typeface="Arial"/>
                        </a:rPr>
                        <a:t>0.752</a:t>
                      </a:r>
                    </a:p>
                  </a:txBody>
                  <a:tcPr marL="109728" marR="109728" anchor="ctr">
                    <a:solidFill>
                      <a:srgbClr val="FAF9F6"/>
                    </a:solidFill>
                  </a:tcPr>
                </a:tc>
                <a:tc>
                  <a:txBody>
                    <a:bodyPr wrap="square"/>
                    <a:lstStyle/>
                    <a:p>
                      <a:pPr algn="ctr"/>
                      <a:r>
                        <a:rPr sz="1400" b="0">
                          <a:solidFill>
                            <a:srgbClr val="22262B"/>
                          </a:solidFill>
                          <a:latin typeface="Arial"/>
                        </a:rPr>
                        <a:t>47%</a:t>
                      </a:r>
                    </a:p>
                  </a:txBody>
                  <a:tcPr marL="109728" marR="109728" anchor="ctr">
                    <a:solidFill>
                      <a:srgbClr val="FAF9F6"/>
                    </a:solidFill>
                  </a:tcPr>
                </a:tc>
                <a:tc>
                  <a:txBody>
                    <a:bodyPr wrap="square"/>
                    <a:lstStyle/>
                    <a:p>
                      <a:pPr algn="ctr"/>
                      <a:r>
                        <a:rPr sz="1400" b="0">
                          <a:solidFill>
                            <a:srgbClr val="22262B"/>
                          </a:solidFill>
                          <a:latin typeface="Arial"/>
                        </a:rPr>
                        <a:t>35%</a:t>
                      </a:r>
                    </a:p>
                  </a:txBody>
                  <a:tcPr marL="109728" marR="109728" anchor="ctr">
                    <a:solidFill>
                      <a:srgbClr val="FAF9F6"/>
                    </a:solidFill>
                  </a:tcPr>
                </a:tc>
                <a:tc>
                  <a:txBody>
                    <a:bodyPr wrap="square"/>
                    <a:lstStyle/>
                    <a:p>
                      <a:pPr algn="ctr"/>
                      <a:r>
                        <a:rPr sz="1400" b="0">
                          <a:solidFill>
                            <a:srgbClr val="22262B"/>
                          </a:solidFill>
                          <a:latin typeface="Arial"/>
                        </a:rPr>
                        <a:t>84%</a:t>
                      </a:r>
                    </a:p>
                  </a:txBody>
                  <a:tcPr marL="109728" marR="109728" anchor="ctr">
                    <a:solidFill>
                      <a:srgbClr val="FAF9F6"/>
                    </a:solidFill>
                  </a:tcPr>
                </a:tc>
              </a:tr>
            </a:tbl>
          </a:graphicData>
        </a:graphic>
      </p:graphicFrame>
      <p:sp>
        <p:nvSpPr>
          <p:cNvPr id="8" name="TextBox 7"/>
          <p:cNvSpPr txBox="1"/>
          <p:nvPr/>
        </p:nvSpPr>
        <p:spPr>
          <a:xfrm>
            <a:off x="813816" y="5029200"/>
            <a:ext cx="10515600" cy="548640"/>
          </a:xfrm>
          <a:prstGeom prst="rect">
            <a:avLst/>
          </a:prstGeom>
          <a:noFill/>
        </p:spPr>
        <p:txBody>
          <a:bodyPr wrap="square" anchor="t" lIns="0" rIns="0" tIns="0" bIns="0">
            <a:spAutoFit/>
          </a:bodyPr>
          <a:lstStyle/>
          <a:p>
            <a:pPr algn="l"/>
            <a:r>
              <a:rPr sz="1500" b="1">
                <a:solidFill>
                  <a:srgbClr val="1D2125"/>
                </a:solidFill>
                <a:latin typeface="Arial"/>
              </a:rPr>
              <a:t>Gradient Boosting ranked clients best both in cross-validation and on unseen data. KNN looks most accurate (89%) but finds only </a:t>
            </a:r>
            <a:r>
              <a:rPr sz="1500" b="1">
                <a:solidFill>
                  <a:srgbClr val="B5541C"/>
                </a:solidFill>
                <a:latin typeface="Arial"/>
              </a:rPr>
              <a:t>12%</a:t>
            </a:r>
            <a:r>
              <a:rPr sz="1500" b="1">
                <a:solidFill>
                  <a:srgbClr val="1D2125"/>
                </a:solidFill>
                <a:latin typeface="Arial"/>
              </a:rPr>
              <a:t> of subscribers.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gradFill rotWithShape="1">
          <a:gsLst>
            <a:gs pos="0">
              <a:srgbClr val="E4EDF7"/>
            </a:gs>
            <a:gs pos="100000">
              <a:srgbClr val="F8EBDD"/>
            </a:gs>
          </a:gsLst>
          <a:lin scaled="0" ang="2700000"/>
        </a:gradFill>
        <a:effectLst/>
      </p:bgPr>
    </p:bg>
    <p:spTree>
      <p:nvGrpSpPr>
        <p:cNvPr id="1" name=""/>
        <p:cNvGrpSpPr/>
        <p:nvPr/>
      </p:nvGrpSpPr>
      <p:grpSpPr/>
      <p:sp>
        <p:nvSpPr>
          <p:cNvPr id="2" name="Rectangle 1"/>
          <p:cNvSpPr/>
          <p:nvPr/>
        </p:nvSpPr>
        <p:spPr>
          <a:xfrm>
            <a:off x="0" y="0"/>
            <a:ext cx="12191695" cy="91440"/>
          </a:xfrm>
          <a:prstGeom prst="rect">
            <a:avLst/>
          </a:prstGeom>
          <a:gradFill rotWithShape="1">
            <a:gsLst>
              <a:gs pos="0">
                <a:srgbClr val="2F5F9E"/>
              </a:gs>
              <a:gs pos="100000">
                <a:srgbClr val="E08A3C"/>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13816" y="813816"/>
            <a:ext cx="10881360" cy="274320"/>
          </a:xfrm>
          <a:prstGeom prst="rect">
            <a:avLst/>
          </a:prstGeom>
          <a:noFill/>
        </p:spPr>
        <p:txBody>
          <a:bodyPr wrap="square" anchor="t" lIns="0" rIns="0" tIns="0" bIns="0">
            <a:spAutoFit/>
          </a:bodyPr>
          <a:lstStyle/>
          <a:p>
            <a:pPr algn="l"/>
            <a:r>
              <a:rPr sz="1100" b="0" spc="300">
                <a:solidFill>
                  <a:srgbClr val="B5541C"/>
                </a:solidFill>
                <a:latin typeface="Courier New"/>
              </a:rPr>
              <a:t>WHAT DRIVES A PREDICTION</a:t>
            </a:r>
          </a:p>
        </p:txBody>
      </p:sp>
      <p:sp>
        <p:nvSpPr>
          <p:cNvPr id="4" name="TextBox 3"/>
          <p:cNvSpPr txBox="1"/>
          <p:nvPr/>
        </p:nvSpPr>
        <p:spPr>
          <a:xfrm>
            <a:off x="813816" y="1243584"/>
            <a:ext cx="10881360" cy="640080"/>
          </a:xfrm>
          <a:prstGeom prst="rect">
            <a:avLst/>
          </a:prstGeom>
          <a:noFill/>
        </p:spPr>
        <p:txBody>
          <a:bodyPr wrap="square" anchor="t" lIns="0" rIns="0" tIns="0" bIns="0">
            <a:spAutoFit/>
          </a:bodyPr>
          <a:lstStyle/>
          <a:p>
            <a:pPr algn="l"/>
            <a:r>
              <a:rPr sz="3400" b="1">
                <a:solidFill>
                  <a:srgbClr val="1D2125"/>
                </a:solidFill>
                <a:latin typeface="Arial"/>
              </a:rPr>
              <a:t>The model listens to timing, channel and history</a:t>
            </a:r>
          </a:p>
        </p:txBody>
      </p:sp>
      <p:sp>
        <p:nvSpPr>
          <p:cNvPr id="5" name="TextBox 4"/>
          <p:cNvSpPr txBox="1"/>
          <p:nvPr/>
        </p:nvSpPr>
        <p:spPr>
          <a:xfrm>
            <a:off x="813816" y="6236208"/>
            <a:ext cx="9144000" cy="274320"/>
          </a:xfrm>
          <a:prstGeom prst="rect">
            <a:avLst/>
          </a:prstGeom>
          <a:noFill/>
        </p:spPr>
        <p:txBody>
          <a:bodyPr wrap="square" anchor="t" lIns="0" rIns="0" tIns="0" bIns="0">
            <a:spAutoFit/>
          </a:bodyPr>
          <a:lstStyle/>
          <a:p>
            <a:pPr algn="l"/>
            <a:r>
              <a:rPr sz="1100" b="0">
                <a:solidFill>
                  <a:srgbClr val="5F6368"/>
                </a:solidFill>
                <a:latin typeface="Arial"/>
              </a:rPr>
              <a:t>Term Deposit Predictor  ·  Data Miners</a:t>
            </a:r>
          </a:p>
        </p:txBody>
      </p:sp>
      <p:sp>
        <p:nvSpPr>
          <p:cNvPr id="6" name="TextBox 5"/>
          <p:cNvSpPr txBox="1"/>
          <p:nvPr/>
        </p:nvSpPr>
        <p:spPr>
          <a:xfrm>
            <a:off x="10469880" y="6236208"/>
            <a:ext cx="914400" cy="274320"/>
          </a:xfrm>
          <a:prstGeom prst="rect">
            <a:avLst/>
          </a:prstGeom>
          <a:noFill/>
        </p:spPr>
        <p:txBody>
          <a:bodyPr wrap="square" anchor="t" lIns="0" rIns="0" tIns="0" bIns="0">
            <a:spAutoFit/>
          </a:bodyPr>
          <a:lstStyle/>
          <a:p>
            <a:pPr algn="r"/>
            <a:r>
              <a:rPr sz="1100" b="0">
                <a:solidFill>
                  <a:srgbClr val="5F6368"/>
                </a:solidFill>
                <a:latin typeface="Arial"/>
              </a:rPr>
              <a:t>11</a:t>
            </a:r>
          </a:p>
        </p:txBody>
      </p:sp>
      <p:sp>
        <p:nvSpPr>
          <p:cNvPr id="7" name="TextBox 6"/>
          <p:cNvSpPr txBox="1"/>
          <p:nvPr/>
        </p:nvSpPr>
        <p:spPr>
          <a:xfrm>
            <a:off x="813816" y="2103120"/>
            <a:ext cx="2651760" cy="310896"/>
          </a:xfrm>
          <a:prstGeom prst="rect">
            <a:avLst/>
          </a:prstGeom>
          <a:noFill/>
        </p:spPr>
        <p:txBody>
          <a:bodyPr wrap="square" anchor="ctr" lIns="0" rIns="0" tIns="0" bIns="0">
            <a:spAutoFit/>
          </a:bodyPr>
          <a:lstStyle/>
          <a:p>
            <a:pPr algn="l"/>
            <a:r>
              <a:rPr sz="1400" b="1">
                <a:solidFill>
                  <a:srgbClr val="1D2125"/>
                </a:solidFill>
                <a:latin typeface="Arial"/>
              </a:rPr>
              <a:t>Month of the call</a:t>
            </a:r>
          </a:p>
        </p:txBody>
      </p:sp>
      <p:sp>
        <p:nvSpPr>
          <p:cNvPr id="8" name="Rectangle 7"/>
          <p:cNvSpPr/>
          <p:nvPr/>
        </p:nvSpPr>
        <p:spPr>
          <a:xfrm>
            <a:off x="3566160" y="2139696"/>
            <a:ext cx="4206240" cy="246888"/>
          </a:xfrm>
          <a:prstGeom prst="rect">
            <a:avLst/>
          </a:prstGeom>
          <a:solidFill>
            <a:srgbClr val="2F5F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13816" y="2606040"/>
            <a:ext cx="2651760" cy="310896"/>
          </a:xfrm>
          <a:prstGeom prst="rect">
            <a:avLst/>
          </a:prstGeom>
          <a:noFill/>
        </p:spPr>
        <p:txBody>
          <a:bodyPr wrap="square" anchor="ctr" lIns="0" rIns="0" tIns="0" bIns="0">
            <a:spAutoFit/>
          </a:bodyPr>
          <a:lstStyle/>
          <a:p>
            <a:pPr algn="l"/>
            <a:r>
              <a:rPr sz="1400" b="1">
                <a:solidFill>
                  <a:srgbClr val="1D2125"/>
                </a:solidFill>
                <a:latin typeface="Arial"/>
              </a:rPr>
              <a:t>Contact channel</a:t>
            </a:r>
          </a:p>
        </p:txBody>
      </p:sp>
      <p:sp>
        <p:nvSpPr>
          <p:cNvPr id="10" name="Rectangle 9"/>
          <p:cNvSpPr/>
          <p:nvPr/>
        </p:nvSpPr>
        <p:spPr>
          <a:xfrm>
            <a:off x="3566160" y="2642616"/>
            <a:ext cx="3978479" cy="246888"/>
          </a:xfrm>
          <a:prstGeom prst="rect">
            <a:avLst/>
          </a:prstGeom>
          <a:solidFill>
            <a:srgbClr val="2F5F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13816" y="3108960"/>
            <a:ext cx="2651760" cy="310896"/>
          </a:xfrm>
          <a:prstGeom prst="rect">
            <a:avLst/>
          </a:prstGeom>
          <a:noFill/>
        </p:spPr>
        <p:txBody>
          <a:bodyPr wrap="square" anchor="ctr" lIns="0" rIns="0" tIns="0" bIns="0">
            <a:spAutoFit/>
          </a:bodyPr>
          <a:lstStyle/>
          <a:p>
            <a:pPr algn="l"/>
            <a:r>
              <a:rPr sz="1400" b="1">
                <a:solidFill>
                  <a:srgbClr val="1D2125"/>
                </a:solidFill>
                <a:latin typeface="Arial"/>
              </a:rPr>
              <a:t>Last campaign's outcome</a:t>
            </a:r>
          </a:p>
        </p:txBody>
      </p:sp>
      <p:sp>
        <p:nvSpPr>
          <p:cNvPr id="12" name="Rectangle 11"/>
          <p:cNvSpPr/>
          <p:nvPr/>
        </p:nvSpPr>
        <p:spPr>
          <a:xfrm>
            <a:off x="3566160" y="3145536"/>
            <a:ext cx="1374719" cy="246888"/>
          </a:xfrm>
          <a:prstGeom prst="rect">
            <a:avLst/>
          </a:prstGeom>
          <a:solidFill>
            <a:srgbClr val="2F5F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13816" y="3611880"/>
            <a:ext cx="2651760" cy="310896"/>
          </a:xfrm>
          <a:prstGeom prst="rect">
            <a:avLst/>
          </a:prstGeom>
          <a:noFill/>
        </p:spPr>
        <p:txBody>
          <a:bodyPr wrap="square" anchor="ctr" lIns="0" rIns="0" tIns="0" bIns="0">
            <a:spAutoFit/>
          </a:bodyPr>
          <a:lstStyle/>
          <a:p>
            <a:pPr algn="l"/>
            <a:r>
              <a:rPr sz="1400" b="0">
                <a:solidFill>
                  <a:srgbClr val="22262B"/>
                </a:solidFill>
                <a:latin typeface="Arial"/>
              </a:rPr>
              <a:t>Day of the month</a:t>
            </a:r>
          </a:p>
        </p:txBody>
      </p:sp>
      <p:sp>
        <p:nvSpPr>
          <p:cNvPr id="14" name="Rectangle 13"/>
          <p:cNvSpPr/>
          <p:nvPr/>
        </p:nvSpPr>
        <p:spPr>
          <a:xfrm>
            <a:off x="3566160" y="3648456"/>
            <a:ext cx="1195881" cy="246888"/>
          </a:xfrm>
          <a:prstGeom prst="rect">
            <a:avLst/>
          </a:prstGeom>
          <a:solidFill>
            <a:srgbClr val="A9A49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13816" y="4114800"/>
            <a:ext cx="2651760" cy="310896"/>
          </a:xfrm>
          <a:prstGeom prst="rect">
            <a:avLst/>
          </a:prstGeom>
          <a:noFill/>
        </p:spPr>
        <p:txBody>
          <a:bodyPr wrap="square" anchor="ctr" lIns="0" rIns="0" tIns="0" bIns="0">
            <a:spAutoFit/>
          </a:bodyPr>
          <a:lstStyle/>
          <a:p>
            <a:pPr algn="l"/>
            <a:r>
              <a:rPr sz="1400" b="0">
                <a:solidFill>
                  <a:srgbClr val="22262B"/>
                </a:solidFill>
                <a:latin typeface="Arial"/>
              </a:rPr>
              <a:t>Age</a:t>
            </a:r>
          </a:p>
        </p:txBody>
      </p:sp>
      <p:sp>
        <p:nvSpPr>
          <p:cNvPr id="16" name="Rectangle 15"/>
          <p:cNvSpPr/>
          <p:nvPr/>
        </p:nvSpPr>
        <p:spPr>
          <a:xfrm>
            <a:off x="3566160" y="4151376"/>
            <a:ext cx="647406" cy="246888"/>
          </a:xfrm>
          <a:prstGeom prst="rect">
            <a:avLst/>
          </a:prstGeom>
          <a:solidFill>
            <a:srgbClr val="A9A49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13816" y="4617720"/>
            <a:ext cx="2651760" cy="310896"/>
          </a:xfrm>
          <a:prstGeom prst="rect">
            <a:avLst/>
          </a:prstGeom>
          <a:noFill/>
        </p:spPr>
        <p:txBody>
          <a:bodyPr wrap="square" anchor="ctr" lIns="0" rIns="0" tIns="0" bIns="0">
            <a:spAutoFit/>
          </a:bodyPr>
          <a:lstStyle/>
          <a:p>
            <a:pPr algn="l"/>
            <a:r>
              <a:rPr sz="1400" b="0">
                <a:solidFill>
                  <a:srgbClr val="22262B"/>
                </a:solidFill>
                <a:latin typeface="Arial"/>
              </a:rPr>
              <a:t>Has a housing loan</a:t>
            </a:r>
          </a:p>
        </p:txBody>
      </p:sp>
      <p:sp>
        <p:nvSpPr>
          <p:cNvPr id="18" name="Rectangle 17"/>
          <p:cNvSpPr/>
          <p:nvPr/>
        </p:nvSpPr>
        <p:spPr>
          <a:xfrm>
            <a:off x="3566160" y="4654296"/>
            <a:ext cx="612073" cy="246888"/>
          </a:xfrm>
          <a:prstGeom prst="rect">
            <a:avLst/>
          </a:prstGeom>
          <a:solidFill>
            <a:srgbClr val="A9A49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13816" y="5120640"/>
            <a:ext cx="2651760" cy="310896"/>
          </a:xfrm>
          <a:prstGeom prst="rect">
            <a:avLst/>
          </a:prstGeom>
          <a:noFill/>
        </p:spPr>
        <p:txBody>
          <a:bodyPr wrap="square" anchor="ctr" lIns="0" rIns="0" tIns="0" bIns="0">
            <a:spAutoFit/>
          </a:bodyPr>
          <a:lstStyle/>
          <a:p>
            <a:pPr algn="l"/>
            <a:r>
              <a:rPr sz="1400" b="0">
                <a:solidFill>
                  <a:srgbClr val="22262B"/>
                </a:solidFill>
                <a:latin typeface="Arial"/>
              </a:rPr>
              <a:t>Account balance</a:t>
            </a:r>
          </a:p>
        </p:txBody>
      </p:sp>
      <p:sp>
        <p:nvSpPr>
          <p:cNvPr id="20" name="Rectangle 19"/>
          <p:cNvSpPr/>
          <p:nvPr/>
        </p:nvSpPr>
        <p:spPr>
          <a:xfrm>
            <a:off x="3566160" y="5157216"/>
            <a:ext cx="585438" cy="246888"/>
          </a:xfrm>
          <a:prstGeom prst="rect">
            <a:avLst/>
          </a:prstGeom>
          <a:solidFill>
            <a:srgbClr val="A9A49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8229600" y="2103120"/>
            <a:ext cx="3154680" cy="3291840"/>
          </a:xfrm>
          <a:prstGeom prst="roundRect">
            <a:avLst>
              <a:gd name="adj" fmla="val 5000"/>
            </a:avLst>
          </a:prstGeom>
          <a:solidFill>
            <a:srgbClr val="FAF9F6"/>
          </a:solidFill>
          <a:ln w="9525">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8266176" y="2103120"/>
            <a:ext cx="3081528" cy="45720"/>
          </a:xfrm>
          <a:prstGeom prst="rect">
            <a:avLst/>
          </a:prstGeom>
          <a:solidFill>
            <a:srgbClr val="2F5F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458200" y="2377440"/>
            <a:ext cx="2743200" cy="320040"/>
          </a:xfrm>
          <a:prstGeom prst="rect">
            <a:avLst/>
          </a:prstGeom>
          <a:noFill/>
        </p:spPr>
        <p:txBody>
          <a:bodyPr wrap="square" anchor="t" lIns="0" rIns="0" tIns="0" bIns="0">
            <a:spAutoFit/>
          </a:bodyPr>
          <a:lstStyle/>
          <a:p>
            <a:pPr algn="l"/>
            <a:r>
              <a:rPr sz="1600" b="1">
                <a:solidFill>
                  <a:srgbClr val="1D2125"/>
                </a:solidFill>
                <a:latin typeface="Arial"/>
              </a:rPr>
              <a:t>How we measured it</a:t>
            </a:r>
          </a:p>
        </p:txBody>
      </p:sp>
      <p:sp>
        <p:nvSpPr>
          <p:cNvPr id="24" name="TextBox 23"/>
          <p:cNvSpPr txBox="1"/>
          <p:nvPr/>
        </p:nvSpPr>
        <p:spPr>
          <a:xfrm>
            <a:off x="8458200" y="2788920"/>
            <a:ext cx="2743200" cy="1280160"/>
          </a:xfrm>
          <a:prstGeom prst="rect">
            <a:avLst/>
          </a:prstGeom>
          <a:noFill/>
        </p:spPr>
        <p:txBody>
          <a:bodyPr wrap="square" anchor="t" lIns="0" rIns="0" tIns="0" bIns="0">
            <a:spAutoFit/>
          </a:bodyPr>
          <a:lstStyle/>
          <a:p>
            <a:pPr algn="l"/>
            <a:r>
              <a:rPr sz="1300" b="0">
                <a:solidFill>
                  <a:srgbClr val="5F6368"/>
                </a:solidFill>
                <a:latin typeface="Arial"/>
              </a:rPr>
              <a:t>Shuffle one input and see how much worse the model gets. The bigger the drop, the more it matters.</a:t>
            </a:r>
          </a:p>
        </p:txBody>
      </p:sp>
      <p:sp>
        <p:nvSpPr>
          <p:cNvPr id="25" name="TextBox 24"/>
          <p:cNvSpPr txBox="1"/>
          <p:nvPr/>
        </p:nvSpPr>
        <p:spPr>
          <a:xfrm>
            <a:off x="8458200" y="3794760"/>
            <a:ext cx="2743200" cy="1188720"/>
          </a:xfrm>
          <a:prstGeom prst="rect">
            <a:avLst/>
          </a:prstGeom>
          <a:noFill/>
        </p:spPr>
        <p:txBody>
          <a:bodyPr wrap="square" anchor="t" lIns="0" rIns="0" tIns="0" bIns="0">
            <a:spAutoFit/>
          </a:bodyPr>
          <a:lstStyle/>
          <a:p>
            <a:pPr algn="l"/>
            <a:r>
              <a:rPr sz="1300" b="1">
                <a:solidFill>
                  <a:srgbClr val="1D2125"/>
                </a:solidFill>
                <a:latin typeface="Arial"/>
              </a:rPr>
              <a:t>Job, education and marital status barely matter once timing and history are known.</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gradFill rotWithShape="1">
          <a:gsLst>
            <a:gs pos="0">
              <a:srgbClr val="E4EDF7"/>
            </a:gs>
            <a:gs pos="100000">
              <a:srgbClr val="F8EBDD"/>
            </a:gs>
          </a:gsLst>
          <a:lin scaled="0" ang="2700000"/>
        </a:gradFill>
        <a:effectLst/>
      </p:bgPr>
    </p:bg>
    <p:spTree>
      <p:nvGrpSpPr>
        <p:cNvPr id="1" name=""/>
        <p:cNvGrpSpPr/>
        <p:nvPr/>
      </p:nvGrpSpPr>
      <p:grpSpPr/>
      <p:sp>
        <p:nvSpPr>
          <p:cNvPr id="2" name="Rectangle 1"/>
          <p:cNvSpPr/>
          <p:nvPr/>
        </p:nvSpPr>
        <p:spPr>
          <a:xfrm>
            <a:off x="0" y="0"/>
            <a:ext cx="12191695" cy="91440"/>
          </a:xfrm>
          <a:prstGeom prst="rect">
            <a:avLst/>
          </a:prstGeom>
          <a:gradFill rotWithShape="1">
            <a:gsLst>
              <a:gs pos="0">
                <a:srgbClr val="2F5F9E"/>
              </a:gs>
              <a:gs pos="100000">
                <a:srgbClr val="E08A3C"/>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13816" y="813816"/>
            <a:ext cx="10881360" cy="274320"/>
          </a:xfrm>
          <a:prstGeom prst="rect">
            <a:avLst/>
          </a:prstGeom>
          <a:noFill/>
        </p:spPr>
        <p:txBody>
          <a:bodyPr wrap="square" anchor="t" lIns="0" rIns="0" tIns="0" bIns="0">
            <a:spAutoFit/>
          </a:bodyPr>
          <a:lstStyle/>
          <a:p>
            <a:pPr algn="l"/>
            <a:r>
              <a:rPr sz="1100" b="0" spc="300">
                <a:solidFill>
                  <a:srgbClr val="B5541C"/>
                </a:solidFill>
                <a:latin typeface="Courier New"/>
              </a:rPr>
              <a:t>TRUST</a:t>
            </a:r>
          </a:p>
        </p:txBody>
      </p:sp>
      <p:sp>
        <p:nvSpPr>
          <p:cNvPr id="4" name="TextBox 3"/>
          <p:cNvSpPr txBox="1"/>
          <p:nvPr/>
        </p:nvSpPr>
        <p:spPr>
          <a:xfrm>
            <a:off x="813816" y="1243584"/>
            <a:ext cx="10881360" cy="640080"/>
          </a:xfrm>
          <a:prstGeom prst="rect">
            <a:avLst/>
          </a:prstGeom>
          <a:noFill/>
        </p:spPr>
        <p:txBody>
          <a:bodyPr wrap="square" anchor="t" lIns="0" rIns="0" tIns="0" bIns="0">
            <a:spAutoFit/>
          </a:bodyPr>
          <a:lstStyle/>
          <a:p>
            <a:pPr algn="l"/>
            <a:r>
              <a:rPr sz="3400" b="1">
                <a:solidFill>
                  <a:srgbClr val="1D2125"/>
                </a:solidFill>
                <a:latin typeface="Arial"/>
              </a:rPr>
              <a:t>Built to be honest about what it knows</a:t>
            </a:r>
          </a:p>
        </p:txBody>
      </p:sp>
      <p:sp>
        <p:nvSpPr>
          <p:cNvPr id="5" name="TextBox 4"/>
          <p:cNvSpPr txBox="1"/>
          <p:nvPr/>
        </p:nvSpPr>
        <p:spPr>
          <a:xfrm>
            <a:off x="813816" y="6236208"/>
            <a:ext cx="9144000" cy="274320"/>
          </a:xfrm>
          <a:prstGeom prst="rect">
            <a:avLst/>
          </a:prstGeom>
          <a:noFill/>
        </p:spPr>
        <p:txBody>
          <a:bodyPr wrap="square" anchor="t" lIns="0" rIns="0" tIns="0" bIns="0">
            <a:spAutoFit/>
          </a:bodyPr>
          <a:lstStyle/>
          <a:p>
            <a:pPr algn="l"/>
            <a:r>
              <a:rPr sz="1100" b="0">
                <a:solidFill>
                  <a:srgbClr val="5F6368"/>
                </a:solidFill>
                <a:latin typeface="Arial"/>
              </a:rPr>
              <a:t>Term Deposit Predictor  ·  Data Miners</a:t>
            </a:r>
          </a:p>
        </p:txBody>
      </p:sp>
      <p:sp>
        <p:nvSpPr>
          <p:cNvPr id="6" name="TextBox 5"/>
          <p:cNvSpPr txBox="1"/>
          <p:nvPr/>
        </p:nvSpPr>
        <p:spPr>
          <a:xfrm>
            <a:off x="10469880" y="6236208"/>
            <a:ext cx="914400" cy="274320"/>
          </a:xfrm>
          <a:prstGeom prst="rect">
            <a:avLst/>
          </a:prstGeom>
          <a:noFill/>
        </p:spPr>
        <p:txBody>
          <a:bodyPr wrap="square" anchor="t" lIns="0" rIns="0" tIns="0" bIns="0">
            <a:spAutoFit/>
          </a:bodyPr>
          <a:lstStyle/>
          <a:p>
            <a:pPr algn="r"/>
            <a:r>
              <a:rPr sz="1100" b="0">
                <a:solidFill>
                  <a:srgbClr val="5F6368"/>
                </a:solidFill>
                <a:latin typeface="Arial"/>
              </a:rPr>
              <a:t>12</a:t>
            </a:r>
          </a:p>
        </p:txBody>
      </p:sp>
      <p:sp>
        <p:nvSpPr>
          <p:cNvPr id="7" name="Rounded Rectangle 6"/>
          <p:cNvSpPr/>
          <p:nvPr/>
        </p:nvSpPr>
        <p:spPr>
          <a:xfrm>
            <a:off x="813816" y="2084831"/>
            <a:ext cx="3383280" cy="1920240"/>
          </a:xfrm>
          <a:prstGeom prst="roundRect">
            <a:avLst>
              <a:gd name="adj" fmla="val 5000"/>
            </a:avLst>
          </a:prstGeom>
          <a:solidFill>
            <a:srgbClr val="FAF9F6"/>
          </a:solidFill>
          <a:ln w="9525">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850392" y="2084831"/>
            <a:ext cx="3310128" cy="45720"/>
          </a:xfrm>
          <a:prstGeom prst="rect">
            <a:avLst/>
          </a:prstGeom>
          <a:solidFill>
            <a:srgbClr val="2F5F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69848" y="2377440"/>
            <a:ext cx="2962656" cy="320040"/>
          </a:xfrm>
          <a:prstGeom prst="rect">
            <a:avLst/>
          </a:prstGeom>
          <a:noFill/>
        </p:spPr>
        <p:txBody>
          <a:bodyPr wrap="square" anchor="t" lIns="0" rIns="0" tIns="0" bIns="0">
            <a:spAutoFit/>
          </a:bodyPr>
          <a:lstStyle/>
          <a:p>
            <a:pPr algn="l"/>
            <a:r>
              <a:rPr sz="1700" b="1">
                <a:solidFill>
                  <a:srgbClr val="1D2125"/>
                </a:solidFill>
                <a:latin typeface="Arial"/>
              </a:rPr>
              <a:t>No peeking at the answer</a:t>
            </a:r>
          </a:p>
        </p:txBody>
      </p:sp>
      <p:sp>
        <p:nvSpPr>
          <p:cNvPr id="10" name="TextBox 9"/>
          <p:cNvSpPr txBox="1"/>
          <p:nvPr/>
        </p:nvSpPr>
        <p:spPr>
          <a:xfrm>
            <a:off x="1069848" y="2761488"/>
            <a:ext cx="2962656" cy="1188720"/>
          </a:xfrm>
          <a:prstGeom prst="rect">
            <a:avLst/>
          </a:prstGeom>
          <a:noFill/>
        </p:spPr>
        <p:txBody>
          <a:bodyPr wrap="square" anchor="t" lIns="0" rIns="0" tIns="0" bIns="0">
            <a:spAutoFit/>
          </a:bodyPr>
          <a:lstStyle/>
          <a:p>
            <a:pPr algn="l"/>
            <a:r>
              <a:rPr sz="1300" b="0">
                <a:solidFill>
                  <a:srgbClr val="5F6368"/>
                </a:solidFill>
                <a:latin typeface="Arial"/>
              </a:rPr>
              <a:t>Call length is only known after the call, so we removed it. Every cleaning step learns from training data only.</a:t>
            </a:r>
          </a:p>
        </p:txBody>
      </p:sp>
      <p:sp>
        <p:nvSpPr>
          <p:cNvPr id="11" name="Rounded Rectangle 10"/>
          <p:cNvSpPr/>
          <p:nvPr/>
        </p:nvSpPr>
        <p:spPr>
          <a:xfrm>
            <a:off x="4398264" y="2084831"/>
            <a:ext cx="3383280" cy="1920240"/>
          </a:xfrm>
          <a:prstGeom prst="roundRect">
            <a:avLst>
              <a:gd name="adj" fmla="val 5000"/>
            </a:avLst>
          </a:prstGeom>
          <a:solidFill>
            <a:srgbClr val="FAF9F6"/>
          </a:solidFill>
          <a:ln w="9525">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434840" y="2084831"/>
            <a:ext cx="3310128" cy="45720"/>
          </a:xfrm>
          <a:prstGeom prst="rect">
            <a:avLst/>
          </a:prstGeom>
          <a:solidFill>
            <a:srgbClr val="2F5F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654296" y="2377440"/>
            <a:ext cx="2962656" cy="320040"/>
          </a:xfrm>
          <a:prstGeom prst="rect">
            <a:avLst/>
          </a:prstGeom>
          <a:noFill/>
        </p:spPr>
        <p:txBody>
          <a:bodyPr wrap="square" anchor="t" lIns="0" rIns="0" tIns="0" bIns="0">
            <a:spAutoFit/>
          </a:bodyPr>
          <a:lstStyle/>
          <a:p>
            <a:pPr algn="l"/>
            <a:r>
              <a:rPr sz="1700" b="1">
                <a:solidFill>
                  <a:srgbClr val="1D2125"/>
                </a:solidFill>
                <a:latin typeface="Arial"/>
              </a:rPr>
              <a:t>Tested on unseen clients</a:t>
            </a:r>
          </a:p>
        </p:txBody>
      </p:sp>
      <p:sp>
        <p:nvSpPr>
          <p:cNvPr id="14" name="TextBox 13"/>
          <p:cNvSpPr txBox="1"/>
          <p:nvPr/>
        </p:nvSpPr>
        <p:spPr>
          <a:xfrm>
            <a:off x="4654296" y="2761488"/>
            <a:ext cx="2962656" cy="1188720"/>
          </a:xfrm>
          <a:prstGeom prst="rect">
            <a:avLst/>
          </a:prstGeom>
          <a:noFill/>
        </p:spPr>
        <p:txBody>
          <a:bodyPr wrap="square" anchor="t" lIns="0" rIns="0" tIns="0" bIns="0">
            <a:spAutoFit/>
          </a:bodyPr>
          <a:lstStyle/>
          <a:p>
            <a:pPr algn="l"/>
            <a:r>
              <a:rPr sz="1300" b="0">
                <a:solidFill>
                  <a:srgbClr val="5F6368"/>
                </a:solidFill>
                <a:latin typeface="Arial"/>
              </a:rPr>
              <a:t>20% of clients were locked away until the end. Training and test scores agree within 0.02.</a:t>
            </a:r>
          </a:p>
        </p:txBody>
      </p:sp>
      <p:sp>
        <p:nvSpPr>
          <p:cNvPr id="15" name="Rounded Rectangle 14"/>
          <p:cNvSpPr/>
          <p:nvPr/>
        </p:nvSpPr>
        <p:spPr>
          <a:xfrm>
            <a:off x="7982712" y="2084831"/>
            <a:ext cx="3383280" cy="1920240"/>
          </a:xfrm>
          <a:prstGeom prst="roundRect">
            <a:avLst>
              <a:gd name="adj" fmla="val 5000"/>
            </a:avLst>
          </a:prstGeom>
          <a:solidFill>
            <a:srgbClr val="FAF9F6"/>
          </a:solidFill>
          <a:ln w="9525">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019288" y="2084831"/>
            <a:ext cx="3310128" cy="45720"/>
          </a:xfrm>
          <a:prstGeom prst="rect">
            <a:avLst/>
          </a:prstGeom>
          <a:solidFill>
            <a:srgbClr val="2F5F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238744" y="2377440"/>
            <a:ext cx="2962656" cy="320040"/>
          </a:xfrm>
          <a:prstGeom prst="rect">
            <a:avLst/>
          </a:prstGeom>
          <a:noFill/>
        </p:spPr>
        <p:txBody>
          <a:bodyPr wrap="square" anchor="t" lIns="0" rIns="0" tIns="0" bIns="0">
            <a:spAutoFit/>
          </a:bodyPr>
          <a:lstStyle/>
          <a:p>
            <a:pPr algn="l"/>
            <a:r>
              <a:rPr sz="1700" b="1">
                <a:solidFill>
                  <a:srgbClr val="1D2125"/>
                </a:solidFill>
                <a:latin typeface="Arial"/>
              </a:rPr>
              <a:t>Honest about limits</a:t>
            </a:r>
          </a:p>
        </p:txBody>
      </p:sp>
      <p:sp>
        <p:nvSpPr>
          <p:cNvPr id="18" name="TextBox 17"/>
          <p:cNvSpPr txBox="1"/>
          <p:nvPr/>
        </p:nvSpPr>
        <p:spPr>
          <a:xfrm>
            <a:off x="8238744" y="2761488"/>
            <a:ext cx="2962656" cy="1188720"/>
          </a:xfrm>
          <a:prstGeom prst="rect">
            <a:avLst/>
          </a:prstGeom>
          <a:noFill/>
        </p:spPr>
        <p:txBody>
          <a:bodyPr wrap="square" anchor="t" lIns="0" rIns="0" tIns="0" bIns="0">
            <a:spAutoFit/>
          </a:bodyPr>
          <a:lstStyle/>
          <a:p>
            <a:pPr algn="l"/>
            <a:r>
              <a:rPr sz="1300" b="0">
                <a:solidFill>
                  <a:srgbClr val="5F6368"/>
                </a:solidFill>
                <a:latin typeface="Arial"/>
              </a:rPr>
              <a:t>About 45% of flagged clients say yes. Scores rank clients well but are not exact probabilities.</a:t>
            </a:r>
          </a:p>
        </p:txBody>
      </p:sp>
      <p:sp>
        <p:nvSpPr>
          <p:cNvPr id="19" name="TextBox 18"/>
          <p:cNvSpPr txBox="1"/>
          <p:nvPr/>
        </p:nvSpPr>
        <p:spPr>
          <a:xfrm>
            <a:off x="813816" y="4297680"/>
            <a:ext cx="10881360" cy="320040"/>
          </a:xfrm>
          <a:prstGeom prst="rect">
            <a:avLst/>
          </a:prstGeom>
          <a:noFill/>
        </p:spPr>
        <p:txBody>
          <a:bodyPr wrap="square" anchor="t" lIns="0" rIns="0" tIns="0" bIns="0">
            <a:spAutoFit/>
          </a:bodyPr>
          <a:lstStyle/>
          <a:p>
            <a:pPr algn="l"/>
            <a:r>
              <a:rPr sz="1400" b="0">
                <a:solidFill>
                  <a:srgbClr val="5F6368"/>
                </a:solidFill>
                <a:latin typeface="Arial"/>
              </a:rPr>
              <a:t>Verified with </a:t>
            </a:r>
            <a:r>
              <a:rPr sz="1400" b="1">
                <a:solidFill>
                  <a:srgbClr val="1D2125"/>
                </a:solidFill>
                <a:latin typeface="Arial"/>
              </a:rPr>
              <a:t>8 passing automated API tests</a:t>
            </a:r>
            <a:r>
              <a:rPr sz="1400" b="0">
                <a:solidFill>
                  <a:srgbClr val="5F6368"/>
                </a:solidFill>
                <a:latin typeface="Arial"/>
              </a:rPr>
              <a:t>, a frontend routing test and manual end-to-end checks of every page.</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gradFill rotWithShape="1">
          <a:gsLst>
            <a:gs pos="0">
              <a:srgbClr val="E4EDF7"/>
            </a:gs>
            <a:gs pos="100000">
              <a:srgbClr val="F8EBDD"/>
            </a:gs>
          </a:gsLst>
          <a:lin scaled="0" ang="2700000"/>
        </a:gradFill>
        <a:effectLst/>
      </p:bgPr>
    </p:bg>
    <p:spTree>
      <p:nvGrpSpPr>
        <p:cNvPr id="1" name=""/>
        <p:cNvGrpSpPr/>
        <p:nvPr/>
      </p:nvGrpSpPr>
      <p:grpSpPr/>
      <p:sp>
        <p:nvSpPr>
          <p:cNvPr id="2" name="Rectangle 1"/>
          <p:cNvSpPr/>
          <p:nvPr/>
        </p:nvSpPr>
        <p:spPr>
          <a:xfrm>
            <a:off x="0" y="0"/>
            <a:ext cx="12191695" cy="91440"/>
          </a:xfrm>
          <a:prstGeom prst="rect">
            <a:avLst/>
          </a:prstGeom>
          <a:gradFill rotWithShape="1">
            <a:gsLst>
              <a:gs pos="0">
                <a:srgbClr val="2F5F9E"/>
              </a:gs>
              <a:gs pos="100000">
                <a:srgbClr val="E08A3C"/>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13816" y="813816"/>
            <a:ext cx="10881360" cy="274320"/>
          </a:xfrm>
          <a:prstGeom prst="rect">
            <a:avLst/>
          </a:prstGeom>
          <a:noFill/>
        </p:spPr>
        <p:txBody>
          <a:bodyPr wrap="square" anchor="t" lIns="0" rIns="0" tIns="0" bIns="0">
            <a:spAutoFit/>
          </a:bodyPr>
          <a:lstStyle/>
          <a:p>
            <a:pPr algn="l"/>
            <a:r>
              <a:rPr sz="1100" b="0" spc="300">
                <a:solidFill>
                  <a:srgbClr val="B5541C"/>
                </a:solidFill>
                <a:latin typeface="Courier New"/>
              </a:rPr>
              <a:t>NEXT STEPS</a:t>
            </a:r>
          </a:p>
        </p:txBody>
      </p:sp>
      <p:sp>
        <p:nvSpPr>
          <p:cNvPr id="4" name="TextBox 3"/>
          <p:cNvSpPr txBox="1"/>
          <p:nvPr/>
        </p:nvSpPr>
        <p:spPr>
          <a:xfrm>
            <a:off x="813816" y="1243584"/>
            <a:ext cx="10881360" cy="640080"/>
          </a:xfrm>
          <a:prstGeom prst="rect">
            <a:avLst/>
          </a:prstGeom>
          <a:noFill/>
        </p:spPr>
        <p:txBody>
          <a:bodyPr wrap="square" anchor="t" lIns="0" rIns="0" tIns="0" bIns="0">
            <a:spAutoFit/>
          </a:bodyPr>
          <a:lstStyle/>
          <a:p>
            <a:pPr algn="l"/>
            <a:r>
              <a:rPr sz="3400" b="1">
                <a:solidFill>
                  <a:srgbClr val="1D2125"/>
                </a:solidFill>
                <a:latin typeface="Arial"/>
              </a:rPr>
              <a:t>From a working prototype to the call centre</a:t>
            </a:r>
          </a:p>
        </p:txBody>
      </p:sp>
      <p:sp>
        <p:nvSpPr>
          <p:cNvPr id="5" name="TextBox 4"/>
          <p:cNvSpPr txBox="1"/>
          <p:nvPr/>
        </p:nvSpPr>
        <p:spPr>
          <a:xfrm>
            <a:off x="813816" y="6236208"/>
            <a:ext cx="9144000" cy="274320"/>
          </a:xfrm>
          <a:prstGeom prst="rect">
            <a:avLst/>
          </a:prstGeom>
          <a:noFill/>
        </p:spPr>
        <p:txBody>
          <a:bodyPr wrap="square" anchor="t" lIns="0" rIns="0" tIns="0" bIns="0">
            <a:spAutoFit/>
          </a:bodyPr>
          <a:lstStyle/>
          <a:p>
            <a:pPr algn="l"/>
            <a:r>
              <a:rPr sz="1100" b="0">
                <a:solidFill>
                  <a:srgbClr val="5F6368"/>
                </a:solidFill>
                <a:latin typeface="Arial"/>
              </a:rPr>
              <a:t>Term Deposit Predictor  ·  Data Miners</a:t>
            </a:r>
          </a:p>
        </p:txBody>
      </p:sp>
      <p:sp>
        <p:nvSpPr>
          <p:cNvPr id="6" name="TextBox 5"/>
          <p:cNvSpPr txBox="1"/>
          <p:nvPr/>
        </p:nvSpPr>
        <p:spPr>
          <a:xfrm>
            <a:off x="10469880" y="6236208"/>
            <a:ext cx="914400" cy="274320"/>
          </a:xfrm>
          <a:prstGeom prst="rect">
            <a:avLst/>
          </a:prstGeom>
          <a:noFill/>
        </p:spPr>
        <p:txBody>
          <a:bodyPr wrap="square" anchor="t" lIns="0" rIns="0" tIns="0" bIns="0">
            <a:spAutoFit/>
          </a:bodyPr>
          <a:lstStyle/>
          <a:p>
            <a:pPr algn="r"/>
            <a:r>
              <a:rPr sz="1100" b="0">
                <a:solidFill>
                  <a:srgbClr val="5F6368"/>
                </a:solidFill>
                <a:latin typeface="Arial"/>
              </a:rPr>
              <a:t>13</a:t>
            </a:r>
          </a:p>
        </p:txBody>
      </p:sp>
      <p:cxnSp>
        <p:nvCxnSpPr>
          <p:cNvPr id="7" name="Connector 6"/>
          <p:cNvCxnSpPr/>
          <p:nvPr/>
        </p:nvCxnSpPr>
        <p:spPr>
          <a:xfrm>
            <a:off x="813816" y="2084831"/>
            <a:ext cx="10570464" cy="0"/>
          </a:xfrm>
          <a:prstGeom prst="line">
            <a:avLst/>
          </a:prstGeom>
          <a:ln w="12700">
            <a:solidFill>
              <a:srgbClr val="5F6368"/>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813816" y="2286000"/>
            <a:ext cx="640080" cy="384048"/>
          </a:xfrm>
          <a:prstGeom prst="rect">
            <a:avLst/>
          </a:prstGeom>
          <a:noFill/>
        </p:spPr>
        <p:txBody>
          <a:bodyPr wrap="square" anchor="t" lIns="0" rIns="0" tIns="0" bIns="0">
            <a:spAutoFit/>
          </a:bodyPr>
          <a:lstStyle/>
          <a:p>
            <a:pPr algn="l"/>
            <a:r>
              <a:rPr sz="2200" b="0">
                <a:solidFill>
                  <a:srgbClr val="2F5F9E"/>
                </a:solidFill>
                <a:latin typeface="Courier New"/>
              </a:rPr>
              <a:t>01</a:t>
            </a:r>
          </a:p>
        </p:txBody>
      </p:sp>
      <p:sp>
        <p:nvSpPr>
          <p:cNvPr id="9" name="TextBox 8"/>
          <p:cNvSpPr txBox="1"/>
          <p:nvPr/>
        </p:nvSpPr>
        <p:spPr>
          <a:xfrm>
            <a:off x="1627632" y="2304288"/>
            <a:ext cx="4206240" cy="365760"/>
          </a:xfrm>
          <a:prstGeom prst="rect">
            <a:avLst/>
          </a:prstGeom>
          <a:noFill/>
        </p:spPr>
        <p:txBody>
          <a:bodyPr wrap="square" anchor="t" lIns="0" rIns="0" tIns="0" bIns="0">
            <a:spAutoFit/>
          </a:bodyPr>
          <a:lstStyle/>
          <a:p>
            <a:pPr algn="l"/>
            <a:r>
              <a:rPr sz="1900" b="1">
                <a:solidFill>
                  <a:srgbClr val="1D2125"/>
                </a:solidFill>
                <a:latin typeface="Arial"/>
              </a:rPr>
              <a:t>Retrain on recent data</a:t>
            </a:r>
          </a:p>
        </p:txBody>
      </p:sp>
      <p:sp>
        <p:nvSpPr>
          <p:cNvPr id="10" name="TextBox 9"/>
          <p:cNvSpPr txBox="1"/>
          <p:nvPr/>
        </p:nvSpPr>
        <p:spPr>
          <a:xfrm>
            <a:off x="5998464" y="2340864"/>
            <a:ext cx="5394960" cy="365760"/>
          </a:xfrm>
          <a:prstGeom prst="rect">
            <a:avLst/>
          </a:prstGeom>
          <a:noFill/>
        </p:spPr>
        <p:txBody>
          <a:bodyPr wrap="square" anchor="t" lIns="0" rIns="0" tIns="0" bIns="0">
            <a:spAutoFit/>
          </a:bodyPr>
          <a:lstStyle/>
          <a:p>
            <a:pPr algn="l"/>
            <a:r>
              <a:rPr sz="1400" b="0">
                <a:solidFill>
                  <a:srgbClr val="5F6368"/>
                </a:solidFill>
                <a:latin typeface="Arial"/>
              </a:rPr>
              <a:t>The calls are from 2008–2010; client behaviour has changed since.</a:t>
            </a:r>
          </a:p>
        </p:txBody>
      </p:sp>
      <p:cxnSp>
        <p:nvCxnSpPr>
          <p:cNvPr id="11" name="Connector 10"/>
          <p:cNvCxnSpPr/>
          <p:nvPr/>
        </p:nvCxnSpPr>
        <p:spPr>
          <a:xfrm>
            <a:off x="813816" y="2862072"/>
            <a:ext cx="10570464" cy="0"/>
          </a:xfrm>
          <a:prstGeom prst="line">
            <a:avLst/>
          </a:prstGeom>
          <a:ln w="9525">
            <a:solidFill>
              <a:srgbClr val="DCD8CF"/>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813816" y="3063240"/>
            <a:ext cx="640080" cy="384048"/>
          </a:xfrm>
          <a:prstGeom prst="rect">
            <a:avLst/>
          </a:prstGeom>
          <a:noFill/>
        </p:spPr>
        <p:txBody>
          <a:bodyPr wrap="square" anchor="t" lIns="0" rIns="0" tIns="0" bIns="0">
            <a:spAutoFit/>
          </a:bodyPr>
          <a:lstStyle/>
          <a:p>
            <a:pPr algn="l"/>
            <a:r>
              <a:rPr sz="2200" b="0">
                <a:solidFill>
                  <a:srgbClr val="2F5F9E"/>
                </a:solidFill>
                <a:latin typeface="Courier New"/>
              </a:rPr>
              <a:t>02</a:t>
            </a:r>
          </a:p>
        </p:txBody>
      </p:sp>
      <p:sp>
        <p:nvSpPr>
          <p:cNvPr id="13" name="TextBox 12"/>
          <p:cNvSpPr txBox="1"/>
          <p:nvPr/>
        </p:nvSpPr>
        <p:spPr>
          <a:xfrm>
            <a:off x="1627632" y="3081528"/>
            <a:ext cx="4206240" cy="365760"/>
          </a:xfrm>
          <a:prstGeom prst="rect">
            <a:avLst/>
          </a:prstGeom>
          <a:noFill/>
        </p:spPr>
        <p:txBody>
          <a:bodyPr wrap="square" anchor="t" lIns="0" rIns="0" tIns="0" bIns="0">
            <a:spAutoFit/>
          </a:bodyPr>
          <a:lstStyle/>
          <a:p>
            <a:pPr algn="l"/>
            <a:r>
              <a:rPr sz="1900" b="1">
                <a:solidFill>
                  <a:srgbClr val="1D2125"/>
                </a:solidFill>
                <a:latin typeface="Arial"/>
              </a:rPr>
              <a:t>Put a price on each call</a:t>
            </a:r>
          </a:p>
        </p:txBody>
      </p:sp>
      <p:sp>
        <p:nvSpPr>
          <p:cNvPr id="14" name="TextBox 13"/>
          <p:cNvSpPr txBox="1"/>
          <p:nvPr/>
        </p:nvSpPr>
        <p:spPr>
          <a:xfrm>
            <a:off x="5998464" y="3118104"/>
            <a:ext cx="5394960" cy="365760"/>
          </a:xfrm>
          <a:prstGeom prst="rect">
            <a:avLst/>
          </a:prstGeom>
          <a:noFill/>
        </p:spPr>
        <p:txBody>
          <a:bodyPr wrap="square" anchor="t" lIns="0" rIns="0" tIns="0" bIns="0">
            <a:spAutoFit/>
          </a:bodyPr>
          <a:lstStyle/>
          <a:p>
            <a:pPr algn="l"/>
            <a:r>
              <a:rPr sz="1400" b="0">
                <a:solidFill>
                  <a:srgbClr val="5F6368"/>
                </a:solidFill>
                <a:latin typeface="Arial"/>
              </a:rPr>
              <a:t>Set the cut-off from real call costs and deposit profits.</a:t>
            </a:r>
          </a:p>
        </p:txBody>
      </p:sp>
      <p:cxnSp>
        <p:nvCxnSpPr>
          <p:cNvPr id="15" name="Connector 14"/>
          <p:cNvCxnSpPr/>
          <p:nvPr/>
        </p:nvCxnSpPr>
        <p:spPr>
          <a:xfrm>
            <a:off x="813816" y="3639312"/>
            <a:ext cx="10570464" cy="0"/>
          </a:xfrm>
          <a:prstGeom prst="line">
            <a:avLst/>
          </a:prstGeom>
          <a:ln w="9525">
            <a:solidFill>
              <a:srgbClr val="DCD8CF"/>
            </a:soli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813816" y="3840480"/>
            <a:ext cx="640080" cy="384048"/>
          </a:xfrm>
          <a:prstGeom prst="rect">
            <a:avLst/>
          </a:prstGeom>
          <a:noFill/>
        </p:spPr>
        <p:txBody>
          <a:bodyPr wrap="square" anchor="t" lIns="0" rIns="0" tIns="0" bIns="0">
            <a:spAutoFit/>
          </a:bodyPr>
          <a:lstStyle/>
          <a:p>
            <a:pPr algn="l"/>
            <a:r>
              <a:rPr sz="2200" b="0">
                <a:solidFill>
                  <a:srgbClr val="2F5F9E"/>
                </a:solidFill>
                <a:latin typeface="Courier New"/>
              </a:rPr>
              <a:t>03</a:t>
            </a:r>
          </a:p>
        </p:txBody>
      </p:sp>
      <p:sp>
        <p:nvSpPr>
          <p:cNvPr id="17" name="TextBox 16"/>
          <p:cNvSpPr txBox="1"/>
          <p:nvPr/>
        </p:nvSpPr>
        <p:spPr>
          <a:xfrm>
            <a:off x="1627632" y="3858768"/>
            <a:ext cx="4206240" cy="365760"/>
          </a:xfrm>
          <a:prstGeom prst="rect">
            <a:avLst/>
          </a:prstGeom>
          <a:noFill/>
        </p:spPr>
        <p:txBody>
          <a:bodyPr wrap="square" anchor="t" lIns="0" rIns="0" tIns="0" bIns="0">
            <a:spAutoFit/>
          </a:bodyPr>
          <a:lstStyle/>
          <a:p>
            <a:pPr algn="l"/>
            <a:r>
              <a:rPr sz="1900" b="1">
                <a:solidFill>
                  <a:srgbClr val="1D2125"/>
                </a:solidFill>
                <a:latin typeface="Arial"/>
              </a:rPr>
              <a:t>Explain every prediction</a:t>
            </a:r>
          </a:p>
        </p:txBody>
      </p:sp>
      <p:sp>
        <p:nvSpPr>
          <p:cNvPr id="18" name="TextBox 17"/>
          <p:cNvSpPr txBox="1"/>
          <p:nvPr/>
        </p:nvSpPr>
        <p:spPr>
          <a:xfrm>
            <a:off x="5998464" y="3895344"/>
            <a:ext cx="5394960" cy="365760"/>
          </a:xfrm>
          <a:prstGeom prst="rect">
            <a:avLst/>
          </a:prstGeom>
          <a:noFill/>
        </p:spPr>
        <p:txBody>
          <a:bodyPr wrap="square" anchor="t" lIns="0" rIns="0" tIns="0" bIns="0">
            <a:spAutoFit/>
          </a:bodyPr>
          <a:lstStyle/>
          <a:p>
            <a:pPr algn="l"/>
            <a:r>
              <a:rPr sz="1400" b="0">
                <a:solidFill>
                  <a:srgbClr val="5F6368"/>
                </a:solidFill>
                <a:latin typeface="Arial"/>
              </a:rPr>
              <a:t>Show the reasons behind each client's score in the dashboard.</a:t>
            </a:r>
          </a:p>
        </p:txBody>
      </p:sp>
      <p:cxnSp>
        <p:nvCxnSpPr>
          <p:cNvPr id="19" name="Connector 18"/>
          <p:cNvCxnSpPr/>
          <p:nvPr/>
        </p:nvCxnSpPr>
        <p:spPr>
          <a:xfrm>
            <a:off x="813816" y="4416552"/>
            <a:ext cx="10570464" cy="0"/>
          </a:xfrm>
          <a:prstGeom prst="line">
            <a:avLst/>
          </a:prstGeom>
          <a:ln w="9525">
            <a:solidFill>
              <a:srgbClr val="DCD8CF"/>
            </a:solidFill>
          </a:ln>
        </p:spPr>
        <p:style>
          <a:lnRef idx="2">
            <a:schemeClr val="accent1"/>
          </a:lnRef>
          <a:fillRef idx="0">
            <a:schemeClr val="accent1"/>
          </a:fillRef>
          <a:effectRef idx="1">
            <a:schemeClr val="accent1"/>
          </a:effectRef>
          <a:fontRef idx="minor">
            <a:schemeClr val="tx1"/>
          </a:fontRef>
        </p:style>
      </p:cxnSp>
      <p:sp>
        <p:nvSpPr>
          <p:cNvPr id="20" name="TextBox 19"/>
          <p:cNvSpPr txBox="1"/>
          <p:nvPr/>
        </p:nvSpPr>
        <p:spPr>
          <a:xfrm>
            <a:off x="813816" y="4617720"/>
            <a:ext cx="640080" cy="384048"/>
          </a:xfrm>
          <a:prstGeom prst="rect">
            <a:avLst/>
          </a:prstGeom>
          <a:noFill/>
        </p:spPr>
        <p:txBody>
          <a:bodyPr wrap="square" anchor="t" lIns="0" rIns="0" tIns="0" bIns="0">
            <a:spAutoFit/>
          </a:bodyPr>
          <a:lstStyle/>
          <a:p>
            <a:pPr algn="l"/>
            <a:r>
              <a:rPr sz="2200" b="0">
                <a:solidFill>
                  <a:srgbClr val="2F5F9E"/>
                </a:solidFill>
                <a:latin typeface="Courier New"/>
              </a:rPr>
              <a:t>04</a:t>
            </a:r>
          </a:p>
        </p:txBody>
      </p:sp>
      <p:sp>
        <p:nvSpPr>
          <p:cNvPr id="21" name="TextBox 20"/>
          <p:cNvSpPr txBox="1"/>
          <p:nvPr/>
        </p:nvSpPr>
        <p:spPr>
          <a:xfrm>
            <a:off x="1627632" y="4636008"/>
            <a:ext cx="4206240" cy="365760"/>
          </a:xfrm>
          <a:prstGeom prst="rect">
            <a:avLst/>
          </a:prstGeom>
          <a:noFill/>
        </p:spPr>
        <p:txBody>
          <a:bodyPr wrap="square" anchor="t" lIns="0" rIns="0" tIns="0" bIns="0">
            <a:spAutoFit/>
          </a:bodyPr>
          <a:lstStyle/>
          <a:p>
            <a:pPr algn="l"/>
            <a:r>
              <a:rPr sz="1900" b="1">
                <a:solidFill>
                  <a:srgbClr val="1D2125"/>
                </a:solidFill>
                <a:latin typeface="Arial"/>
              </a:rPr>
              <a:t>Ship it securely</a:t>
            </a:r>
          </a:p>
        </p:txBody>
      </p:sp>
      <p:sp>
        <p:nvSpPr>
          <p:cNvPr id="22" name="TextBox 21"/>
          <p:cNvSpPr txBox="1"/>
          <p:nvPr/>
        </p:nvSpPr>
        <p:spPr>
          <a:xfrm>
            <a:off x="5998464" y="4672584"/>
            <a:ext cx="5394960" cy="365760"/>
          </a:xfrm>
          <a:prstGeom prst="rect">
            <a:avLst/>
          </a:prstGeom>
          <a:noFill/>
        </p:spPr>
        <p:txBody>
          <a:bodyPr wrap="square" anchor="t" lIns="0" rIns="0" tIns="0" bIns="0">
            <a:spAutoFit/>
          </a:bodyPr>
          <a:lstStyle/>
          <a:p>
            <a:pPr algn="l"/>
            <a:r>
              <a:rPr sz="1400" b="0">
                <a:solidFill>
                  <a:srgbClr val="5F6368"/>
                </a:solidFill>
                <a:latin typeface="Arial"/>
              </a:rPr>
              <a:t>Add login, cloud hosting and monitoring for real use.</a:t>
            </a:r>
          </a:p>
        </p:txBody>
      </p:sp>
      <p:cxnSp>
        <p:nvCxnSpPr>
          <p:cNvPr id="23" name="Connector 22"/>
          <p:cNvCxnSpPr/>
          <p:nvPr/>
        </p:nvCxnSpPr>
        <p:spPr>
          <a:xfrm>
            <a:off x="813816" y="5193792"/>
            <a:ext cx="10570464" cy="0"/>
          </a:xfrm>
          <a:prstGeom prst="line">
            <a:avLst/>
          </a:prstGeom>
          <a:ln w="9525">
            <a:solidFill>
              <a:srgbClr val="DCD8CF"/>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gradFill rotWithShape="1">
          <a:gsLst>
            <a:gs pos="0">
              <a:srgbClr val="E4EDF7"/>
            </a:gs>
            <a:gs pos="100000">
              <a:srgbClr val="F8EBDD"/>
            </a:gs>
          </a:gsLst>
          <a:lin scaled="0" ang="2700000"/>
        </a:gradFill>
        <a:effectLst/>
      </p:bgPr>
    </p:bg>
    <p:spTree>
      <p:nvGrpSpPr>
        <p:cNvPr id="1" name=""/>
        <p:cNvGrpSpPr/>
        <p:nvPr/>
      </p:nvGrpSpPr>
      <p:grpSpPr/>
      <p:sp>
        <p:nvSpPr>
          <p:cNvPr id="2" name="Rectangle 1"/>
          <p:cNvSpPr/>
          <p:nvPr/>
        </p:nvSpPr>
        <p:spPr>
          <a:xfrm>
            <a:off x="0" y="0"/>
            <a:ext cx="12191695" cy="91440"/>
          </a:xfrm>
          <a:prstGeom prst="rect">
            <a:avLst/>
          </a:prstGeom>
          <a:gradFill rotWithShape="1">
            <a:gsLst>
              <a:gs pos="0">
                <a:srgbClr val="2F5F9E"/>
              </a:gs>
              <a:gs pos="100000">
                <a:srgbClr val="E08A3C"/>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13816" y="813816"/>
            <a:ext cx="10881360" cy="274320"/>
          </a:xfrm>
          <a:prstGeom prst="rect">
            <a:avLst/>
          </a:prstGeom>
          <a:noFill/>
        </p:spPr>
        <p:txBody>
          <a:bodyPr wrap="square" anchor="t" lIns="0" rIns="0" tIns="0" bIns="0">
            <a:spAutoFit/>
          </a:bodyPr>
          <a:lstStyle/>
          <a:p>
            <a:pPr algn="l"/>
            <a:r>
              <a:rPr sz="1100" b="0" spc="300">
                <a:solidFill>
                  <a:srgbClr val="B5541C"/>
                </a:solidFill>
                <a:latin typeface="Courier New"/>
              </a:rPr>
              <a:t>THE TEAM</a:t>
            </a:r>
          </a:p>
        </p:txBody>
      </p:sp>
      <p:sp>
        <p:nvSpPr>
          <p:cNvPr id="4" name="TextBox 3"/>
          <p:cNvSpPr txBox="1"/>
          <p:nvPr/>
        </p:nvSpPr>
        <p:spPr>
          <a:xfrm>
            <a:off x="813816" y="1243584"/>
            <a:ext cx="10881360" cy="640080"/>
          </a:xfrm>
          <a:prstGeom prst="rect">
            <a:avLst/>
          </a:prstGeom>
          <a:noFill/>
        </p:spPr>
        <p:txBody>
          <a:bodyPr wrap="square" anchor="t" lIns="0" rIns="0" tIns="0" bIns="0">
            <a:spAutoFit/>
          </a:bodyPr>
          <a:lstStyle/>
          <a:p>
            <a:pPr algn="l"/>
            <a:r>
              <a:rPr sz="3400" b="1">
                <a:solidFill>
                  <a:srgbClr val="1D2125"/>
                </a:solidFill>
                <a:latin typeface="Arial"/>
              </a:rPr>
              <a:t>Four members, one pipeline · 25% each</a:t>
            </a:r>
          </a:p>
        </p:txBody>
      </p:sp>
      <p:sp>
        <p:nvSpPr>
          <p:cNvPr id="5" name="TextBox 4"/>
          <p:cNvSpPr txBox="1"/>
          <p:nvPr/>
        </p:nvSpPr>
        <p:spPr>
          <a:xfrm>
            <a:off x="813816" y="6236208"/>
            <a:ext cx="9144000" cy="274320"/>
          </a:xfrm>
          <a:prstGeom prst="rect">
            <a:avLst/>
          </a:prstGeom>
          <a:noFill/>
        </p:spPr>
        <p:txBody>
          <a:bodyPr wrap="square" anchor="t" lIns="0" rIns="0" tIns="0" bIns="0">
            <a:spAutoFit/>
          </a:bodyPr>
          <a:lstStyle/>
          <a:p>
            <a:pPr algn="l"/>
            <a:r>
              <a:rPr sz="1100" b="0">
                <a:solidFill>
                  <a:srgbClr val="5F6368"/>
                </a:solidFill>
                <a:latin typeface="Arial"/>
              </a:rPr>
              <a:t>Term Deposit Predictor  ·  Data Miners</a:t>
            </a:r>
          </a:p>
        </p:txBody>
      </p:sp>
      <p:sp>
        <p:nvSpPr>
          <p:cNvPr id="6" name="TextBox 5"/>
          <p:cNvSpPr txBox="1"/>
          <p:nvPr/>
        </p:nvSpPr>
        <p:spPr>
          <a:xfrm>
            <a:off x="10469880" y="6236208"/>
            <a:ext cx="914400" cy="274320"/>
          </a:xfrm>
          <a:prstGeom prst="rect">
            <a:avLst/>
          </a:prstGeom>
          <a:noFill/>
        </p:spPr>
        <p:txBody>
          <a:bodyPr wrap="square" anchor="t" lIns="0" rIns="0" tIns="0" bIns="0">
            <a:spAutoFit/>
          </a:bodyPr>
          <a:lstStyle/>
          <a:p>
            <a:pPr algn="r"/>
            <a:r>
              <a:rPr sz="1100" b="0">
                <a:solidFill>
                  <a:srgbClr val="5F6368"/>
                </a:solidFill>
                <a:latin typeface="Arial"/>
              </a:rPr>
              <a:t>14</a:t>
            </a:r>
          </a:p>
        </p:txBody>
      </p:sp>
      <p:sp>
        <p:nvSpPr>
          <p:cNvPr id="7" name="Rounded Rectangle 6"/>
          <p:cNvSpPr/>
          <p:nvPr/>
        </p:nvSpPr>
        <p:spPr>
          <a:xfrm>
            <a:off x="813816" y="2084831"/>
            <a:ext cx="2505456" cy="3611880"/>
          </a:xfrm>
          <a:prstGeom prst="roundRect">
            <a:avLst>
              <a:gd name="adj" fmla="val 5000"/>
            </a:avLst>
          </a:prstGeom>
          <a:solidFill>
            <a:srgbClr val="FAF9F6"/>
          </a:solidFill>
          <a:ln w="9525">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850392" y="2084831"/>
            <a:ext cx="2432304" cy="45720"/>
          </a:xfrm>
          <a:prstGeom prst="rect">
            <a:avLst/>
          </a:prstGeom>
          <a:solidFill>
            <a:srgbClr val="2F5F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14984" y="2331720"/>
            <a:ext cx="2194560" cy="320040"/>
          </a:xfrm>
          <a:prstGeom prst="rect">
            <a:avLst/>
          </a:prstGeom>
          <a:noFill/>
        </p:spPr>
        <p:txBody>
          <a:bodyPr wrap="square" anchor="t" lIns="0" rIns="0" tIns="0" bIns="0">
            <a:spAutoFit/>
          </a:bodyPr>
          <a:lstStyle/>
          <a:p>
            <a:pPr algn="l"/>
            <a:r>
              <a:rPr sz="1500" b="1">
                <a:solidFill>
                  <a:srgbClr val="1D2125"/>
                </a:solidFill>
                <a:latin typeface="Arial"/>
              </a:rPr>
              <a:t>Gunathilaka W.A.D.S.</a:t>
            </a:r>
          </a:p>
        </p:txBody>
      </p:sp>
      <p:sp>
        <p:nvSpPr>
          <p:cNvPr id="10" name="TextBox 9"/>
          <p:cNvSpPr txBox="1"/>
          <p:nvPr/>
        </p:nvSpPr>
        <p:spPr>
          <a:xfrm>
            <a:off x="1014984" y="2651760"/>
            <a:ext cx="2194560" cy="274320"/>
          </a:xfrm>
          <a:prstGeom prst="rect">
            <a:avLst/>
          </a:prstGeom>
          <a:noFill/>
        </p:spPr>
        <p:txBody>
          <a:bodyPr wrap="square" anchor="t" lIns="0" rIns="0" tIns="0" bIns="0">
            <a:spAutoFit/>
          </a:bodyPr>
          <a:lstStyle/>
          <a:p>
            <a:pPr algn="l"/>
            <a:r>
              <a:rPr sz="1200" b="0" spc="100">
                <a:solidFill>
                  <a:srgbClr val="B5541C"/>
                </a:solidFill>
                <a:latin typeface="Courier New"/>
              </a:rPr>
              <a:t>IT23859456</a:t>
            </a:r>
          </a:p>
        </p:txBody>
      </p:sp>
      <p:cxnSp>
        <p:nvCxnSpPr>
          <p:cNvPr id="11" name="Connector 10"/>
          <p:cNvCxnSpPr/>
          <p:nvPr/>
        </p:nvCxnSpPr>
        <p:spPr>
          <a:xfrm>
            <a:off x="1014984" y="3063240"/>
            <a:ext cx="2103120" cy="0"/>
          </a:xfrm>
          <a:prstGeom prst="line">
            <a:avLst/>
          </a:prstGeom>
          <a:ln w="9525">
            <a:solidFill>
              <a:srgbClr val="DCD8CF"/>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1014984" y="3200400"/>
            <a:ext cx="2194560" cy="320040"/>
          </a:xfrm>
          <a:prstGeom prst="rect">
            <a:avLst/>
          </a:prstGeom>
          <a:noFill/>
        </p:spPr>
        <p:txBody>
          <a:bodyPr wrap="square" anchor="t" lIns="0" rIns="0" tIns="0" bIns="0">
            <a:spAutoFit/>
          </a:bodyPr>
          <a:lstStyle/>
          <a:p>
            <a:pPr algn="l"/>
            <a:r>
              <a:rPr sz="1400" b="1">
                <a:solidFill>
                  <a:srgbClr val="2F5F9E"/>
                </a:solidFill>
                <a:latin typeface="Arial"/>
              </a:rPr>
              <a:t>Data &amp; batch scoring</a:t>
            </a:r>
          </a:p>
        </p:txBody>
      </p:sp>
      <p:sp>
        <p:nvSpPr>
          <p:cNvPr id="13" name="TextBox 12"/>
          <p:cNvSpPr txBox="1"/>
          <p:nvPr/>
        </p:nvSpPr>
        <p:spPr>
          <a:xfrm>
            <a:off x="1014984" y="3611880"/>
            <a:ext cx="2148840" cy="1828800"/>
          </a:xfrm>
          <a:prstGeom prst="rect">
            <a:avLst/>
          </a:prstGeom>
          <a:noFill/>
        </p:spPr>
        <p:txBody>
          <a:bodyPr wrap="square" anchor="t" lIns="0" rIns="0" tIns="0" bIns="0">
            <a:spAutoFit/>
          </a:bodyPr>
          <a:lstStyle/>
          <a:p>
            <a:pPr algn="l">
              <a:lnSpc>
                <a:spcPct val="140000"/>
              </a:lnSpc>
            </a:pPr>
            <a:r>
              <a:rPr sz="1300" b="0">
                <a:solidFill>
                  <a:srgbClr val="5F6368"/>
                </a:solidFill>
                <a:latin typeface="Arial"/>
              </a:rPr>
              <a:t>•  Data download &amp; cleaning</a:t>
            </a:r>
          </a:p>
          <a:p>
            <a:pPr algn="l">
              <a:lnSpc>
                <a:spcPct val="140000"/>
              </a:lnSpc>
            </a:pPr>
            <a:r>
              <a:rPr sz="1300" b="0">
                <a:solidFill>
                  <a:srgbClr val="5F6368"/>
                </a:solidFill>
                <a:latin typeface="Arial"/>
              </a:rPr>
              <a:t>•  Data leakage checks</a:t>
            </a:r>
          </a:p>
          <a:p>
            <a:pPr algn="l">
              <a:lnSpc>
                <a:spcPct val="140000"/>
              </a:lnSpc>
            </a:pPr>
            <a:r>
              <a:rPr sz="1300" b="0">
                <a:solidFill>
                  <a:srgbClr val="5F6368"/>
                </a:solidFill>
                <a:latin typeface="Arial"/>
              </a:rPr>
              <a:t>•  Batch CSV scoring</a:t>
            </a:r>
          </a:p>
        </p:txBody>
      </p:sp>
      <p:sp>
        <p:nvSpPr>
          <p:cNvPr id="14" name="Rounded Rectangle 13"/>
          <p:cNvSpPr/>
          <p:nvPr/>
        </p:nvSpPr>
        <p:spPr>
          <a:xfrm>
            <a:off x="3502152" y="2084831"/>
            <a:ext cx="2505456" cy="3611880"/>
          </a:xfrm>
          <a:prstGeom prst="roundRect">
            <a:avLst>
              <a:gd name="adj" fmla="val 5000"/>
            </a:avLst>
          </a:prstGeom>
          <a:solidFill>
            <a:srgbClr val="FAF9F6"/>
          </a:solidFill>
          <a:ln w="9525">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3538728" y="2084831"/>
            <a:ext cx="2432304" cy="45720"/>
          </a:xfrm>
          <a:prstGeom prst="rect">
            <a:avLst/>
          </a:prstGeom>
          <a:solidFill>
            <a:srgbClr val="2F5F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703320" y="2331720"/>
            <a:ext cx="2194560" cy="320040"/>
          </a:xfrm>
          <a:prstGeom prst="rect">
            <a:avLst/>
          </a:prstGeom>
          <a:noFill/>
        </p:spPr>
        <p:txBody>
          <a:bodyPr wrap="square" anchor="t" lIns="0" rIns="0" tIns="0" bIns="0">
            <a:spAutoFit/>
          </a:bodyPr>
          <a:lstStyle/>
          <a:p>
            <a:pPr algn="l"/>
            <a:r>
              <a:rPr sz="1500" b="1">
                <a:solidFill>
                  <a:srgbClr val="1D2125"/>
                </a:solidFill>
                <a:latin typeface="Arial"/>
              </a:rPr>
              <a:t>Edirisinghe E.M.K.L.</a:t>
            </a:r>
          </a:p>
        </p:txBody>
      </p:sp>
      <p:sp>
        <p:nvSpPr>
          <p:cNvPr id="17" name="TextBox 16"/>
          <p:cNvSpPr txBox="1"/>
          <p:nvPr/>
        </p:nvSpPr>
        <p:spPr>
          <a:xfrm>
            <a:off x="3703320" y="2651760"/>
            <a:ext cx="2194560" cy="274320"/>
          </a:xfrm>
          <a:prstGeom prst="rect">
            <a:avLst/>
          </a:prstGeom>
          <a:noFill/>
        </p:spPr>
        <p:txBody>
          <a:bodyPr wrap="square" anchor="t" lIns="0" rIns="0" tIns="0" bIns="0">
            <a:spAutoFit/>
          </a:bodyPr>
          <a:lstStyle/>
          <a:p>
            <a:pPr algn="l"/>
            <a:r>
              <a:rPr sz="1200" b="0" spc="100">
                <a:solidFill>
                  <a:srgbClr val="B5541C"/>
                </a:solidFill>
                <a:latin typeface="Courier New"/>
              </a:rPr>
              <a:t>IT23857780</a:t>
            </a:r>
          </a:p>
        </p:txBody>
      </p:sp>
      <p:cxnSp>
        <p:nvCxnSpPr>
          <p:cNvPr id="18" name="Connector 17"/>
          <p:cNvCxnSpPr/>
          <p:nvPr/>
        </p:nvCxnSpPr>
        <p:spPr>
          <a:xfrm>
            <a:off x="3703320" y="3063240"/>
            <a:ext cx="2103120" cy="0"/>
          </a:xfrm>
          <a:prstGeom prst="line">
            <a:avLst/>
          </a:prstGeom>
          <a:ln w="9525">
            <a:solidFill>
              <a:srgbClr val="DCD8CF"/>
            </a:solidFill>
          </a:ln>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3703320" y="3200400"/>
            <a:ext cx="2194560" cy="320040"/>
          </a:xfrm>
          <a:prstGeom prst="rect">
            <a:avLst/>
          </a:prstGeom>
          <a:noFill/>
        </p:spPr>
        <p:txBody>
          <a:bodyPr wrap="square" anchor="t" lIns="0" rIns="0" tIns="0" bIns="0">
            <a:spAutoFit/>
          </a:bodyPr>
          <a:lstStyle/>
          <a:p>
            <a:pPr algn="l"/>
            <a:r>
              <a:rPr sz="1400" b="1">
                <a:solidFill>
                  <a:srgbClr val="2F5F9E"/>
                </a:solidFill>
                <a:latin typeface="Arial"/>
              </a:rPr>
              <a:t>EDA &amp; features</a:t>
            </a:r>
          </a:p>
        </p:txBody>
      </p:sp>
      <p:sp>
        <p:nvSpPr>
          <p:cNvPr id="20" name="TextBox 19"/>
          <p:cNvSpPr txBox="1"/>
          <p:nvPr/>
        </p:nvSpPr>
        <p:spPr>
          <a:xfrm>
            <a:off x="3703320" y="3611880"/>
            <a:ext cx="2148840" cy="1828800"/>
          </a:xfrm>
          <a:prstGeom prst="rect">
            <a:avLst/>
          </a:prstGeom>
          <a:noFill/>
        </p:spPr>
        <p:txBody>
          <a:bodyPr wrap="square" anchor="t" lIns="0" rIns="0" tIns="0" bIns="0">
            <a:spAutoFit/>
          </a:bodyPr>
          <a:lstStyle/>
          <a:p>
            <a:pPr algn="l">
              <a:lnSpc>
                <a:spcPct val="140000"/>
              </a:lnSpc>
            </a:pPr>
            <a:r>
              <a:rPr sz="1300" b="0">
                <a:solidFill>
                  <a:srgbClr val="5F6368"/>
                </a:solidFill>
                <a:latin typeface="Arial"/>
              </a:rPr>
              <a:t>•  Exploratory analysis</a:t>
            </a:r>
          </a:p>
          <a:p>
            <a:pPr algn="l">
              <a:lnSpc>
                <a:spcPct val="140000"/>
              </a:lnSpc>
            </a:pPr>
            <a:r>
              <a:rPr sz="1300" b="0">
                <a:solidFill>
                  <a:srgbClr val="5F6368"/>
                </a:solidFill>
                <a:latin typeface="Arial"/>
              </a:rPr>
              <a:t>•  Feature engineering</a:t>
            </a:r>
          </a:p>
          <a:p>
            <a:pPr algn="l">
              <a:lnSpc>
                <a:spcPct val="140000"/>
              </a:lnSpc>
            </a:pPr>
            <a:r>
              <a:rPr sz="1300" b="0">
                <a:solidFill>
                  <a:srgbClr val="5F6368"/>
                </a:solidFill>
                <a:latin typeface="Arial"/>
              </a:rPr>
              <a:t>•  Outlier capping</a:t>
            </a:r>
          </a:p>
          <a:p>
            <a:pPr algn="l">
              <a:lnSpc>
                <a:spcPct val="140000"/>
              </a:lnSpc>
            </a:pPr>
            <a:r>
              <a:rPr sz="1300" b="0">
                <a:solidFill>
                  <a:srgbClr val="5F6368"/>
                </a:solidFill>
                <a:latin typeface="Arial"/>
              </a:rPr>
              <a:t>•  EDA page</a:t>
            </a:r>
          </a:p>
        </p:txBody>
      </p:sp>
      <p:sp>
        <p:nvSpPr>
          <p:cNvPr id="21" name="Rounded Rectangle 20"/>
          <p:cNvSpPr/>
          <p:nvPr/>
        </p:nvSpPr>
        <p:spPr>
          <a:xfrm>
            <a:off x="6190488" y="2084831"/>
            <a:ext cx="2505456" cy="3611880"/>
          </a:xfrm>
          <a:prstGeom prst="roundRect">
            <a:avLst>
              <a:gd name="adj" fmla="val 5000"/>
            </a:avLst>
          </a:prstGeom>
          <a:solidFill>
            <a:srgbClr val="FAF9F6"/>
          </a:solidFill>
          <a:ln w="9525">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227064" y="2084831"/>
            <a:ext cx="2432304" cy="45720"/>
          </a:xfrm>
          <a:prstGeom prst="rect">
            <a:avLst/>
          </a:prstGeom>
          <a:solidFill>
            <a:srgbClr val="2F5F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391656" y="2331720"/>
            <a:ext cx="2194560" cy="320040"/>
          </a:xfrm>
          <a:prstGeom prst="rect">
            <a:avLst/>
          </a:prstGeom>
          <a:noFill/>
        </p:spPr>
        <p:txBody>
          <a:bodyPr wrap="square" anchor="t" lIns="0" rIns="0" tIns="0" bIns="0">
            <a:spAutoFit/>
          </a:bodyPr>
          <a:lstStyle/>
          <a:p>
            <a:pPr algn="l"/>
            <a:r>
              <a:rPr sz="1500" b="1">
                <a:solidFill>
                  <a:srgbClr val="1D2125"/>
                </a:solidFill>
                <a:latin typeface="Arial"/>
              </a:rPr>
              <a:t>Illesinghe E.S.</a:t>
            </a:r>
          </a:p>
        </p:txBody>
      </p:sp>
      <p:sp>
        <p:nvSpPr>
          <p:cNvPr id="24" name="TextBox 23"/>
          <p:cNvSpPr txBox="1"/>
          <p:nvPr/>
        </p:nvSpPr>
        <p:spPr>
          <a:xfrm>
            <a:off x="6391656" y="2651760"/>
            <a:ext cx="2194560" cy="274320"/>
          </a:xfrm>
          <a:prstGeom prst="rect">
            <a:avLst/>
          </a:prstGeom>
          <a:noFill/>
        </p:spPr>
        <p:txBody>
          <a:bodyPr wrap="square" anchor="t" lIns="0" rIns="0" tIns="0" bIns="0">
            <a:spAutoFit/>
          </a:bodyPr>
          <a:lstStyle/>
          <a:p>
            <a:pPr algn="l"/>
            <a:r>
              <a:rPr sz="1200" b="0" spc="100">
                <a:solidFill>
                  <a:srgbClr val="B5541C"/>
                </a:solidFill>
                <a:latin typeface="Courier New"/>
              </a:rPr>
              <a:t>IT23557024</a:t>
            </a:r>
          </a:p>
        </p:txBody>
      </p:sp>
      <p:cxnSp>
        <p:nvCxnSpPr>
          <p:cNvPr id="25" name="Connector 24"/>
          <p:cNvCxnSpPr/>
          <p:nvPr/>
        </p:nvCxnSpPr>
        <p:spPr>
          <a:xfrm>
            <a:off x="6391656" y="3063240"/>
            <a:ext cx="2103120" cy="0"/>
          </a:xfrm>
          <a:prstGeom prst="line">
            <a:avLst/>
          </a:prstGeom>
          <a:ln w="9525">
            <a:solidFill>
              <a:srgbClr val="DCD8CF"/>
            </a:solidFill>
          </a:ln>
        </p:spPr>
        <p:style>
          <a:lnRef idx="2">
            <a:schemeClr val="accent1"/>
          </a:lnRef>
          <a:fillRef idx="0">
            <a:schemeClr val="accent1"/>
          </a:fillRef>
          <a:effectRef idx="1">
            <a:schemeClr val="accent1"/>
          </a:effectRef>
          <a:fontRef idx="minor">
            <a:schemeClr val="tx1"/>
          </a:fontRef>
        </p:style>
      </p:cxnSp>
      <p:sp>
        <p:nvSpPr>
          <p:cNvPr id="26" name="TextBox 25"/>
          <p:cNvSpPr txBox="1"/>
          <p:nvPr/>
        </p:nvSpPr>
        <p:spPr>
          <a:xfrm>
            <a:off x="6391656" y="3200400"/>
            <a:ext cx="2194560" cy="320040"/>
          </a:xfrm>
          <a:prstGeom prst="rect">
            <a:avLst/>
          </a:prstGeom>
          <a:noFill/>
        </p:spPr>
        <p:txBody>
          <a:bodyPr wrap="square" anchor="t" lIns="0" rIns="0" tIns="0" bIns="0">
            <a:spAutoFit/>
          </a:bodyPr>
          <a:lstStyle/>
          <a:p>
            <a:pPr algn="l"/>
            <a:r>
              <a:rPr sz="1400" b="1">
                <a:solidFill>
                  <a:srgbClr val="2F5F9E"/>
                </a:solidFill>
                <a:latin typeface="Arial"/>
              </a:rPr>
              <a:t>Models &amp; evaluation</a:t>
            </a:r>
          </a:p>
        </p:txBody>
      </p:sp>
      <p:sp>
        <p:nvSpPr>
          <p:cNvPr id="27" name="TextBox 26"/>
          <p:cNvSpPr txBox="1"/>
          <p:nvPr/>
        </p:nvSpPr>
        <p:spPr>
          <a:xfrm>
            <a:off x="6391656" y="3611880"/>
            <a:ext cx="2148840" cy="1828800"/>
          </a:xfrm>
          <a:prstGeom prst="rect">
            <a:avLst/>
          </a:prstGeom>
          <a:noFill/>
        </p:spPr>
        <p:txBody>
          <a:bodyPr wrap="square" anchor="t" lIns="0" rIns="0" tIns="0" bIns="0">
            <a:spAutoFit/>
          </a:bodyPr>
          <a:lstStyle/>
          <a:p>
            <a:pPr algn="l">
              <a:lnSpc>
                <a:spcPct val="140000"/>
              </a:lnSpc>
            </a:pPr>
            <a:r>
              <a:rPr sz="1300" b="0">
                <a:solidFill>
                  <a:srgbClr val="5F6368"/>
                </a:solidFill>
                <a:latin typeface="Arial"/>
              </a:rPr>
              <a:t>•  Six models compared</a:t>
            </a:r>
          </a:p>
          <a:p>
            <a:pPr algn="l">
              <a:lnSpc>
                <a:spcPct val="140000"/>
              </a:lnSpc>
            </a:pPr>
            <a:r>
              <a:rPr sz="1300" b="0">
                <a:solidFill>
                  <a:srgbClr val="5F6368"/>
                </a:solidFill>
                <a:latin typeface="Arial"/>
              </a:rPr>
              <a:t>•  Cut-off tuning</a:t>
            </a:r>
          </a:p>
          <a:p>
            <a:pPr algn="l">
              <a:lnSpc>
                <a:spcPct val="140000"/>
              </a:lnSpc>
            </a:pPr>
            <a:r>
              <a:rPr sz="1300" b="0">
                <a:solidFill>
                  <a:srgbClr val="5F6368"/>
                </a:solidFill>
                <a:latin typeface="Arial"/>
              </a:rPr>
              <a:t>•  Feature importance</a:t>
            </a:r>
          </a:p>
          <a:p>
            <a:pPr algn="l">
              <a:lnSpc>
                <a:spcPct val="140000"/>
              </a:lnSpc>
            </a:pPr>
            <a:r>
              <a:rPr sz="1300" b="0">
                <a:solidFill>
                  <a:srgbClr val="5F6368"/>
                </a:solidFill>
                <a:latin typeface="Arial"/>
              </a:rPr>
              <a:t>•  Models page &amp; report</a:t>
            </a:r>
          </a:p>
        </p:txBody>
      </p:sp>
      <p:sp>
        <p:nvSpPr>
          <p:cNvPr id="28" name="Rounded Rectangle 27"/>
          <p:cNvSpPr/>
          <p:nvPr/>
        </p:nvSpPr>
        <p:spPr>
          <a:xfrm>
            <a:off x="8878824" y="2084831"/>
            <a:ext cx="2505456" cy="3611880"/>
          </a:xfrm>
          <a:prstGeom prst="roundRect">
            <a:avLst>
              <a:gd name="adj" fmla="val 5000"/>
            </a:avLst>
          </a:prstGeom>
          <a:solidFill>
            <a:srgbClr val="FAF9F6"/>
          </a:solidFill>
          <a:ln w="9525">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8915400" y="2084831"/>
            <a:ext cx="2432304" cy="45720"/>
          </a:xfrm>
          <a:prstGeom prst="rect">
            <a:avLst/>
          </a:prstGeom>
          <a:solidFill>
            <a:srgbClr val="2F5F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079992" y="2331720"/>
            <a:ext cx="2194560" cy="320040"/>
          </a:xfrm>
          <a:prstGeom prst="rect">
            <a:avLst/>
          </a:prstGeom>
          <a:noFill/>
        </p:spPr>
        <p:txBody>
          <a:bodyPr wrap="square" anchor="t" lIns="0" rIns="0" tIns="0" bIns="0">
            <a:spAutoFit/>
          </a:bodyPr>
          <a:lstStyle/>
          <a:p>
            <a:pPr algn="l"/>
            <a:r>
              <a:rPr sz="1500" b="1">
                <a:solidFill>
                  <a:srgbClr val="1D2125"/>
                </a:solidFill>
                <a:latin typeface="Arial"/>
              </a:rPr>
              <a:t>Kaluarachchi R.G.</a:t>
            </a:r>
          </a:p>
        </p:txBody>
      </p:sp>
      <p:sp>
        <p:nvSpPr>
          <p:cNvPr id="31" name="TextBox 30"/>
          <p:cNvSpPr txBox="1"/>
          <p:nvPr/>
        </p:nvSpPr>
        <p:spPr>
          <a:xfrm>
            <a:off x="9079992" y="2651760"/>
            <a:ext cx="2194560" cy="274320"/>
          </a:xfrm>
          <a:prstGeom prst="rect">
            <a:avLst/>
          </a:prstGeom>
          <a:noFill/>
        </p:spPr>
        <p:txBody>
          <a:bodyPr wrap="square" anchor="t" lIns="0" rIns="0" tIns="0" bIns="0">
            <a:spAutoFit/>
          </a:bodyPr>
          <a:lstStyle/>
          <a:p>
            <a:pPr algn="l"/>
            <a:r>
              <a:rPr sz="1200" b="0" spc="100">
                <a:solidFill>
                  <a:srgbClr val="B5541C"/>
                </a:solidFill>
                <a:latin typeface="Courier New"/>
              </a:rPr>
              <a:t>IT23544918</a:t>
            </a:r>
          </a:p>
        </p:txBody>
      </p:sp>
      <p:cxnSp>
        <p:nvCxnSpPr>
          <p:cNvPr id="32" name="Connector 31"/>
          <p:cNvCxnSpPr/>
          <p:nvPr/>
        </p:nvCxnSpPr>
        <p:spPr>
          <a:xfrm>
            <a:off x="9079992" y="3063240"/>
            <a:ext cx="2103120" cy="0"/>
          </a:xfrm>
          <a:prstGeom prst="line">
            <a:avLst/>
          </a:prstGeom>
          <a:ln w="9525">
            <a:solidFill>
              <a:srgbClr val="DCD8CF"/>
            </a:solidFill>
          </a:ln>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9079992" y="3200400"/>
            <a:ext cx="2194560" cy="320040"/>
          </a:xfrm>
          <a:prstGeom prst="rect">
            <a:avLst/>
          </a:prstGeom>
          <a:noFill/>
        </p:spPr>
        <p:txBody>
          <a:bodyPr wrap="square" anchor="t" lIns="0" rIns="0" tIns="0" bIns="0">
            <a:spAutoFit/>
          </a:bodyPr>
          <a:lstStyle/>
          <a:p>
            <a:pPr algn="l"/>
            <a:r>
              <a:rPr sz="1400" b="1">
                <a:solidFill>
                  <a:srgbClr val="2F5F9E"/>
                </a:solidFill>
                <a:latin typeface="Arial"/>
              </a:rPr>
              <a:t>API, app &amp; testing</a:t>
            </a:r>
          </a:p>
        </p:txBody>
      </p:sp>
      <p:sp>
        <p:nvSpPr>
          <p:cNvPr id="34" name="TextBox 33"/>
          <p:cNvSpPr txBox="1"/>
          <p:nvPr/>
        </p:nvSpPr>
        <p:spPr>
          <a:xfrm>
            <a:off x="9079992" y="3611880"/>
            <a:ext cx="2148840" cy="1828800"/>
          </a:xfrm>
          <a:prstGeom prst="rect">
            <a:avLst/>
          </a:prstGeom>
          <a:noFill/>
        </p:spPr>
        <p:txBody>
          <a:bodyPr wrap="square" anchor="t" lIns="0" rIns="0" tIns="0" bIns="0">
            <a:spAutoFit/>
          </a:bodyPr>
          <a:lstStyle/>
          <a:p>
            <a:pPr algn="l">
              <a:lnSpc>
                <a:spcPct val="140000"/>
              </a:lnSpc>
            </a:pPr>
            <a:r>
              <a:rPr sz="1300" b="0">
                <a:solidFill>
                  <a:srgbClr val="5F6368"/>
                </a:solidFill>
                <a:latin typeface="Arial"/>
              </a:rPr>
              <a:t>•  FastAPI backend</a:t>
            </a:r>
          </a:p>
          <a:p>
            <a:pPr algn="l">
              <a:lnSpc>
                <a:spcPct val="140000"/>
              </a:lnSpc>
            </a:pPr>
            <a:r>
              <a:rPr sz="1300" b="0">
                <a:solidFill>
                  <a:srgbClr val="5F6368"/>
                </a:solidFill>
                <a:latin typeface="Arial"/>
              </a:rPr>
              <a:t>•  Home &amp; prediction pages</a:t>
            </a:r>
          </a:p>
          <a:p>
            <a:pPr algn="l">
              <a:lnSpc>
                <a:spcPct val="140000"/>
              </a:lnSpc>
            </a:pPr>
            <a:r>
              <a:rPr sz="1300" b="0">
                <a:solidFill>
                  <a:srgbClr val="5F6368"/>
                </a:solidFill>
                <a:latin typeface="Arial"/>
              </a:rPr>
              <a:t>•  App shell &amp; routing</a:t>
            </a:r>
          </a:p>
          <a:p>
            <a:pPr algn="l">
              <a:lnSpc>
                <a:spcPct val="140000"/>
              </a:lnSpc>
            </a:pPr>
            <a:r>
              <a:rPr sz="1300" b="0">
                <a:solidFill>
                  <a:srgbClr val="5F6368"/>
                </a:solidFill>
                <a:latin typeface="Arial"/>
              </a:rPr>
              <a:t>•  Automated tests</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gradFill rotWithShape="1">
          <a:gsLst>
            <a:gs pos="0">
              <a:srgbClr val="0F1B33"/>
            </a:gs>
            <a:gs pos="100000">
              <a:srgbClr val="1F4E82"/>
            </a:gs>
          </a:gsLst>
          <a:lin scaled="0" ang="2700000"/>
        </a:gradFill>
        <a:effectLst/>
      </p:bgPr>
    </p:bg>
    <p:spTree>
      <p:nvGrpSpPr>
        <p:cNvPr id="1" name=""/>
        <p:cNvGrpSpPr/>
        <p:nvPr/>
      </p:nvGrpSpPr>
      <p:grpSpPr/>
      <p:sp>
        <p:nvSpPr>
          <p:cNvPr id="2" name="TextBox 1"/>
          <p:cNvSpPr txBox="1"/>
          <p:nvPr/>
        </p:nvSpPr>
        <p:spPr>
          <a:xfrm>
            <a:off x="813816" y="813816"/>
            <a:ext cx="10881360" cy="274320"/>
          </a:xfrm>
          <a:prstGeom prst="rect">
            <a:avLst/>
          </a:prstGeom>
          <a:noFill/>
        </p:spPr>
        <p:txBody>
          <a:bodyPr wrap="square" anchor="t" lIns="0" rIns="0" tIns="0" bIns="0">
            <a:spAutoFit/>
          </a:bodyPr>
          <a:lstStyle/>
          <a:p>
            <a:pPr algn="l"/>
            <a:r>
              <a:rPr sz="1100" b="0" spc="300">
                <a:solidFill>
                  <a:srgbClr val="F2994A"/>
                </a:solidFill>
                <a:latin typeface="Courier New"/>
              </a:rPr>
              <a:t>IN ONE SENTENCE</a:t>
            </a:r>
          </a:p>
        </p:txBody>
      </p:sp>
      <p:pic>
        <p:nvPicPr>
          <p:cNvPr id="3" name="Picture 2" descr="title_gains_curve.png"/>
          <p:cNvPicPr>
            <a:picLocks noChangeAspect="1"/>
          </p:cNvPicPr>
          <p:nvPr/>
        </p:nvPicPr>
        <p:blipFill>
          <a:blip r:embed="rId3"/>
          <a:stretch>
            <a:fillRect/>
          </a:stretch>
        </p:blipFill>
        <p:spPr>
          <a:xfrm>
            <a:off x="0" y="4315968"/>
            <a:ext cx="12191695" cy="2542032"/>
          </a:xfrm>
          <a:prstGeom prst="rect">
            <a:avLst/>
          </a:prstGeom>
        </p:spPr>
      </p:pic>
      <p:sp>
        <p:nvSpPr>
          <p:cNvPr id="4" name="TextBox 3"/>
          <p:cNvSpPr txBox="1"/>
          <p:nvPr/>
        </p:nvSpPr>
        <p:spPr>
          <a:xfrm>
            <a:off x="813816" y="1243584"/>
            <a:ext cx="10332720" cy="1737360"/>
          </a:xfrm>
          <a:prstGeom prst="rect">
            <a:avLst/>
          </a:prstGeom>
          <a:noFill/>
        </p:spPr>
        <p:txBody>
          <a:bodyPr wrap="square" anchor="t" lIns="0" rIns="0" tIns="0" bIns="0">
            <a:spAutoFit/>
          </a:bodyPr>
          <a:lstStyle/>
          <a:p>
            <a:pPr algn="l">
              <a:lnSpc>
                <a:spcPct val="105000"/>
              </a:lnSpc>
            </a:pPr>
            <a:r>
              <a:rPr sz="3600" b="1">
                <a:solidFill>
                  <a:srgbClr val="F5F3EE"/>
                </a:solidFill>
                <a:latin typeface="Arial"/>
              </a:rPr>
              <a:t>Our predictor tells the call team who to phone first, reaching 44% of subscribers in the first 10% of calls.</a:t>
            </a:r>
          </a:p>
        </p:txBody>
      </p:sp>
      <p:sp>
        <p:nvSpPr>
          <p:cNvPr id="5" name="TextBox 4"/>
          <p:cNvSpPr txBox="1"/>
          <p:nvPr/>
        </p:nvSpPr>
        <p:spPr>
          <a:xfrm>
            <a:off x="813816" y="3154680"/>
            <a:ext cx="10881360" cy="457200"/>
          </a:xfrm>
          <a:prstGeom prst="rect">
            <a:avLst/>
          </a:prstGeom>
          <a:noFill/>
        </p:spPr>
        <p:txBody>
          <a:bodyPr wrap="square" anchor="t" lIns="0" rIns="0" tIns="0" bIns="0">
            <a:spAutoFit/>
          </a:bodyPr>
          <a:lstStyle/>
          <a:p>
            <a:pPr algn="l"/>
            <a:r>
              <a:rPr sz="2200" b="0">
                <a:solidFill>
                  <a:srgbClr val="B8BCC2"/>
                </a:solidFill>
                <a:latin typeface="Arial"/>
              </a:rPr>
              <a:t>Thank you · questions?</a:t>
            </a:r>
          </a:p>
        </p:txBody>
      </p:sp>
      <p:sp>
        <p:nvSpPr>
          <p:cNvPr id="6" name="TextBox 5"/>
          <p:cNvSpPr txBox="1"/>
          <p:nvPr/>
        </p:nvSpPr>
        <p:spPr>
          <a:xfrm>
            <a:off x="813816" y="3703320"/>
            <a:ext cx="10881360" cy="274320"/>
          </a:xfrm>
          <a:prstGeom prst="rect">
            <a:avLst/>
          </a:prstGeom>
          <a:noFill/>
        </p:spPr>
        <p:txBody>
          <a:bodyPr wrap="square" anchor="t" lIns="0" rIns="0" tIns="0" bIns="0">
            <a:spAutoFit/>
          </a:bodyPr>
          <a:lstStyle/>
          <a:p>
            <a:pPr algn="l"/>
            <a:r>
              <a:rPr sz="1200" b="0">
                <a:solidFill>
                  <a:srgbClr val="E08A3C"/>
                </a:solidFill>
                <a:latin typeface="Arial"/>
              </a:rPr>
              <a:t>Gunathilaka W.A.D.S. (IT23859456)   ·   Edirisinghe E.M.K.L. (IT23857780)   ·   Illesinghe E.S. (IT23557024)   ·   Kaluarachchi R.G. (IT23544918)</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gradFill rotWithShape="1">
          <a:gsLst>
            <a:gs pos="0">
              <a:srgbClr val="E4EDF7"/>
            </a:gs>
            <a:gs pos="100000">
              <a:srgbClr val="F8EBDD"/>
            </a:gs>
          </a:gsLst>
          <a:lin scaled="0" ang="2700000"/>
        </a:gradFill>
        <a:effectLst/>
      </p:bgPr>
    </p:bg>
    <p:spTree>
      <p:nvGrpSpPr>
        <p:cNvPr id="1" name=""/>
        <p:cNvGrpSpPr/>
        <p:nvPr/>
      </p:nvGrpSpPr>
      <p:grpSpPr/>
      <p:sp>
        <p:nvSpPr>
          <p:cNvPr id="2" name="Rectangle 1"/>
          <p:cNvSpPr/>
          <p:nvPr/>
        </p:nvSpPr>
        <p:spPr>
          <a:xfrm>
            <a:off x="0" y="0"/>
            <a:ext cx="12191695" cy="91440"/>
          </a:xfrm>
          <a:prstGeom prst="rect">
            <a:avLst/>
          </a:prstGeom>
          <a:gradFill rotWithShape="1">
            <a:gsLst>
              <a:gs pos="0">
                <a:srgbClr val="2F5F9E"/>
              </a:gs>
              <a:gs pos="100000">
                <a:srgbClr val="E08A3C"/>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828800" y="548640"/>
            <a:ext cx="8778240" cy="274320"/>
          </a:xfrm>
          <a:prstGeom prst="rect">
            <a:avLst/>
          </a:prstGeom>
          <a:noFill/>
        </p:spPr>
        <p:txBody>
          <a:bodyPr wrap="square" anchor="t" lIns="0" rIns="0" tIns="0" bIns="0">
            <a:spAutoFit/>
          </a:bodyPr>
          <a:lstStyle/>
          <a:p>
            <a:pPr algn="l"/>
            <a:r>
              <a:rPr sz="1100" b="0" spc="300">
                <a:solidFill>
                  <a:srgbClr val="B5541C"/>
                </a:solidFill>
                <a:latin typeface="Courier New"/>
              </a:rPr>
              <a:t>BACKUP · DEMO SCREEN</a:t>
            </a:r>
          </a:p>
        </p:txBody>
      </p:sp>
      <p:sp>
        <p:nvSpPr>
          <p:cNvPr id="4" name="TextBox 3"/>
          <p:cNvSpPr txBox="1"/>
          <p:nvPr/>
        </p:nvSpPr>
        <p:spPr>
          <a:xfrm>
            <a:off x="1828800" y="868680"/>
            <a:ext cx="8778240" cy="411480"/>
          </a:xfrm>
          <a:prstGeom prst="rect">
            <a:avLst/>
          </a:prstGeom>
          <a:noFill/>
        </p:spPr>
        <p:txBody>
          <a:bodyPr wrap="square" anchor="t" lIns="0" rIns="0" tIns="0" bIns="0">
            <a:spAutoFit/>
          </a:bodyPr>
          <a:lstStyle/>
          <a:p>
            <a:pPr algn="l"/>
            <a:r>
              <a:rPr sz="2200" b="1">
                <a:solidFill>
                  <a:srgbClr val="1D2125"/>
                </a:solidFill>
                <a:latin typeface="Arial"/>
              </a:rPr>
              <a:t>Home · what the tool does and the model in use</a:t>
            </a:r>
          </a:p>
        </p:txBody>
      </p:sp>
      <p:pic>
        <p:nvPicPr>
          <p:cNvPr id="5" name="Picture 4" descr="00_home.png"/>
          <p:cNvPicPr>
            <a:picLocks noChangeAspect="1"/>
          </p:cNvPicPr>
          <p:nvPr/>
        </p:nvPicPr>
        <p:blipFill>
          <a:blip r:embed="rId2"/>
          <a:stretch>
            <a:fillRect/>
          </a:stretch>
        </p:blipFill>
        <p:spPr>
          <a:xfrm>
            <a:off x="3573667" y="1463040"/>
            <a:ext cx="5041617" cy="5120640"/>
          </a:xfrm>
          <a:prstGeom prst="rect">
            <a:avLst/>
          </a:prstGeom>
          <a:ln w="9525">
            <a:solidFill>
              <a:srgbClr val="DCD8CF"/>
            </a:solidFill>
          </a:ln>
        </p:spPr>
      </p:pic>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gradFill rotWithShape="1">
          <a:gsLst>
            <a:gs pos="0">
              <a:srgbClr val="E4EDF7"/>
            </a:gs>
            <a:gs pos="100000">
              <a:srgbClr val="F8EBDD"/>
            </a:gs>
          </a:gsLst>
          <a:lin scaled="0" ang="2700000"/>
        </a:gradFill>
        <a:effectLst/>
      </p:bgPr>
    </p:bg>
    <p:spTree>
      <p:nvGrpSpPr>
        <p:cNvPr id="1" name=""/>
        <p:cNvGrpSpPr/>
        <p:nvPr/>
      </p:nvGrpSpPr>
      <p:grpSpPr/>
      <p:sp>
        <p:nvSpPr>
          <p:cNvPr id="2" name="Rectangle 1"/>
          <p:cNvSpPr/>
          <p:nvPr/>
        </p:nvSpPr>
        <p:spPr>
          <a:xfrm>
            <a:off x="0" y="0"/>
            <a:ext cx="12191695" cy="91440"/>
          </a:xfrm>
          <a:prstGeom prst="rect">
            <a:avLst/>
          </a:prstGeom>
          <a:gradFill rotWithShape="1">
            <a:gsLst>
              <a:gs pos="0">
                <a:srgbClr val="2F5F9E"/>
              </a:gs>
              <a:gs pos="100000">
                <a:srgbClr val="E08A3C"/>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828800" y="548640"/>
            <a:ext cx="8778240" cy="274320"/>
          </a:xfrm>
          <a:prstGeom prst="rect">
            <a:avLst/>
          </a:prstGeom>
          <a:noFill/>
        </p:spPr>
        <p:txBody>
          <a:bodyPr wrap="square" anchor="t" lIns="0" rIns="0" tIns="0" bIns="0">
            <a:spAutoFit/>
          </a:bodyPr>
          <a:lstStyle/>
          <a:p>
            <a:pPr algn="l"/>
            <a:r>
              <a:rPr sz="1100" b="0" spc="300">
                <a:solidFill>
                  <a:srgbClr val="B5541C"/>
                </a:solidFill>
                <a:latin typeface="Courier New"/>
              </a:rPr>
              <a:t>BACKUP · DEMO SCREEN</a:t>
            </a:r>
          </a:p>
        </p:txBody>
      </p:sp>
      <p:sp>
        <p:nvSpPr>
          <p:cNvPr id="4" name="TextBox 3"/>
          <p:cNvSpPr txBox="1"/>
          <p:nvPr/>
        </p:nvSpPr>
        <p:spPr>
          <a:xfrm>
            <a:off x="1828800" y="868680"/>
            <a:ext cx="8778240" cy="411480"/>
          </a:xfrm>
          <a:prstGeom prst="rect">
            <a:avLst/>
          </a:prstGeom>
          <a:noFill/>
        </p:spPr>
        <p:txBody>
          <a:bodyPr wrap="square" anchor="t" lIns="0" rIns="0" tIns="0" bIns="0">
            <a:spAutoFit/>
          </a:bodyPr>
          <a:lstStyle/>
          <a:p>
            <a:pPr algn="l"/>
            <a:r>
              <a:rPr sz="2200" b="1">
                <a:solidFill>
                  <a:srgbClr val="1D2125"/>
                </a:solidFill>
                <a:latin typeface="Arial"/>
              </a:rPr>
              <a:t>Prediction · scoring a single client</a:t>
            </a:r>
          </a:p>
        </p:txBody>
      </p:sp>
      <p:pic>
        <p:nvPicPr>
          <p:cNvPr id="5" name="Picture 4" descr="01_predict.png"/>
          <p:cNvPicPr>
            <a:picLocks noChangeAspect="1"/>
          </p:cNvPicPr>
          <p:nvPr/>
        </p:nvPicPr>
        <p:blipFill>
          <a:blip r:embed="rId2"/>
          <a:stretch>
            <a:fillRect/>
          </a:stretch>
        </p:blipFill>
        <p:spPr>
          <a:xfrm>
            <a:off x="4241292" y="1463040"/>
            <a:ext cx="3706368" cy="5120640"/>
          </a:xfrm>
          <a:prstGeom prst="rect">
            <a:avLst/>
          </a:prstGeom>
          <a:ln w="9525">
            <a:solidFill>
              <a:srgbClr val="DCD8CF"/>
            </a:solidFill>
          </a:ln>
        </p:spPr>
      </p:pic>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gradFill rotWithShape="1">
          <a:gsLst>
            <a:gs pos="0">
              <a:srgbClr val="E4EDF7"/>
            </a:gs>
            <a:gs pos="100000">
              <a:srgbClr val="F8EBDD"/>
            </a:gs>
          </a:gsLst>
          <a:lin scaled="0" ang="2700000"/>
        </a:gradFill>
        <a:effectLst/>
      </p:bgPr>
    </p:bg>
    <p:spTree>
      <p:nvGrpSpPr>
        <p:cNvPr id="1" name=""/>
        <p:cNvGrpSpPr/>
        <p:nvPr/>
      </p:nvGrpSpPr>
      <p:grpSpPr/>
      <p:sp>
        <p:nvSpPr>
          <p:cNvPr id="2" name="Rectangle 1"/>
          <p:cNvSpPr/>
          <p:nvPr/>
        </p:nvSpPr>
        <p:spPr>
          <a:xfrm>
            <a:off x="0" y="0"/>
            <a:ext cx="12191695" cy="91440"/>
          </a:xfrm>
          <a:prstGeom prst="rect">
            <a:avLst/>
          </a:prstGeom>
          <a:gradFill rotWithShape="1">
            <a:gsLst>
              <a:gs pos="0">
                <a:srgbClr val="2F5F9E"/>
              </a:gs>
              <a:gs pos="100000">
                <a:srgbClr val="E08A3C"/>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828800" y="548640"/>
            <a:ext cx="8778240" cy="274320"/>
          </a:xfrm>
          <a:prstGeom prst="rect">
            <a:avLst/>
          </a:prstGeom>
          <a:noFill/>
        </p:spPr>
        <p:txBody>
          <a:bodyPr wrap="square" anchor="t" lIns="0" rIns="0" tIns="0" bIns="0">
            <a:spAutoFit/>
          </a:bodyPr>
          <a:lstStyle/>
          <a:p>
            <a:pPr algn="l"/>
            <a:r>
              <a:rPr sz="1100" b="0" spc="300">
                <a:solidFill>
                  <a:srgbClr val="B5541C"/>
                </a:solidFill>
                <a:latin typeface="Courier New"/>
              </a:rPr>
              <a:t>BACKUP · DEMO SCREEN</a:t>
            </a:r>
          </a:p>
        </p:txBody>
      </p:sp>
      <p:sp>
        <p:nvSpPr>
          <p:cNvPr id="4" name="TextBox 3"/>
          <p:cNvSpPr txBox="1"/>
          <p:nvPr/>
        </p:nvSpPr>
        <p:spPr>
          <a:xfrm>
            <a:off x="1828800" y="868680"/>
            <a:ext cx="8778240" cy="411480"/>
          </a:xfrm>
          <a:prstGeom prst="rect">
            <a:avLst/>
          </a:prstGeom>
          <a:noFill/>
        </p:spPr>
        <p:txBody>
          <a:bodyPr wrap="square" anchor="t" lIns="0" rIns="0" tIns="0" bIns="0">
            <a:spAutoFit/>
          </a:bodyPr>
          <a:lstStyle/>
          <a:p>
            <a:pPr algn="l"/>
            <a:r>
              <a:rPr sz="2200" b="1">
                <a:solidFill>
                  <a:srgbClr val="1D2125"/>
                </a:solidFill>
                <a:latin typeface="Arial"/>
              </a:rPr>
              <a:t>Prediction · scoring a whole call list from a CSV</a:t>
            </a:r>
          </a:p>
        </p:txBody>
      </p:sp>
      <p:pic>
        <p:nvPicPr>
          <p:cNvPr id="5" name="Picture 4" descr="02_batch.png"/>
          <p:cNvPicPr>
            <a:picLocks noChangeAspect="1"/>
          </p:cNvPicPr>
          <p:nvPr/>
        </p:nvPicPr>
        <p:blipFill>
          <a:blip r:embed="rId2"/>
          <a:stretch>
            <a:fillRect/>
          </a:stretch>
        </p:blipFill>
        <p:spPr>
          <a:xfrm>
            <a:off x="1974570" y="1463040"/>
            <a:ext cx="8239811" cy="5120640"/>
          </a:xfrm>
          <a:prstGeom prst="rect">
            <a:avLst/>
          </a:prstGeom>
          <a:ln w="9525">
            <a:solidFill>
              <a:srgbClr val="DCD8CF"/>
            </a:solidFill>
          </a:ln>
        </p:spPr>
      </p:pic>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gradFill rotWithShape="1">
          <a:gsLst>
            <a:gs pos="0">
              <a:srgbClr val="E4EDF7"/>
            </a:gs>
            <a:gs pos="100000">
              <a:srgbClr val="F8EBDD"/>
            </a:gs>
          </a:gsLst>
          <a:lin scaled="0" ang="2700000"/>
        </a:gradFill>
        <a:effectLst/>
      </p:bgPr>
    </p:bg>
    <p:spTree>
      <p:nvGrpSpPr>
        <p:cNvPr id="1" name=""/>
        <p:cNvGrpSpPr/>
        <p:nvPr/>
      </p:nvGrpSpPr>
      <p:grpSpPr/>
      <p:sp>
        <p:nvSpPr>
          <p:cNvPr id="2" name="Rectangle 1"/>
          <p:cNvSpPr/>
          <p:nvPr/>
        </p:nvSpPr>
        <p:spPr>
          <a:xfrm>
            <a:off x="0" y="0"/>
            <a:ext cx="12191695" cy="91440"/>
          </a:xfrm>
          <a:prstGeom prst="rect">
            <a:avLst/>
          </a:prstGeom>
          <a:gradFill rotWithShape="1">
            <a:gsLst>
              <a:gs pos="0">
                <a:srgbClr val="2F5F9E"/>
              </a:gs>
              <a:gs pos="100000">
                <a:srgbClr val="E08A3C"/>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828800" y="548640"/>
            <a:ext cx="8778240" cy="274320"/>
          </a:xfrm>
          <a:prstGeom prst="rect">
            <a:avLst/>
          </a:prstGeom>
          <a:noFill/>
        </p:spPr>
        <p:txBody>
          <a:bodyPr wrap="square" anchor="t" lIns="0" rIns="0" tIns="0" bIns="0">
            <a:spAutoFit/>
          </a:bodyPr>
          <a:lstStyle/>
          <a:p>
            <a:pPr algn="l"/>
            <a:r>
              <a:rPr sz="1100" b="0" spc="300">
                <a:solidFill>
                  <a:srgbClr val="B5541C"/>
                </a:solidFill>
                <a:latin typeface="Courier New"/>
              </a:rPr>
              <a:t>BACKUP · DEMO SCREEN</a:t>
            </a:r>
          </a:p>
        </p:txBody>
      </p:sp>
      <p:sp>
        <p:nvSpPr>
          <p:cNvPr id="4" name="TextBox 3"/>
          <p:cNvSpPr txBox="1"/>
          <p:nvPr/>
        </p:nvSpPr>
        <p:spPr>
          <a:xfrm>
            <a:off x="1828800" y="868680"/>
            <a:ext cx="8778240" cy="411480"/>
          </a:xfrm>
          <a:prstGeom prst="rect">
            <a:avLst/>
          </a:prstGeom>
          <a:noFill/>
        </p:spPr>
        <p:txBody>
          <a:bodyPr wrap="square" anchor="t" lIns="0" rIns="0" tIns="0" bIns="0">
            <a:spAutoFit/>
          </a:bodyPr>
          <a:lstStyle/>
          <a:p>
            <a:pPr algn="l"/>
            <a:r>
              <a:rPr sz="2200" b="1">
                <a:solidFill>
                  <a:srgbClr val="1D2125"/>
                </a:solidFill>
                <a:latin typeface="Arial"/>
              </a:rPr>
              <a:t>EDA · key findings at a glance</a:t>
            </a:r>
          </a:p>
        </p:txBody>
      </p:sp>
      <p:pic>
        <p:nvPicPr>
          <p:cNvPr id="5" name="Picture 4" descr="04_insights.png"/>
          <p:cNvPicPr>
            <a:picLocks noChangeAspect="1"/>
          </p:cNvPicPr>
          <p:nvPr/>
        </p:nvPicPr>
        <p:blipFill>
          <a:blip r:embed="rId2"/>
          <a:stretch>
            <a:fillRect/>
          </a:stretch>
        </p:blipFill>
        <p:spPr>
          <a:xfrm>
            <a:off x="1913203" y="1463040"/>
            <a:ext cx="8362546" cy="5120640"/>
          </a:xfrm>
          <a:prstGeom prst="rect">
            <a:avLst/>
          </a:prstGeom>
          <a:ln w="9525">
            <a:solidFill>
              <a:srgbClr val="DCD8CF"/>
            </a:solidFill>
          </a:ln>
        </p:spPr>
      </p:pic>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gradFill rotWithShape="1">
          <a:gsLst>
            <a:gs pos="0">
              <a:srgbClr val="E4EDF7"/>
            </a:gs>
            <a:gs pos="100000">
              <a:srgbClr val="F8EBDD"/>
            </a:gs>
          </a:gsLst>
          <a:lin scaled="0" ang="2700000"/>
        </a:gradFill>
        <a:effectLst/>
      </p:bgPr>
    </p:bg>
    <p:spTree>
      <p:nvGrpSpPr>
        <p:cNvPr id="1" name=""/>
        <p:cNvGrpSpPr/>
        <p:nvPr/>
      </p:nvGrpSpPr>
      <p:grpSpPr/>
      <p:sp>
        <p:nvSpPr>
          <p:cNvPr id="2" name="Rectangle 1"/>
          <p:cNvSpPr/>
          <p:nvPr/>
        </p:nvSpPr>
        <p:spPr>
          <a:xfrm>
            <a:off x="0" y="0"/>
            <a:ext cx="12191695" cy="91440"/>
          </a:xfrm>
          <a:prstGeom prst="rect">
            <a:avLst/>
          </a:prstGeom>
          <a:gradFill rotWithShape="1">
            <a:gsLst>
              <a:gs pos="0">
                <a:srgbClr val="2F5F9E"/>
              </a:gs>
              <a:gs pos="100000">
                <a:srgbClr val="E08A3C"/>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828800" y="548640"/>
            <a:ext cx="8778240" cy="274320"/>
          </a:xfrm>
          <a:prstGeom prst="rect">
            <a:avLst/>
          </a:prstGeom>
          <a:noFill/>
        </p:spPr>
        <p:txBody>
          <a:bodyPr wrap="square" anchor="t" lIns="0" rIns="0" tIns="0" bIns="0">
            <a:spAutoFit/>
          </a:bodyPr>
          <a:lstStyle/>
          <a:p>
            <a:pPr algn="l"/>
            <a:r>
              <a:rPr sz="1100" b="0" spc="300">
                <a:solidFill>
                  <a:srgbClr val="B5541C"/>
                </a:solidFill>
                <a:latin typeface="Courier New"/>
              </a:rPr>
              <a:t>BACKUP · DEMO SCREEN</a:t>
            </a:r>
          </a:p>
        </p:txBody>
      </p:sp>
      <p:sp>
        <p:nvSpPr>
          <p:cNvPr id="4" name="TextBox 3"/>
          <p:cNvSpPr txBox="1"/>
          <p:nvPr/>
        </p:nvSpPr>
        <p:spPr>
          <a:xfrm>
            <a:off x="1828800" y="868680"/>
            <a:ext cx="8778240" cy="411480"/>
          </a:xfrm>
          <a:prstGeom prst="rect">
            <a:avLst/>
          </a:prstGeom>
          <a:noFill/>
        </p:spPr>
        <p:txBody>
          <a:bodyPr wrap="square" anchor="t" lIns="0" rIns="0" tIns="0" bIns="0">
            <a:spAutoFit/>
          </a:bodyPr>
          <a:lstStyle/>
          <a:p>
            <a:pPr algn="l"/>
            <a:r>
              <a:rPr sz="2200" b="1">
                <a:solidFill>
                  <a:srgbClr val="1D2125"/>
                </a:solidFill>
                <a:latin typeface="Arial"/>
              </a:rPr>
              <a:t>Models · six models compared</a:t>
            </a:r>
          </a:p>
        </p:txBody>
      </p:sp>
      <p:pic>
        <p:nvPicPr>
          <p:cNvPr id="5" name="Picture 4" descr="03_models.png"/>
          <p:cNvPicPr>
            <a:picLocks noChangeAspect="1"/>
          </p:cNvPicPr>
          <p:nvPr/>
        </p:nvPicPr>
        <p:blipFill>
          <a:blip r:embed="rId2"/>
          <a:stretch>
            <a:fillRect/>
          </a:stretch>
        </p:blipFill>
        <p:spPr>
          <a:xfrm>
            <a:off x="1828800" y="1982995"/>
            <a:ext cx="8531352" cy="4080730"/>
          </a:xfrm>
          <a:prstGeom prst="rect">
            <a:avLst/>
          </a:prstGeom>
          <a:ln w="9525">
            <a:solidFill>
              <a:srgbClr val="DCD8CF"/>
            </a:solidFill>
          </a:ln>
        </p:spPr>
      </p:pic>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gradFill rotWithShape="1">
          <a:gsLst>
            <a:gs pos="0">
              <a:srgbClr val="E4EDF7"/>
            </a:gs>
            <a:gs pos="100000">
              <a:srgbClr val="F8EBDD"/>
            </a:gs>
          </a:gsLst>
          <a:lin scaled="0" ang="2700000"/>
        </a:gradFill>
        <a:effectLst/>
      </p:bgPr>
    </p:bg>
    <p:spTree>
      <p:nvGrpSpPr>
        <p:cNvPr id="1" name=""/>
        <p:cNvGrpSpPr/>
        <p:nvPr/>
      </p:nvGrpSpPr>
      <p:grpSpPr/>
      <p:sp>
        <p:nvSpPr>
          <p:cNvPr id="2" name="Rectangle 1"/>
          <p:cNvSpPr/>
          <p:nvPr/>
        </p:nvSpPr>
        <p:spPr>
          <a:xfrm>
            <a:off x="0" y="0"/>
            <a:ext cx="12191695" cy="91440"/>
          </a:xfrm>
          <a:prstGeom prst="rect">
            <a:avLst/>
          </a:prstGeom>
          <a:gradFill rotWithShape="1">
            <a:gsLst>
              <a:gs pos="0">
                <a:srgbClr val="2F5F9E"/>
              </a:gs>
              <a:gs pos="100000">
                <a:srgbClr val="E08A3C"/>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13816" y="813816"/>
            <a:ext cx="10881360" cy="274320"/>
          </a:xfrm>
          <a:prstGeom prst="rect">
            <a:avLst/>
          </a:prstGeom>
          <a:noFill/>
        </p:spPr>
        <p:txBody>
          <a:bodyPr wrap="square" anchor="t" lIns="0" rIns="0" tIns="0" bIns="0">
            <a:spAutoFit/>
          </a:bodyPr>
          <a:lstStyle/>
          <a:p>
            <a:pPr algn="l"/>
            <a:r>
              <a:rPr sz="1100" b="0" spc="300">
                <a:solidFill>
                  <a:srgbClr val="B5541C"/>
                </a:solidFill>
                <a:latin typeface="Courier New"/>
              </a:rPr>
              <a:t>BACKUP · FULL RESULTS</a:t>
            </a:r>
          </a:p>
        </p:txBody>
      </p:sp>
      <p:sp>
        <p:nvSpPr>
          <p:cNvPr id="4" name="TextBox 3"/>
          <p:cNvSpPr txBox="1"/>
          <p:nvPr/>
        </p:nvSpPr>
        <p:spPr>
          <a:xfrm>
            <a:off x="813816" y="1243584"/>
            <a:ext cx="10881360" cy="640080"/>
          </a:xfrm>
          <a:prstGeom prst="rect">
            <a:avLst/>
          </a:prstGeom>
          <a:noFill/>
        </p:spPr>
        <p:txBody>
          <a:bodyPr wrap="square" anchor="t" lIns="0" rIns="0" tIns="0" bIns="0">
            <a:spAutoFit/>
          </a:bodyPr>
          <a:lstStyle/>
          <a:p>
            <a:pPr algn="l"/>
            <a:r>
              <a:rPr sz="2800" b="1">
                <a:solidFill>
                  <a:srgbClr val="1D2125"/>
                </a:solidFill>
                <a:latin typeface="Arial"/>
              </a:rPr>
              <a:t>Every model on the test set</a:t>
            </a:r>
          </a:p>
        </p:txBody>
      </p:sp>
      <p:sp>
        <p:nvSpPr>
          <p:cNvPr id="5" name="TextBox 4"/>
          <p:cNvSpPr txBox="1"/>
          <p:nvPr/>
        </p:nvSpPr>
        <p:spPr>
          <a:xfrm>
            <a:off x="813816" y="6236208"/>
            <a:ext cx="9144000" cy="274320"/>
          </a:xfrm>
          <a:prstGeom prst="rect">
            <a:avLst/>
          </a:prstGeom>
          <a:noFill/>
        </p:spPr>
        <p:txBody>
          <a:bodyPr wrap="square" anchor="t" lIns="0" rIns="0" tIns="0" bIns="0">
            <a:spAutoFit/>
          </a:bodyPr>
          <a:lstStyle/>
          <a:p>
            <a:pPr algn="l"/>
            <a:r>
              <a:rPr sz="1100" b="0">
                <a:solidFill>
                  <a:srgbClr val="5F6368"/>
                </a:solidFill>
                <a:latin typeface="Arial"/>
              </a:rPr>
              <a:t>Term Deposit Predictor  ·  Data Miners</a:t>
            </a:r>
          </a:p>
        </p:txBody>
      </p:sp>
      <p:sp>
        <p:nvSpPr>
          <p:cNvPr id="6" name="TextBox 5"/>
          <p:cNvSpPr txBox="1"/>
          <p:nvPr/>
        </p:nvSpPr>
        <p:spPr>
          <a:xfrm>
            <a:off x="10469880" y="6236208"/>
            <a:ext cx="914400" cy="274320"/>
          </a:xfrm>
          <a:prstGeom prst="rect">
            <a:avLst/>
          </a:prstGeom>
          <a:noFill/>
        </p:spPr>
        <p:txBody>
          <a:bodyPr wrap="square" anchor="t" lIns="0" rIns="0" tIns="0" bIns="0">
            <a:spAutoFit/>
          </a:bodyPr>
          <a:lstStyle/>
          <a:p>
            <a:pPr algn="r"/>
            <a:r>
              <a:rPr sz="1100" b="0">
                <a:solidFill>
                  <a:srgbClr val="5F6368"/>
                </a:solidFill>
                <a:latin typeface="Arial"/>
              </a:rPr>
              <a:t>21</a:t>
            </a:r>
          </a:p>
        </p:txBody>
      </p:sp>
      <p:graphicFrame>
        <p:nvGraphicFramePr>
          <p:cNvPr id="7" name="Table 6"/>
          <p:cNvGraphicFramePr>
            <a:graphicFrameLocks noGrp="1"/>
          </p:cNvGraphicFramePr>
          <p:nvPr/>
        </p:nvGraphicFramePr>
        <p:xfrm>
          <a:off x="822960" y="1920240"/>
          <a:ext cx="10552171" cy="3218688"/>
        </p:xfrm>
        <a:graphic>
          <a:graphicData uri="http://schemas.openxmlformats.org/drawingml/2006/table">
            <a:tbl>
              <a:tblPr>
                <a:tableStyleId>{5C22544A-7EE6-4342-B048-85BDC9FD1C3A}</a:tableStyleId>
              </a:tblPr>
              <a:tblGrid>
                <a:gridCol w="3219307"/>
                <a:gridCol w="1162527"/>
                <a:gridCol w="1162527"/>
                <a:gridCol w="983677"/>
                <a:gridCol w="894252"/>
                <a:gridCol w="1073102"/>
                <a:gridCol w="983677"/>
                <a:gridCol w="1073102"/>
              </a:tblGrid>
              <a:tr h="402336">
                <a:tc>
                  <a:txBody>
                    <a:bodyPr wrap="square"/>
                    <a:lstStyle/>
                    <a:p>
                      <a:r>
                        <a:rPr sz="1200" b="0">
                          <a:solidFill>
                            <a:srgbClr val="5F6368"/>
                          </a:solidFill>
                          <a:latin typeface="Arial"/>
                        </a:rPr>
                        <a:t>Model</a:t>
                      </a:r>
                    </a:p>
                  </a:txBody>
                  <a:tcPr marL="109728" marR="109728" anchor="ctr">
                    <a:solidFill>
                      <a:srgbClr val="F2F0EB"/>
                    </a:solidFill>
                  </a:tcPr>
                </a:tc>
                <a:tc>
                  <a:txBody>
                    <a:bodyPr wrap="square"/>
                    <a:lstStyle/>
                    <a:p>
                      <a:pPr algn="ctr"/>
                      <a:r>
                        <a:rPr sz="1200" b="0">
                          <a:solidFill>
                            <a:srgbClr val="5F6368"/>
                          </a:solidFill>
                          <a:latin typeface="Arial"/>
                        </a:rPr>
                        <a:t>CV ROC-AUC</a:t>
                      </a:r>
                    </a:p>
                  </a:txBody>
                  <a:tcPr marL="109728" marR="109728" anchor="ctr">
                    <a:solidFill>
                      <a:srgbClr val="F2F0EB"/>
                    </a:solidFill>
                  </a:tcPr>
                </a:tc>
                <a:tc>
                  <a:txBody>
                    <a:bodyPr wrap="square"/>
                    <a:lstStyle/>
                    <a:p>
                      <a:pPr algn="ctr"/>
                      <a:r>
                        <a:rPr sz="1200" b="0">
                          <a:solidFill>
                            <a:srgbClr val="5F6368"/>
                          </a:solidFill>
                          <a:latin typeface="Arial"/>
                        </a:rPr>
                        <a:t>Test ROC-AUC</a:t>
                      </a:r>
                    </a:p>
                  </a:txBody>
                  <a:tcPr marL="109728" marR="109728" anchor="ctr">
                    <a:solidFill>
                      <a:srgbClr val="F2F0EB"/>
                    </a:solidFill>
                  </a:tcPr>
                </a:tc>
                <a:tc>
                  <a:txBody>
                    <a:bodyPr wrap="square"/>
                    <a:lstStyle/>
                    <a:p>
                      <a:pPr algn="ctr"/>
                      <a:r>
                        <a:rPr sz="1200" b="0">
                          <a:solidFill>
                            <a:srgbClr val="5F6368"/>
                          </a:solidFill>
                          <a:latin typeface="Arial"/>
                        </a:rPr>
                        <a:t>PR-AUC</a:t>
                      </a:r>
                    </a:p>
                  </a:txBody>
                  <a:tcPr marL="109728" marR="109728" anchor="ctr">
                    <a:solidFill>
                      <a:srgbClr val="F2F0EB"/>
                    </a:solidFill>
                  </a:tcPr>
                </a:tc>
                <a:tc>
                  <a:txBody>
                    <a:bodyPr wrap="square"/>
                    <a:lstStyle/>
                    <a:p>
                      <a:pPr algn="ctr"/>
                      <a:r>
                        <a:rPr sz="1200" b="0">
                          <a:solidFill>
                            <a:srgbClr val="5F6368"/>
                          </a:solidFill>
                          <a:latin typeface="Arial"/>
                        </a:rPr>
                        <a:t>F1</a:t>
                      </a:r>
                    </a:p>
                  </a:txBody>
                  <a:tcPr marL="109728" marR="109728" anchor="ctr">
                    <a:solidFill>
                      <a:srgbClr val="F2F0EB"/>
                    </a:solidFill>
                  </a:tcPr>
                </a:tc>
                <a:tc>
                  <a:txBody>
                    <a:bodyPr wrap="square"/>
                    <a:lstStyle/>
                    <a:p>
                      <a:pPr algn="ctr"/>
                      <a:r>
                        <a:rPr sz="1200" b="0">
                          <a:solidFill>
                            <a:srgbClr val="5F6368"/>
                          </a:solidFill>
                          <a:latin typeface="Arial"/>
                        </a:rPr>
                        <a:t>Precision</a:t>
                      </a:r>
                    </a:p>
                  </a:txBody>
                  <a:tcPr marL="109728" marR="109728" anchor="ctr">
                    <a:solidFill>
                      <a:srgbClr val="F2F0EB"/>
                    </a:solidFill>
                  </a:tcPr>
                </a:tc>
                <a:tc>
                  <a:txBody>
                    <a:bodyPr wrap="square"/>
                    <a:lstStyle/>
                    <a:p>
                      <a:pPr algn="ctr"/>
                      <a:r>
                        <a:rPr sz="1200" b="0">
                          <a:solidFill>
                            <a:srgbClr val="5F6368"/>
                          </a:solidFill>
                          <a:latin typeface="Arial"/>
                        </a:rPr>
                        <a:t>Recall</a:t>
                      </a:r>
                    </a:p>
                  </a:txBody>
                  <a:tcPr marL="109728" marR="109728" anchor="ctr">
                    <a:solidFill>
                      <a:srgbClr val="F2F0EB"/>
                    </a:solidFill>
                  </a:tcPr>
                </a:tc>
                <a:tc>
                  <a:txBody>
                    <a:bodyPr wrap="square"/>
                    <a:lstStyle/>
                    <a:p>
                      <a:pPr algn="ctr"/>
                      <a:r>
                        <a:rPr sz="1200" b="0">
                          <a:solidFill>
                            <a:srgbClr val="5F6368"/>
                          </a:solidFill>
                          <a:latin typeface="Arial"/>
                        </a:rPr>
                        <a:t>Accuracy</a:t>
                      </a:r>
                    </a:p>
                  </a:txBody>
                  <a:tcPr marL="109728" marR="109728" anchor="ctr">
                    <a:solidFill>
                      <a:srgbClr val="F2F0EB"/>
                    </a:solidFill>
                  </a:tcPr>
                </a:tc>
              </a:tr>
              <a:tr h="402336">
                <a:tc>
                  <a:txBody>
                    <a:bodyPr wrap="square"/>
                    <a:lstStyle/>
                    <a:p>
                      <a:r>
                        <a:rPr sz="1300" b="0">
                          <a:solidFill>
                            <a:srgbClr val="22262B"/>
                          </a:solidFill>
                          <a:latin typeface="Arial"/>
                        </a:rPr>
                        <a:t>Gradient Boosting</a:t>
                      </a:r>
                    </a:p>
                  </a:txBody>
                  <a:tcPr marL="109728" marR="109728" anchor="ctr">
                    <a:solidFill>
                      <a:srgbClr val="FAF9F6"/>
                    </a:solidFill>
                  </a:tcPr>
                </a:tc>
                <a:tc>
                  <a:txBody>
                    <a:bodyPr wrap="square"/>
                    <a:lstStyle/>
                    <a:p>
                      <a:pPr algn="ctr"/>
                      <a:r>
                        <a:rPr sz="1300" b="0">
                          <a:solidFill>
                            <a:srgbClr val="22262B"/>
                          </a:solidFill>
                          <a:latin typeface="Arial"/>
                        </a:rPr>
                        <a:t>0.795</a:t>
                      </a:r>
                    </a:p>
                  </a:txBody>
                  <a:tcPr marL="109728" marR="109728" anchor="ctr">
                    <a:solidFill>
                      <a:srgbClr val="FAF9F6"/>
                    </a:solidFill>
                  </a:tcPr>
                </a:tc>
                <a:tc>
                  <a:txBody>
                    <a:bodyPr wrap="square"/>
                    <a:lstStyle/>
                    <a:p>
                      <a:pPr algn="ctr"/>
                      <a:r>
                        <a:rPr sz="1300" b="0">
                          <a:solidFill>
                            <a:srgbClr val="22262B"/>
                          </a:solidFill>
                          <a:latin typeface="Arial"/>
                        </a:rPr>
                        <a:t>0.806</a:t>
                      </a:r>
                    </a:p>
                  </a:txBody>
                  <a:tcPr marL="109728" marR="109728" anchor="ctr">
                    <a:solidFill>
                      <a:srgbClr val="FAF9F6"/>
                    </a:solidFill>
                  </a:tcPr>
                </a:tc>
                <a:tc>
                  <a:txBody>
                    <a:bodyPr wrap="square"/>
                    <a:lstStyle/>
                    <a:p>
                      <a:pPr algn="ctr"/>
                      <a:r>
                        <a:rPr sz="1300" b="0">
                          <a:solidFill>
                            <a:srgbClr val="22262B"/>
                          </a:solidFill>
                          <a:latin typeface="Arial"/>
                        </a:rPr>
                        <a:t>0.466</a:t>
                      </a:r>
                    </a:p>
                  </a:txBody>
                  <a:tcPr marL="109728" marR="109728" anchor="ctr">
                    <a:solidFill>
                      <a:srgbClr val="FAF9F6"/>
                    </a:solidFill>
                  </a:tcPr>
                </a:tc>
                <a:tc>
                  <a:txBody>
                    <a:bodyPr wrap="square"/>
                    <a:lstStyle/>
                    <a:p>
                      <a:pPr algn="ctr"/>
                      <a:r>
                        <a:rPr sz="1300" b="0">
                          <a:solidFill>
                            <a:srgbClr val="22262B"/>
                          </a:solidFill>
                          <a:latin typeface="Arial"/>
                        </a:rPr>
                        <a:t>0.459</a:t>
                      </a:r>
                    </a:p>
                  </a:txBody>
                  <a:tcPr marL="109728" marR="109728" anchor="ctr">
                    <a:solidFill>
                      <a:srgbClr val="FAF9F6"/>
                    </a:solidFill>
                  </a:tcPr>
                </a:tc>
                <a:tc>
                  <a:txBody>
                    <a:bodyPr wrap="square"/>
                    <a:lstStyle/>
                    <a:p>
                      <a:pPr algn="ctr"/>
                      <a:r>
                        <a:rPr sz="1300" b="0">
                          <a:solidFill>
                            <a:srgbClr val="22262B"/>
                          </a:solidFill>
                          <a:latin typeface="Arial"/>
                        </a:rPr>
                        <a:t>0.358</a:t>
                      </a:r>
                    </a:p>
                  </a:txBody>
                  <a:tcPr marL="109728" marR="109728" anchor="ctr">
                    <a:solidFill>
                      <a:srgbClr val="FAF9F6"/>
                    </a:solidFill>
                  </a:tcPr>
                </a:tc>
                <a:tc>
                  <a:txBody>
                    <a:bodyPr wrap="square"/>
                    <a:lstStyle/>
                    <a:p>
                      <a:pPr algn="ctr"/>
                      <a:r>
                        <a:rPr sz="1300" b="0">
                          <a:solidFill>
                            <a:srgbClr val="22262B"/>
                          </a:solidFill>
                          <a:latin typeface="Arial"/>
                        </a:rPr>
                        <a:t>0.639</a:t>
                      </a:r>
                    </a:p>
                  </a:txBody>
                  <a:tcPr marL="109728" marR="109728" anchor="ctr">
                    <a:solidFill>
                      <a:srgbClr val="FAF9F6"/>
                    </a:solidFill>
                  </a:tcPr>
                </a:tc>
                <a:tc>
                  <a:txBody>
                    <a:bodyPr wrap="square"/>
                    <a:lstStyle/>
                    <a:p>
                      <a:pPr algn="ctr"/>
                      <a:r>
                        <a:rPr sz="1300" b="0">
                          <a:solidFill>
                            <a:srgbClr val="22262B"/>
                          </a:solidFill>
                          <a:latin typeface="Arial"/>
                        </a:rPr>
                        <a:t>0.824</a:t>
                      </a:r>
                    </a:p>
                  </a:txBody>
                  <a:tcPr marL="109728" marR="109728" anchor="ctr">
                    <a:solidFill>
                      <a:srgbClr val="FAF9F6"/>
                    </a:solidFill>
                  </a:tcPr>
                </a:tc>
              </a:tr>
              <a:tr h="402336">
                <a:tc>
                  <a:txBody>
                    <a:bodyPr wrap="square"/>
                    <a:lstStyle/>
                    <a:p>
                      <a:r>
                        <a:rPr sz="1300" b="0">
                          <a:solidFill>
                            <a:srgbClr val="22262B"/>
                          </a:solidFill>
                          <a:latin typeface="Arial"/>
                        </a:rPr>
                        <a:t>Random Forest</a:t>
                      </a:r>
                    </a:p>
                  </a:txBody>
                  <a:tcPr marL="109728" marR="109728" anchor="ctr">
                    <a:solidFill>
                      <a:srgbClr val="FAF9F6"/>
                    </a:solidFill>
                  </a:tcPr>
                </a:tc>
                <a:tc>
                  <a:txBody>
                    <a:bodyPr wrap="square"/>
                    <a:lstStyle/>
                    <a:p>
                      <a:pPr algn="ctr"/>
                      <a:r>
                        <a:rPr sz="1300" b="0">
                          <a:solidFill>
                            <a:srgbClr val="22262B"/>
                          </a:solidFill>
                          <a:latin typeface="Arial"/>
                        </a:rPr>
                        <a:t>0.787</a:t>
                      </a:r>
                    </a:p>
                  </a:txBody>
                  <a:tcPr marL="109728" marR="109728" anchor="ctr">
                    <a:solidFill>
                      <a:srgbClr val="FAF9F6"/>
                    </a:solidFill>
                  </a:tcPr>
                </a:tc>
                <a:tc>
                  <a:txBody>
                    <a:bodyPr wrap="square"/>
                    <a:lstStyle/>
                    <a:p>
                      <a:pPr algn="ctr"/>
                      <a:r>
                        <a:rPr sz="1300" b="0">
                          <a:solidFill>
                            <a:srgbClr val="22262B"/>
                          </a:solidFill>
                          <a:latin typeface="Arial"/>
                        </a:rPr>
                        <a:t>0.797</a:t>
                      </a:r>
                    </a:p>
                  </a:txBody>
                  <a:tcPr marL="109728" marR="109728" anchor="ctr">
                    <a:solidFill>
                      <a:srgbClr val="FAF9F6"/>
                    </a:solidFill>
                  </a:tcPr>
                </a:tc>
                <a:tc>
                  <a:txBody>
                    <a:bodyPr wrap="square"/>
                    <a:lstStyle/>
                    <a:p>
                      <a:pPr algn="ctr"/>
                      <a:r>
                        <a:rPr sz="1300" b="0">
                          <a:solidFill>
                            <a:srgbClr val="22262B"/>
                          </a:solidFill>
                          <a:latin typeface="Arial"/>
                        </a:rPr>
                        <a:t>0.442</a:t>
                      </a:r>
                    </a:p>
                  </a:txBody>
                  <a:tcPr marL="109728" marR="109728" anchor="ctr">
                    <a:solidFill>
                      <a:srgbClr val="FAF9F6"/>
                    </a:solidFill>
                  </a:tcPr>
                </a:tc>
                <a:tc>
                  <a:txBody>
                    <a:bodyPr wrap="square"/>
                    <a:lstStyle/>
                    <a:p>
                      <a:pPr algn="ctr"/>
                      <a:r>
                        <a:rPr sz="1300" b="0">
                          <a:solidFill>
                            <a:srgbClr val="22262B"/>
                          </a:solidFill>
                          <a:latin typeface="Arial"/>
                        </a:rPr>
                        <a:t>0.457</a:t>
                      </a:r>
                    </a:p>
                  </a:txBody>
                  <a:tcPr marL="109728" marR="109728" anchor="ctr">
                    <a:solidFill>
                      <a:srgbClr val="FAF9F6"/>
                    </a:solidFill>
                  </a:tcPr>
                </a:tc>
                <a:tc>
                  <a:txBody>
                    <a:bodyPr wrap="square"/>
                    <a:lstStyle/>
                    <a:p>
                      <a:pPr algn="ctr"/>
                      <a:r>
                        <a:rPr sz="1300" b="0">
                          <a:solidFill>
                            <a:srgbClr val="22262B"/>
                          </a:solidFill>
                          <a:latin typeface="Arial"/>
                        </a:rPr>
                        <a:t>0.377</a:t>
                      </a:r>
                    </a:p>
                  </a:txBody>
                  <a:tcPr marL="109728" marR="109728" anchor="ctr">
                    <a:solidFill>
                      <a:srgbClr val="FAF9F6"/>
                    </a:solidFill>
                  </a:tcPr>
                </a:tc>
                <a:tc>
                  <a:txBody>
                    <a:bodyPr wrap="square"/>
                    <a:lstStyle/>
                    <a:p>
                      <a:pPr algn="ctr"/>
                      <a:r>
                        <a:rPr sz="1300" b="0">
                          <a:solidFill>
                            <a:srgbClr val="22262B"/>
                          </a:solidFill>
                          <a:latin typeface="Arial"/>
                        </a:rPr>
                        <a:t>0.580</a:t>
                      </a:r>
                    </a:p>
                  </a:txBody>
                  <a:tcPr marL="109728" marR="109728" anchor="ctr">
                    <a:solidFill>
                      <a:srgbClr val="FAF9F6"/>
                    </a:solidFill>
                  </a:tcPr>
                </a:tc>
                <a:tc>
                  <a:txBody>
                    <a:bodyPr wrap="square"/>
                    <a:lstStyle/>
                    <a:p>
                      <a:pPr algn="ctr"/>
                      <a:r>
                        <a:rPr sz="1300" b="0">
                          <a:solidFill>
                            <a:srgbClr val="22262B"/>
                          </a:solidFill>
                          <a:latin typeface="Arial"/>
                        </a:rPr>
                        <a:t>0.839</a:t>
                      </a:r>
                    </a:p>
                  </a:txBody>
                  <a:tcPr marL="109728" marR="109728" anchor="ctr">
                    <a:solidFill>
                      <a:srgbClr val="FAF9F6"/>
                    </a:solidFill>
                  </a:tcPr>
                </a:tc>
              </a:tr>
              <a:tr h="402336">
                <a:tc>
                  <a:txBody>
                    <a:bodyPr wrap="square"/>
                    <a:lstStyle/>
                    <a:p>
                      <a:r>
                        <a:rPr sz="1300" b="0">
                          <a:solidFill>
                            <a:srgbClr val="22262B"/>
                          </a:solidFill>
                          <a:latin typeface="Arial"/>
                        </a:rPr>
                        <a:t>Logistic Regression</a:t>
                      </a:r>
                    </a:p>
                  </a:txBody>
                  <a:tcPr marL="109728" marR="109728" anchor="ctr">
                    <a:solidFill>
                      <a:srgbClr val="FAF9F6"/>
                    </a:solidFill>
                  </a:tcPr>
                </a:tc>
                <a:tc>
                  <a:txBody>
                    <a:bodyPr wrap="square"/>
                    <a:lstStyle/>
                    <a:p>
                      <a:pPr algn="ctr"/>
                      <a:r>
                        <a:rPr sz="1300" b="0">
                          <a:solidFill>
                            <a:srgbClr val="22262B"/>
                          </a:solidFill>
                          <a:latin typeface="Arial"/>
                        </a:rPr>
                        <a:t>0.769</a:t>
                      </a:r>
                    </a:p>
                  </a:txBody>
                  <a:tcPr marL="109728" marR="109728" anchor="ctr">
                    <a:solidFill>
                      <a:srgbClr val="FAF9F6"/>
                    </a:solidFill>
                  </a:tcPr>
                </a:tc>
                <a:tc>
                  <a:txBody>
                    <a:bodyPr wrap="square"/>
                    <a:lstStyle/>
                    <a:p>
                      <a:pPr algn="ctr"/>
                      <a:r>
                        <a:rPr sz="1300" b="0">
                          <a:solidFill>
                            <a:srgbClr val="22262B"/>
                          </a:solidFill>
                          <a:latin typeface="Arial"/>
                        </a:rPr>
                        <a:t>0.776</a:t>
                      </a:r>
                    </a:p>
                  </a:txBody>
                  <a:tcPr marL="109728" marR="109728" anchor="ctr">
                    <a:solidFill>
                      <a:srgbClr val="FAF9F6"/>
                    </a:solidFill>
                  </a:tcPr>
                </a:tc>
                <a:tc>
                  <a:txBody>
                    <a:bodyPr wrap="square"/>
                    <a:lstStyle/>
                    <a:p>
                      <a:pPr algn="ctr"/>
                      <a:r>
                        <a:rPr sz="1300" b="0">
                          <a:solidFill>
                            <a:srgbClr val="22262B"/>
                          </a:solidFill>
                          <a:latin typeface="Arial"/>
                        </a:rPr>
                        <a:t>0.415</a:t>
                      </a:r>
                    </a:p>
                  </a:txBody>
                  <a:tcPr marL="109728" marR="109728" anchor="ctr">
                    <a:solidFill>
                      <a:srgbClr val="FAF9F6"/>
                    </a:solidFill>
                  </a:tcPr>
                </a:tc>
                <a:tc>
                  <a:txBody>
                    <a:bodyPr wrap="square"/>
                    <a:lstStyle/>
                    <a:p>
                      <a:pPr algn="ctr"/>
                      <a:r>
                        <a:rPr sz="1300" b="0">
                          <a:solidFill>
                            <a:srgbClr val="22262B"/>
                          </a:solidFill>
                          <a:latin typeface="Arial"/>
                        </a:rPr>
                        <a:t>0.383</a:t>
                      </a:r>
                    </a:p>
                  </a:txBody>
                  <a:tcPr marL="109728" marR="109728" anchor="ctr">
                    <a:solidFill>
                      <a:srgbClr val="FAF9F6"/>
                    </a:solidFill>
                  </a:tcPr>
                </a:tc>
                <a:tc>
                  <a:txBody>
                    <a:bodyPr wrap="square"/>
                    <a:lstStyle/>
                    <a:p>
                      <a:pPr algn="ctr"/>
                      <a:r>
                        <a:rPr sz="1300" b="0">
                          <a:solidFill>
                            <a:srgbClr val="22262B"/>
                          </a:solidFill>
                          <a:latin typeface="Arial"/>
                        </a:rPr>
                        <a:t>0.274</a:t>
                      </a:r>
                    </a:p>
                  </a:txBody>
                  <a:tcPr marL="109728" marR="109728" anchor="ctr">
                    <a:solidFill>
                      <a:srgbClr val="FAF9F6"/>
                    </a:solidFill>
                  </a:tcPr>
                </a:tc>
                <a:tc>
                  <a:txBody>
                    <a:bodyPr wrap="square"/>
                    <a:lstStyle/>
                    <a:p>
                      <a:pPr algn="ctr"/>
                      <a:r>
                        <a:rPr sz="1300" b="0">
                          <a:solidFill>
                            <a:srgbClr val="22262B"/>
                          </a:solidFill>
                          <a:latin typeface="Arial"/>
                        </a:rPr>
                        <a:t>0.636</a:t>
                      </a:r>
                    </a:p>
                  </a:txBody>
                  <a:tcPr marL="109728" marR="109728" anchor="ctr">
                    <a:solidFill>
                      <a:srgbClr val="FAF9F6"/>
                    </a:solidFill>
                  </a:tcPr>
                </a:tc>
                <a:tc>
                  <a:txBody>
                    <a:bodyPr wrap="square"/>
                    <a:lstStyle/>
                    <a:p>
                      <a:pPr algn="ctr"/>
                      <a:r>
                        <a:rPr sz="1300" b="0">
                          <a:solidFill>
                            <a:srgbClr val="22262B"/>
                          </a:solidFill>
                          <a:latin typeface="Arial"/>
                        </a:rPr>
                        <a:t>0.760</a:t>
                      </a:r>
                    </a:p>
                  </a:txBody>
                  <a:tcPr marL="109728" marR="109728" anchor="ctr">
                    <a:solidFill>
                      <a:srgbClr val="FAF9F6"/>
                    </a:solidFill>
                  </a:tcPr>
                </a:tc>
              </a:tr>
              <a:tr h="402336">
                <a:tc>
                  <a:txBody>
                    <a:bodyPr wrap="square"/>
                    <a:lstStyle/>
                    <a:p>
                      <a:r>
                        <a:rPr sz="1300" b="0">
                          <a:solidFill>
                            <a:srgbClr val="22262B"/>
                          </a:solidFill>
                          <a:latin typeface="Arial"/>
                        </a:rPr>
                        <a:t>Decision Tree</a:t>
                      </a:r>
                    </a:p>
                  </a:txBody>
                  <a:tcPr marL="109728" marR="109728" anchor="ctr">
                    <a:solidFill>
                      <a:srgbClr val="FAF9F6"/>
                    </a:solidFill>
                  </a:tcPr>
                </a:tc>
                <a:tc>
                  <a:txBody>
                    <a:bodyPr wrap="square"/>
                    <a:lstStyle/>
                    <a:p>
                      <a:pPr algn="ctr"/>
                      <a:r>
                        <a:rPr sz="1300" b="0">
                          <a:solidFill>
                            <a:srgbClr val="22262B"/>
                          </a:solidFill>
                          <a:latin typeface="Arial"/>
                        </a:rPr>
                        <a:t>0.762</a:t>
                      </a:r>
                    </a:p>
                  </a:txBody>
                  <a:tcPr marL="109728" marR="109728" anchor="ctr">
                    <a:solidFill>
                      <a:srgbClr val="FAF9F6"/>
                    </a:solidFill>
                  </a:tcPr>
                </a:tc>
                <a:tc>
                  <a:txBody>
                    <a:bodyPr wrap="square"/>
                    <a:lstStyle/>
                    <a:p>
                      <a:pPr algn="ctr"/>
                      <a:r>
                        <a:rPr sz="1300" b="0">
                          <a:solidFill>
                            <a:srgbClr val="22262B"/>
                          </a:solidFill>
                          <a:latin typeface="Arial"/>
                        </a:rPr>
                        <a:t>0.773</a:t>
                      </a:r>
                    </a:p>
                  </a:txBody>
                  <a:tcPr marL="109728" marR="109728" anchor="ctr">
                    <a:solidFill>
                      <a:srgbClr val="FAF9F6"/>
                    </a:solidFill>
                  </a:tcPr>
                </a:tc>
                <a:tc>
                  <a:txBody>
                    <a:bodyPr wrap="square"/>
                    <a:lstStyle/>
                    <a:p>
                      <a:pPr algn="ctr"/>
                      <a:r>
                        <a:rPr sz="1300" b="0">
                          <a:solidFill>
                            <a:srgbClr val="22262B"/>
                          </a:solidFill>
                          <a:latin typeface="Arial"/>
                        </a:rPr>
                        <a:t>0.398</a:t>
                      </a:r>
                    </a:p>
                  </a:txBody>
                  <a:tcPr marL="109728" marR="109728" anchor="ctr">
                    <a:solidFill>
                      <a:srgbClr val="FAF9F6"/>
                    </a:solidFill>
                  </a:tcPr>
                </a:tc>
                <a:tc>
                  <a:txBody>
                    <a:bodyPr wrap="square"/>
                    <a:lstStyle/>
                    <a:p>
                      <a:pPr algn="ctr"/>
                      <a:r>
                        <a:rPr sz="1300" b="0">
                          <a:solidFill>
                            <a:srgbClr val="22262B"/>
                          </a:solidFill>
                          <a:latin typeface="Arial"/>
                        </a:rPr>
                        <a:t>0.428</a:t>
                      </a:r>
                    </a:p>
                  </a:txBody>
                  <a:tcPr marL="109728" marR="109728" anchor="ctr">
                    <a:solidFill>
                      <a:srgbClr val="FAF9F6"/>
                    </a:solidFill>
                  </a:tcPr>
                </a:tc>
                <a:tc>
                  <a:txBody>
                    <a:bodyPr wrap="square"/>
                    <a:lstStyle/>
                    <a:p>
                      <a:pPr algn="ctr"/>
                      <a:r>
                        <a:rPr sz="1300" b="0">
                          <a:solidFill>
                            <a:srgbClr val="22262B"/>
                          </a:solidFill>
                          <a:latin typeface="Arial"/>
                        </a:rPr>
                        <a:t>0.340</a:t>
                      </a:r>
                    </a:p>
                  </a:txBody>
                  <a:tcPr marL="109728" marR="109728" anchor="ctr">
                    <a:solidFill>
                      <a:srgbClr val="FAF9F6"/>
                    </a:solidFill>
                  </a:tcPr>
                </a:tc>
                <a:tc>
                  <a:txBody>
                    <a:bodyPr wrap="square"/>
                    <a:lstStyle/>
                    <a:p>
                      <a:pPr algn="ctr"/>
                      <a:r>
                        <a:rPr sz="1300" b="0">
                          <a:solidFill>
                            <a:srgbClr val="22262B"/>
                          </a:solidFill>
                          <a:latin typeface="Arial"/>
                        </a:rPr>
                        <a:t>0.579</a:t>
                      </a:r>
                    </a:p>
                  </a:txBody>
                  <a:tcPr marL="109728" marR="109728" anchor="ctr">
                    <a:solidFill>
                      <a:srgbClr val="FAF9F6"/>
                    </a:solidFill>
                  </a:tcPr>
                </a:tc>
                <a:tc>
                  <a:txBody>
                    <a:bodyPr wrap="square"/>
                    <a:lstStyle/>
                    <a:p>
                      <a:pPr algn="ctr"/>
                      <a:r>
                        <a:rPr sz="1300" b="0">
                          <a:solidFill>
                            <a:srgbClr val="22262B"/>
                          </a:solidFill>
                          <a:latin typeface="Arial"/>
                        </a:rPr>
                        <a:t>0.819</a:t>
                      </a:r>
                    </a:p>
                  </a:txBody>
                  <a:tcPr marL="109728" marR="109728" anchor="ctr">
                    <a:solidFill>
                      <a:srgbClr val="FAF9F6"/>
                    </a:solidFill>
                  </a:tcPr>
                </a:tc>
              </a:tr>
              <a:tr h="402336">
                <a:tc>
                  <a:txBody>
                    <a:bodyPr wrap="square"/>
                    <a:lstStyle/>
                    <a:p>
                      <a:r>
                        <a:rPr sz="1300" b="0">
                          <a:solidFill>
                            <a:srgbClr val="22262B"/>
                          </a:solidFill>
                          <a:latin typeface="Arial"/>
                        </a:rPr>
                        <a:t>K-Nearest Neighbours</a:t>
                      </a:r>
                    </a:p>
                  </a:txBody>
                  <a:tcPr marL="109728" marR="109728" anchor="ctr">
                    <a:solidFill>
                      <a:srgbClr val="FAF9F6"/>
                    </a:solidFill>
                  </a:tcPr>
                </a:tc>
                <a:tc>
                  <a:txBody>
                    <a:bodyPr wrap="square"/>
                    <a:lstStyle/>
                    <a:p>
                      <a:pPr algn="ctr"/>
                      <a:r>
                        <a:rPr sz="1300" b="0">
                          <a:solidFill>
                            <a:srgbClr val="22262B"/>
                          </a:solidFill>
                          <a:latin typeface="Arial"/>
                        </a:rPr>
                        <a:t>0.750</a:t>
                      </a:r>
                    </a:p>
                  </a:txBody>
                  <a:tcPr marL="109728" marR="109728" anchor="ctr">
                    <a:solidFill>
                      <a:srgbClr val="FAF9F6"/>
                    </a:solidFill>
                  </a:tcPr>
                </a:tc>
                <a:tc>
                  <a:txBody>
                    <a:bodyPr wrap="square"/>
                    <a:lstStyle/>
                    <a:p>
                      <a:pPr algn="ctr"/>
                      <a:r>
                        <a:rPr sz="1300" b="0">
                          <a:solidFill>
                            <a:srgbClr val="22262B"/>
                          </a:solidFill>
                          <a:latin typeface="Arial"/>
                        </a:rPr>
                        <a:t>0.767</a:t>
                      </a:r>
                    </a:p>
                  </a:txBody>
                  <a:tcPr marL="109728" marR="109728" anchor="ctr">
                    <a:solidFill>
                      <a:srgbClr val="FAF9F6"/>
                    </a:solidFill>
                  </a:tcPr>
                </a:tc>
                <a:tc>
                  <a:txBody>
                    <a:bodyPr wrap="square"/>
                    <a:lstStyle/>
                    <a:p>
                      <a:pPr algn="ctr"/>
                      <a:r>
                        <a:rPr sz="1300" b="0">
                          <a:solidFill>
                            <a:srgbClr val="22262B"/>
                          </a:solidFill>
                          <a:latin typeface="Arial"/>
                        </a:rPr>
                        <a:t>0.396</a:t>
                      </a:r>
                    </a:p>
                  </a:txBody>
                  <a:tcPr marL="109728" marR="109728" anchor="ctr">
                    <a:solidFill>
                      <a:srgbClr val="FAF9F6"/>
                    </a:solidFill>
                  </a:tcPr>
                </a:tc>
                <a:tc>
                  <a:txBody>
                    <a:bodyPr wrap="square"/>
                    <a:lstStyle/>
                    <a:p>
                      <a:pPr algn="ctr"/>
                      <a:r>
                        <a:rPr sz="1300" b="0">
                          <a:solidFill>
                            <a:srgbClr val="22262B"/>
                          </a:solidFill>
                          <a:latin typeface="Arial"/>
                        </a:rPr>
                        <a:t>0.208</a:t>
                      </a:r>
                    </a:p>
                  </a:txBody>
                  <a:tcPr marL="109728" marR="109728" anchor="ctr">
                    <a:solidFill>
                      <a:srgbClr val="FAF9F6"/>
                    </a:solidFill>
                  </a:tcPr>
                </a:tc>
                <a:tc>
                  <a:txBody>
                    <a:bodyPr wrap="square"/>
                    <a:lstStyle/>
                    <a:p>
                      <a:pPr algn="ctr"/>
                      <a:r>
                        <a:rPr sz="1300" b="0">
                          <a:solidFill>
                            <a:srgbClr val="22262B"/>
                          </a:solidFill>
                          <a:latin typeface="Arial"/>
                        </a:rPr>
                        <a:t>0.674</a:t>
                      </a:r>
                    </a:p>
                  </a:txBody>
                  <a:tcPr marL="109728" marR="109728" anchor="ctr">
                    <a:solidFill>
                      <a:srgbClr val="FAF9F6"/>
                    </a:solidFill>
                  </a:tcPr>
                </a:tc>
                <a:tc>
                  <a:txBody>
                    <a:bodyPr wrap="square"/>
                    <a:lstStyle/>
                    <a:p>
                      <a:pPr algn="ctr"/>
                      <a:r>
                        <a:rPr sz="1300" b="0">
                          <a:solidFill>
                            <a:srgbClr val="22262B"/>
                          </a:solidFill>
                          <a:latin typeface="Arial"/>
                        </a:rPr>
                        <a:t>0.123</a:t>
                      </a:r>
                    </a:p>
                  </a:txBody>
                  <a:tcPr marL="109728" marR="109728" anchor="ctr">
                    <a:solidFill>
                      <a:srgbClr val="FAF9F6"/>
                    </a:solidFill>
                  </a:tcPr>
                </a:tc>
                <a:tc>
                  <a:txBody>
                    <a:bodyPr wrap="square"/>
                    <a:lstStyle/>
                    <a:p>
                      <a:pPr algn="ctr"/>
                      <a:r>
                        <a:rPr sz="1300" b="0">
                          <a:solidFill>
                            <a:srgbClr val="22262B"/>
                          </a:solidFill>
                          <a:latin typeface="Arial"/>
                        </a:rPr>
                        <a:t>0.890</a:t>
                      </a:r>
                    </a:p>
                  </a:txBody>
                  <a:tcPr marL="109728" marR="109728" anchor="ctr">
                    <a:solidFill>
                      <a:srgbClr val="FAF9F6"/>
                    </a:solidFill>
                  </a:tcPr>
                </a:tc>
              </a:tr>
              <a:tr h="402336">
                <a:tc>
                  <a:txBody>
                    <a:bodyPr wrap="square"/>
                    <a:lstStyle/>
                    <a:p>
                      <a:r>
                        <a:rPr sz="1300" b="0">
                          <a:solidFill>
                            <a:srgbClr val="22262B"/>
                          </a:solidFill>
                          <a:latin typeface="Arial"/>
                        </a:rPr>
                        <a:t>Naive Bayes</a:t>
                      </a:r>
                    </a:p>
                  </a:txBody>
                  <a:tcPr marL="109728" marR="109728" anchor="ctr">
                    <a:solidFill>
                      <a:srgbClr val="FAF9F6"/>
                    </a:solidFill>
                  </a:tcPr>
                </a:tc>
                <a:tc>
                  <a:txBody>
                    <a:bodyPr wrap="square"/>
                    <a:lstStyle/>
                    <a:p>
                      <a:pPr algn="ctr"/>
                      <a:r>
                        <a:rPr sz="1300" b="0">
                          <a:solidFill>
                            <a:srgbClr val="22262B"/>
                          </a:solidFill>
                          <a:latin typeface="Arial"/>
                        </a:rPr>
                        <a:t>0.742</a:t>
                      </a:r>
                    </a:p>
                  </a:txBody>
                  <a:tcPr marL="109728" marR="109728" anchor="ctr">
                    <a:solidFill>
                      <a:srgbClr val="FAF9F6"/>
                    </a:solidFill>
                  </a:tcPr>
                </a:tc>
                <a:tc>
                  <a:txBody>
                    <a:bodyPr wrap="square"/>
                    <a:lstStyle/>
                    <a:p>
                      <a:pPr algn="ctr"/>
                      <a:r>
                        <a:rPr sz="1300" b="0">
                          <a:solidFill>
                            <a:srgbClr val="22262B"/>
                          </a:solidFill>
                          <a:latin typeface="Arial"/>
                        </a:rPr>
                        <a:t>0.752</a:t>
                      </a:r>
                    </a:p>
                  </a:txBody>
                  <a:tcPr marL="109728" marR="109728" anchor="ctr">
                    <a:solidFill>
                      <a:srgbClr val="FAF9F6"/>
                    </a:solidFill>
                  </a:tcPr>
                </a:tc>
                <a:tc>
                  <a:txBody>
                    <a:bodyPr wrap="square"/>
                    <a:lstStyle/>
                    <a:p>
                      <a:pPr algn="ctr"/>
                      <a:r>
                        <a:rPr sz="1300" b="0">
                          <a:solidFill>
                            <a:srgbClr val="22262B"/>
                          </a:solidFill>
                          <a:latin typeface="Arial"/>
                        </a:rPr>
                        <a:t>0.352</a:t>
                      </a:r>
                    </a:p>
                  </a:txBody>
                  <a:tcPr marL="109728" marR="109728" anchor="ctr">
                    <a:solidFill>
                      <a:srgbClr val="FAF9F6"/>
                    </a:solidFill>
                  </a:tcPr>
                </a:tc>
                <a:tc>
                  <a:txBody>
                    <a:bodyPr wrap="square"/>
                    <a:lstStyle/>
                    <a:p>
                      <a:pPr algn="ctr"/>
                      <a:r>
                        <a:rPr sz="1300" b="0">
                          <a:solidFill>
                            <a:srgbClr val="22262B"/>
                          </a:solidFill>
                          <a:latin typeface="Arial"/>
                        </a:rPr>
                        <a:t>0.403</a:t>
                      </a:r>
                    </a:p>
                  </a:txBody>
                  <a:tcPr marL="109728" marR="109728" anchor="ctr">
                    <a:solidFill>
                      <a:srgbClr val="FAF9F6"/>
                    </a:solidFill>
                  </a:tcPr>
                </a:tc>
                <a:tc>
                  <a:txBody>
                    <a:bodyPr wrap="square"/>
                    <a:lstStyle/>
                    <a:p>
                      <a:pPr algn="ctr"/>
                      <a:r>
                        <a:rPr sz="1300" b="0">
                          <a:solidFill>
                            <a:srgbClr val="22262B"/>
                          </a:solidFill>
                          <a:latin typeface="Arial"/>
                        </a:rPr>
                        <a:t>0.351</a:t>
                      </a:r>
                    </a:p>
                  </a:txBody>
                  <a:tcPr marL="109728" marR="109728" anchor="ctr">
                    <a:solidFill>
                      <a:srgbClr val="FAF9F6"/>
                    </a:solidFill>
                  </a:tcPr>
                </a:tc>
                <a:tc>
                  <a:txBody>
                    <a:bodyPr wrap="square"/>
                    <a:lstStyle/>
                    <a:p>
                      <a:pPr algn="ctr"/>
                      <a:r>
                        <a:rPr sz="1300" b="0">
                          <a:solidFill>
                            <a:srgbClr val="22262B"/>
                          </a:solidFill>
                          <a:latin typeface="Arial"/>
                        </a:rPr>
                        <a:t>0.472</a:t>
                      </a:r>
                    </a:p>
                  </a:txBody>
                  <a:tcPr marL="109728" marR="109728" anchor="ctr">
                    <a:solidFill>
                      <a:srgbClr val="FAF9F6"/>
                    </a:solidFill>
                  </a:tcPr>
                </a:tc>
                <a:tc>
                  <a:txBody>
                    <a:bodyPr wrap="square"/>
                    <a:lstStyle/>
                    <a:p>
                      <a:pPr algn="ctr"/>
                      <a:r>
                        <a:rPr sz="1300" b="0">
                          <a:solidFill>
                            <a:srgbClr val="22262B"/>
                          </a:solidFill>
                          <a:latin typeface="Arial"/>
                        </a:rPr>
                        <a:t>0.836</a:t>
                      </a:r>
                    </a:p>
                  </a:txBody>
                  <a:tcPr marL="109728" marR="109728" anchor="ctr">
                    <a:solidFill>
                      <a:srgbClr val="FAF9F6"/>
                    </a:solidFill>
                  </a:tcPr>
                </a:tc>
              </a:tr>
              <a:tr h="402336">
                <a:tc>
                  <a:txBody>
                    <a:bodyPr wrap="square"/>
                    <a:lstStyle/>
                    <a:p>
                      <a:r>
                        <a:rPr sz="1300" b="1">
                          <a:solidFill>
                            <a:srgbClr val="2F5F9E"/>
                          </a:solidFill>
                          <a:latin typeface="Arial"/>
                        </a:rPr>
                        <a:t>Gradient Boosting (cut-off 0.62)</a:t>
                      </a:r>
                    </a:p>
                  </a:txBody>
                  <a:tcPr marL="109728" marR="109728" anchor="ctr">
                    <a:solidFill>
                      <a:srgbClr val="E3EAF4"/>
                    </a:solidFill>
                  </a:tcPr>
                </a:tc>
                <a:tc>
                  <a:txBody>
                    <a:bodyPr wrap="square"/>
                    <a:lstStyle/>
                    <a:p>
                      <a:pPr algn="ctr"/>
                      <a:r>
                        <a:rPr sz="1300" b="0">
                          <a:solidFill>
                            <a:srgbClr val="22262B"/>
                          </a:solidFill>
                          <a:latin typeface="Arial"/>
                        </a:rPr>
                        <a:t>–</a:t>
                      </a:r>
                    </a:p>
                  </a:txBody>
                  <a:tcPr marL="109728" marR="109728" anchor="ctr">
                    <a:solidFill>
                      <a:srgbClr val="E3EAF4"/>
                    </a:solidFill>
                  </a:tcPr>
                </a:tc>
                <a:tc>
                  <a:txBody>
                    <a:bodyPr wrap="square"/>
                    <a:lstStyle/>
                    <a:p>
                      <a:pPr algn="ctr"/>
                      <a:r>
                        <a:rPr sz="1300" b="0">
                          <a:solidFill>
                            <a:srgbClr val="22262B"/>
                          </a:solidFill>
                          <a:latin typeface="Arial"/>
                        </a:rPr>
                        <a:t>0.806</a:t>
                      </a:r>
                    </a:p>
                  </a:txBody>
                  <a:tcPr marL="109728" marR="109728" anchor="ctr">
                    <a:solidFill>
                      <a:srgbClr val="E3EAF4"/>
                    </a:solidFill>
                  </a:tcPr>
                </a:tc>
                <a:tc>
                  <a:txBody>
                    <a:bodyPr wrap="square"/>
                    <a:lstStyle/>
                    <a:p>
                      <a:pPr algn="ctr"/>
                      <a:r>
                        <a:rPr sz="1300" b="0">
                          <a:solidFill>
                            <a:srgbClr val="22262B"/>
                          </a:solidFill>
                          <a:latin typeface="Arial"/>
                        </a:rPr>
                        <a:t>0.466</a:t>
                      </a:r>
                    </a:p>
                  </a:txBody>
                  <a:tcPr marL="109728" marR="109728" anchor="ctr">
                    <a:solidFill>
                      <a:srgbClr val="E3EAF4"/>
                    </a:solidFill>
                  </a:tcPr>
                </a:tc>
                <a:tc>
                  <a:txBody>
                    <a:bodyPr wrap="square"/>
                    <a:lstStyle/>
                    <a:p>
                      <a:pPr algn="ctr"/>
                      <a:r>
                        <a:rPr sz="1300" b="0">
                          <a:solidFill>
                            <a:srgbClr val="22262B"/>
                          </a:solidFill>
                          <a:latin typeface="Arial"/>
                        </a:rPr>
                        <a:t>0.487</a:t>
                      </a:r>
                    </a:p>
                  </a:txBody>
                  <a:tcPr marL="109728" marR="109728" anchor="ctr">
                    <a:solidFill>
                      <a:srgbClr val="E3EAF4"/>
                    </a:solidFill>
                  </a:tcPr>
                </a:tc>
                <a:tc>
                  <a:txBody>
                    <a:bodyPr wrap="square"/>
                    <a:lstStyle/>
                    <a:p>
                      <a:pPr algn="ctr"/>
                      <a:r>
                        <a:rPr sz="1300" b="0">
                          <a:solidFill>
                            <a:srgbClr val="22262B"/>
                          </a:solidFill>
                          <a:latin typeface="Arial"/>
                        </a:rPr>
                        <a:t>0.449</a:t>
                      </a:r>
                    </a:p>
                  </a:txBody>
                  <a:tcPr marL="109728" marR="109728" anchor="ctr">
                    <a:solidFill>
                      <a:srgbClr val="E3EAF4"/>
                    </a:solidFill>
                  </a:tcPr>
                </a:tc>
                <a:tc>
                  <a:txBody>
                    <a:bodyPr wrap="square"/>
                    <a:lstStyle/>
                    <a:p>
                      <a:pPr algn="ctr"/>
                      <a:r>
                        <a:rPr sz="1300" b="0">
                          <a:solidFill>
                            <a:srgbClr val="22262B"/>
                          </a:solidFill>
                          <a:latin typeface="Arial"/>
                        </a:rPr>
                        <a:t>0.531</a:t>
                      </a:r>
                    </a:p>
                  </a:txBody>
                  <a:tcPr marL="109728" marR="109728" anchor="ctr">
                    <a:solidFill>
                      <a:srgbClr val="E3EAF4"/>
                    </a:solidFill>
                  </a:tcPr>
                </a:tc>
                <a:tc>
                  <a:txBody>
                    <a:bodyPr wrap="square"/>
                    <a:lstStyle/>
                    <a:p>
                      <a:pPr algn="ctr"/>
                      <a:r>
                        <a:rPr sz="1300" b="0">
                          <a:solidFill>
                            <a:srgbClr val="22262B"/>
                          </a:solidFill>
                          <a:latin typeface="Arial"/>
                        </a:rPr>
                        <a:t>0.869</a:t>
                      </a:r>
                    </a:p>
                  </a:txBody>
                  <a:tcPr marL="109728" marR="109728" anchor="ctr">
                    <a:solidFill>
                      <a:srgbClr val="E3EAF4"/>
                    </a:solidFill>
                  </a:tcPr>
                </a:tc>
              </a:tr>
            </a:tbl>
          </a:graphicData>
        </a:graphic>
      </p:graphicFrame>
      <p:sp>
        <p:nvSpPr>
          <p:cNvPr id="8" name="TextBox 7"/>
          <p:cNvSpPr txBox="1"/>
          <p:nvPr/>
        </p:nvSpPr>
        <p:spPr>
          <a:xfrm>
            <a:off x="813816" y="5440680"/>
            <a:ext cx="10515600" cy="548640"/>
          </a:xfrm>
          <a:prstGeom prst="rect">
            <a:avLst/>
          </a:prstGeom>
          <a:noFill/>
        </p:spPr>
        <p:txBody>
          <a:bodyPr wrap="square" anchor="t" lIns="0" rIns="0" tIns="0" bIns="0">
            <a:spAutoFit/>
          </a:bodyPr>
          <a:lstStyle/>
          <a:p>
            <a:pPr algn="l"/>
            <a:r>
              <a:rPr sz="1200" b="0">
                <a:solidFill>
                  <a:srgbClr val="5F6368"/>
                </a:solidFill>
                <a:latin typeface="Arial"/>
              </a:rPr>
              <a:t>Stratified 80/20 split (36,168 train / 9,043 test), grid search with 3-fold cross-validation, balanced class weights, cut-off tuned for F1 on out-of-fold training predictions.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